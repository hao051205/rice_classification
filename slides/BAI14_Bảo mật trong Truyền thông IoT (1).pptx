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96">
          <p15:clr>
            <a:srgbClr val="A4A3A4"/>
          </p15:clr>
        </p15:guide>
        <p15:guide id="2" pos="3840">
          <p15:clr>
            <a:srgbClr val="A4A3A4"/>
          </p15:clr>
        </p15:guide>
      </p15:sldGuideLst>
    </p:ext>
    <p:ext uri="GoogleSlidesCustomDataVersion2">
      <go:slidesCustomData xmlns:go="http://customooxmlschemas.google.com/" r:id="rId58" roundtripDataSignature="AMtx7mh0TxHugZV7z9b1o6k6FNE9ZIYC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3BCA32F-9013-498E-886E-8B101F2C3CD9}">
  <a:tblStyle styleId="{93BCA32F-9013-498E-886E-8B101F2C3CD9}"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CECE7"/>
          </a:solidFill>
        </a:fill>
      </a:tcStyle>
    </a:wholeTbl>
    <a:band1H>
      <a:tcTxStyle b="off" i="off"/>
      <a:tcStyle>
        <a:fill>
          <a:solidFill>
            <a:srgbClr val="F8D6CC"/>
          </a:solidFill>
        </a:fill>
      </a:tcStyle>
    </a:band1H>
    <a:band2H>
      <a:tcTxStyle b="off" i="off"/>
    </a:band2H>
    <a:band1V>
      <a:tcTxStyle b="off" i="off"/>
      <a:tcStyle>
        <a:fill>
          <a:solidFill>
            <a:srgbClr val="F8D6CC"/>
          </a:solidFill>
        </a:fill>
      </a:tcStyle>
    </a:band1V>
    <a:band2V>
      <a:tcTxStyle b="off" i="off"/>
    </a:band2V>
    <a:lastCol>
      <a:tcTxStyle b="on" i="off">
        <a:font>
          <a:latin typeface="Calibri"/>
          <a:ea typeface="Calibri"/>
          <a:cs typeface="Calibri"/>
        </a:font>
        <a:schemeClr val="lt1"/>
      </a:tcTxStyle>
      <a:tcStyle>
        <a:fill>
          <a:solidFill>
            <a:schemeClr val="accent2"/>
          </a:solidFill>
        </a:fill>
      </a:tcStyle>
    </a:lastCol>
    <a:firstCol>
      <a:tcTxStyle b="on" i="off">
        <a:font>
          <a:latin typeface="Calibri"/>
          <a:ea typeface="Calibri"/>
          <a:cs typeface="Calibri"/>
        </a:font>
        <a:schemeClr val="lt1"/>
      </a:tcTxStyle>
      <a:tcStyle>
        <a:fill>
          <a:solidFill>
            <a:schemeClr val="accent2"/>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2"/>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2"/>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96"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14" Type="http://schemas.openxmlformats.org/officeDocument/2006/relationships/slide" Target="slides/slide8.xml"/><Relationship Id="rId58" Type="http://customschemas.google.com/relationships/presentationmetadata" Target="meta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94" name="Google Shape;9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01" name="Google Shape;10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08" name="Google Shape;10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15" name="Google Shape;11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21" name="Google Shape;12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28" name="Google Shape;1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34" name="Google Shape;13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40" name="Google Shape;14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47" name="Google Shape;14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53" name="Google Shape;15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59" name="Google Shape;15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65" name="Google Shape;16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72" name="Google Shape;17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78" name="Google Shape;17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84" name="Google Shape;18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90" name="Google Shape;19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97" name="Google Shape;19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03" name="Google Shape;20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09" name="Google Shape;20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15" name="Google Shape;21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22" name="Google Shape;22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28" name="Google Shape;22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34" name="Google Shape;23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40" name="Google Shape;24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47" name="Google Shape;24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53" name="Google Shape;25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59" name="Google Shape;25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65" name="Google Shape;26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72" name="Google Shape;272;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78" name="Google Shape;278;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1: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31:notes"/>
          <p:cNvSpPr txBox="1"/>
          <p:nvPr>
            <p:ph idx="1" type="body"/>
          </p:nvPr>
        </p:nvSpPr>
        <p:spPr>
          <a:xfrm>
            <a:off x="679450" y="4778375"/>
            <a:ext cx="5438775" cy="39084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Đây là </a:t>
            </a:r>
            <a:r>
              <a:rPr b="1" lang="en-US"/>
              <a:t>“cái đích”</a:t>
            </a:r>
            <a:r>
              <a:rPr lang="en-US"/>
              <a:t> mà mọi giải pháp phải hướng tới.</a:t>
            </a:r>
            <a:endParaRPr/>
          </a:p>
        </p:txBody>
      </p:sp>
      <p:sp>
        <p:nvSpPr>
          <p:cNvPr id="285" name="Google Shape;285;p31:notes"/>
          <p:cNvSpPr txBox="1"/>
          <p:nvPr>
            <p:ph idx="12" type="sldNum"/>
          </p:nvPr>
        </p:nvSpPr>
        <p:spPr>
          <a:xfrm>
            <a:off x="3849688" y="9429750"/>
            <a:ext cx="2946400" cy="49847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92" name="Google Shape;292;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8" name="Google Shape;298;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4" name="Google Shape;30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0" name="Google Shape;31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2" name="Google Shape;322;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8" name="Google Shape;328;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4" name="Google Shape;33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0" name="Google Shape;34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2" name="Google Shape;352;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8" name="Google Shape;358;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4" name="Google Shape;364;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0" name="Google Shape;370;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2" name="Google Shape;382;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8" name="Google Shape;388;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4" name="Google Shape;394;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0" name="Google Shape;400;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406" name="Google Shape;406;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1" name="Google Shape;21;p53"/>
          <p:cNvSpPr/>
          <p:nvPr/>
        </p:nvSpPr>
        <p:spPr>
          <a:xfrm rot="2700000">
            <a:off x="7985534" y="2232903"/>
            <a:ext cx="463379" cy="463379"/>
          </a:xfrm>
          <a:prstGeom prst="rect">
            <a:avLst/>
          </a:prstGeom>
          <a:solidFill>
            <a:srgbClr val="00B050"/>
          </a:solidFill>
          <a:ln>
            <a:noFill/>
          </a:ln>
          <a:effectLst>
            <a:outerShdw blurRad="57150" rotWithShape="0" algn="ctr" dir="5400000" dist="19050">
              <a:srgbClr val="000000">
                <a:alpha val="6156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accent1"/>
              </a:solidFill>
              <a:latin typeface="Times New Roman"/>
              <a:ea typeface="Times New Roman"/>
              <a:cs typeface="Times New Roman"/>
              <a:sym typeface="Times New Roman"/>
            </a:endParaRPr>
          </a:p>
        </p:txBody>
      </p:sp>
      <p:sp>
        <p:nvSpPr>
          <p:cNvPr id="22" name="Google Shape;22;p53"/>
          <p:cNvSpPr/>
          <p:nvPr/>
        </p:nvSpPr>
        <p:spPr>
          <a:xfrm rot="2700000">
            <a:off x="8194908" y="2451725"/>
            <a:ext cx="2015208" cy="2015208"/>
          </a:xfrm>
          <a:prstGeom prst="rect">
            <a:avLst/>
          </a:prstGeom>
          <a:solidFill>
            <a:srgbClr val="00B050"/>
          </a:solidFill>
          <a:ln>
            <a:noFill/>
          </a:ln>
          <a:effectLst>
            <a:outerShdw blurRad="57150" rotWithShape="0" algn="ctr" dir="5400000" dist="19050">
              <a:srgbClr val="000000">
                <a:alpha val="6156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accent1"/>
              </a:solidFill>
              <a:latin typeface="Times New Roman"/>
              <a:ea typeface="Times New Roman"/>
              <a:cs typeface="Times New Roman"/>
              <a:sym typeface="Times New Roman"/>
            </a:endParaRPr>
          </a:p>
        </p:txBody>
      </p:sp>
      <p:sp>
        <p:nvSpPr>
          <p:cNvPr id="23" name="Google Shape;23;p53"/>
          <p:cNvSpPr/>
          <p:nvPr/>
        </p:nvSpPr>
        <p:spPr>
          <a:xfrm rot="2700000">
            <a:off x="9458589" y="3489237"/>
            <a:ext cx="1842556" cy="1842556"/>
          </a:xfrm>
          <a:prstGeom prst="rect">
            <a:avLst/>
          </a:prstGeom>
          <a:solidFill>
            <a:srgbClr val="FFC000"/>
          </a:solidFill>
          <a:ln>
            <a:noFill/>
          </a:ln>
          <a:effectLst>
            <a:outerShdw blurRad="57150" rotWithShape="0" algn="ctr" dir="5400000" dist="19050">
              <a:srgbClr val="000000">
                <a:alpha val="6156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accent1"/>
              </a:solidFill>
              <a:latin typeface="Times New Roman"/>
              <a:ea typeface="Times New Roman"/>
              <a:cs typeface="Times New Roman"/>
              <a:sym typeface="Times New Roman"/>
            </a:endParaRPr>
          </a:p>
        </p:txBody>
      </p:sp>
      <p:sp>
        <p:nvSpPr>
          <p:cNvPr id="24" name="Google Shape;24;p53"/>
          <p:cNvSpPr/>
          <p:nvPr/>
        </p:nvSpPr>
        <p:spPr>
          <a:xfrm rot="2700000">
            <a:off x="10124418" y="582097"/>
            <a:ext cx="5693806" cy="5693806"/>
          </a:xfrm>
          <a:prstGeom prst="rect">
            <a:avLst/>
          </a:prstGeom>
          <a:solidFill>
            <a:srgbClr val="00B050"/>
          </a:solidFill>
          <a:ln>
            <a:noFill/>
          </a:ln>
          <a:effectLst>
            <a:outerShdw blurRad="57150" rotWithShape="0" algn="ctr" dir="5400000" dist="19050">
              <a:srgbClr val="000000">
                <a:alpha val="6156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Times New Roman"/>
              <a:ea typeface="Times New Roman"/>
              <a:cs typeface="Times New Roman"/>
              <a:sym typeface="Times New Roman"/>
            </a:endParaRPr>
          </a:p>
        </p:txBody>
      </p:sp>
      <p:sp>
        <p:nvSpPr>
          <p:cNvPr id="25" name="Google Shape;25;p53"/>
          <p:cNvSpPr/>
          <p:nvPr/>
        </p:nvSpPr>
        <p:spPr>
          <a:xfrm rot="2700000">
            <a:off x="8991121" y="2376888"/>
            <a:ext cx="2164882" cy="2164882"/>
          </a:xfrm>
          <a:prstGeom prst="rect">
            <a:avLst/>
          </a:prstGeom>
          <a:solidFill>
            <a:schemeClr val="lt1"/>
          </a:solidFill>
          <a:ln>
            <a:noFill/>
          </a:ln>
          <a:effectLst>
            <a:outerShdw blurRad="57150" rotWithShape="0" algn="ctr" dir="5400000" dist="19050">
              <a:srgbClr val="000000">
                <a:alpha val="6156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accent1"/>
              </a:solidFill>
              <a:latin typeface="Times New Roman"/>
              <a:ea typeface="Times New Roman"/>
              <a:cs typeface="Times New Roman"/>
              <a:sym typeface="Times New Roman"/>
            </a:endParaRPr>
          </a:p>
        </p:txBody>
      </p:sp>
      <p:sp>
        <p:nvSpPr>
          <p:cNvPr id="26" name="Google Shape;26;p53"/>
          <p:cNvSpPr/>
          <p:nvPr/>
        </p:nvSpPr>
        <p:spPr>
          <a:xfrm rot="2700000">
            <a:off x="8365276" y="4676059"/>
            <a:ext cx="618605" cy="618605"/>
          </a:xfrm>
          <a:prstGeom prst="rect">
            <a:avLst/>
          </a:prstGeom>
          <a:gradFill>
            <a:gsLst>
              <a:gs pos="0">
                <a:srgbClr val="FFC647"/>
              </a:gs>
              <a:gs pos="50000">
                <a:srgbClr val="FFC600"/>
              </a:gs>
              <a:gs pos="100000">
                <a:srgbClr val="E3B400"/>
              </a:gs>
            </a:gsLst>
            <a:lin ang="5400000" scaled="0"/>
          </a:gradFill>
          <a:ln>
            <a:noFill/>
          </a:ln>
          <a:effectLst>
            <a:outerShdw blurRad="57150" rotWithShape="0" algn="ctr" dir="5400000" dist="19050">
              <a:srgbClr val="000000">
                <a:alpha val="6156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accent1"/>
              </a:solidFill>
              <a:latin typeface="Times New Roman"/>
              <a:ea typeface="Times New Roman"/>
              <a:cs typeface="Times New Roman"/>
              <a:sym typeface="Times New Roman"/>
            </a:endParaRPr>
          </a:p>
        </p:txBody>
      </p:sp>
      <p:pic>
        <p:nvPicPr>
          <p:cNvPr id="27" name="Google Shape;27;p53"/>
          <p:cNvPicPr preferRelativeResize="0"/>
          <p:nvPr/>
        </p:nvPicPr>
        <p:blipFill rotWithShape="1">
          <a:blip r:embed="rId2">
            <a:alphaModFix/>
          </a:blip>
          <a:srcRect b="0" l="0" r="0" t="0"/>
          <a:stretch/>
        </p:blipFill>
        <p:spPr>
          <a:xfrm>
            <a:off x="373209" y="331948"/>
            <a:ext cx="7330782" cy="79308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5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34" name="Google Shape;34;p54"/>
          <p:cNvPicPr preferRelativeResize="0"/>
          <p:nvPr/>
        </p:nvPicPr>
        <p:blipFill rotWithShape="1">
          <a:blip r:embed="rId2">
            <a:alphaModFix/>
          </a:blip>
          <a:srcRect b="0" l="0" r="0" t="0"/>
          <a:stretch/>
        </p:blipFill>
        <p:spPr>
          <a:xfrm>
            <a:off x="1229" y="0"/>
            <a:ext cx="12189542" cy="6857999"/>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 name="Shape 35"/>
        <p:cNvGrpSpPr/>
        <p:nvPr/>
      </p:nvGrpSpPr>
      <p:grpSpPr>
        <a:xfrm>
          <a:off x="0" y="0"/>
          <a:ext cx="0" cy="0"/>
          <a:chOff x="0" y="0"/>
          <a:chExt cx="0" cy="0"/>
        </a:xfrm>
      </p:grpSpPr>
      <p:sp>
        <p:nvSpPr>
          <p:cNvPr id="36" name="Google Shape;36;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9" name="Shape 39"/>
        <p:cNvGrpSpPr/>
        <p:nvPr/>
      </p:nvGrpSpPr>
      <p:grpSpPr>
        <a:xfrm>
          <a:off x="0" y="0"/>
          <a:ext cx="0" cy="0"/>
          <a:chOff x="0" y="0"/>
          <a:chExt cx="0" cy="0"/>
        </a:xfrm>
      </p:grpSpPr>
      <p:sp>
        <p:nvSpPr>
          <p:cNvPr id="40" name="Google Shape;40;p5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2" name="Google Shape;42;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sp>
        <p:nvSpPr>
          <p:cNvPr id="46" name="Google Shape;46;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5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5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5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5" name="Google Shape;55;p5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5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7" name="Google Shape;57;p5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sp>
        <p:nvSpPr>
          <p:cNvPr id="62" name="Google Shape;62;p5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6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6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9" name="Google Shape;69;p6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id="74" name="Google Shape;74;p6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61"/>
          <p:cNvSpPr/>
          <p:nvPr>
            <p:ph idx="2" type="pic"/>
          </p:nvPr>
        </p:nvSpPr>
        <p:spPr>
          <a:xfrm>
            <a:off x="5183188" y="987425"/>
            <a:ext cx="6172200" cy="4873625"/>
          </a:xfrm>
          <a:prstGeom prst="rect">
            <a:avLst/>
          </a:prstGeom>
          <a:noFill/>
          <a:ln>
            <a:noFill/>
          </a:ln>
        </p:spPr>
      </p:sp>
      <p:sp>
        <p:nvSpPr>
          <p:cNvPr id="76" name="Google Shape;76;p6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7" name="Google Shape;77;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0" name="Shape 80"/>
        <p:cNvGrpSpPr/>
        <p:nvPr/>
      </p:nvGrpSpPr>
      <p:grpSpPr>
        <a:xfrm>
          <a:off x="0" y="0"/>
          <a:ext cx="0" cy="0"/>
          <a:chOff x="0" y="0"/>
          <a:chExt cx="0" cy="0"/>
        </a:xfrm>
      </p:grpSpPr>
      <p:sp>
        <p:nvSpPr>
          <p:cNvPr id="81" name="Google Shape;81;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6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6" name="Shape 86"/>
        <p:cNvGrpSpPr/>
        <p:nvPr/>
      </p:nvGrpSpPr>
      <p:grpSpPr>
        <a:xfrm>
          <a:off x="0" y="0"/>
          <a:ext cx="0" cy="0"/>
          <a:chOff x="0" y="0"/>
          <a:chExt cx="0" cy="0"/>
        </a:xfrm>
      </p:grpSpPr>
      <p:sp>
        <p:nvSpPr>
          <p:cNvPr id="87" name="Google Shape;87;p6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6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5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6.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5.gif"/><Relationship Id="rId4" Type="http://schemas.openxmlformats.org/officeDocument/2006/relationships/image" Target="../media/image14.gif"/><Relationship Id="rId5" Type="http://schemas.openxmlformats.org/officeDocument/2006/relationships/image" Target="../media/image13.gif"/><Relationship Id="rId6" Type="http://schemas.openxmlformats.org/officeDocument/2006/relationships/image" Target="../media/image12.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
          <p:cNvSpPr txBox="1"/>
          <p:nvPr/>
        </p:nvSpPr>
        <p:spPr>
          <a:xfrm>
            <a:off x="829347" y="1491940"/>
            <a:ext cx="66993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Arial"/>
              <a:buNone/>
            </a:pPr>
            <a:r>
              <a:rPr b="1" i="1" lang="en-US" sz="4000" u="none" cap="none" strike="noStrike">
                <a:solidFill>
                  <a:schemeClr val="dk1"/>
                </a:solidFill>
                <a:latin typeface="Times New Roman"/>
                <a:ea typeface="Times New Roman"/>
                <a:cs typeface="Times New Roman"/>
                <a:sym typeface="Times New Roman"/>
              </a:rPr>
              <a:t>Môn học: IoT Communication</a:t>
            </a:r>
            <a:endParaRPr b="1" i="1" sz="4000" u="none" cap="none" strike="noStrike">
              <a:solidFill>
                <a:schemeClr val="dk1"/>
              </a:solidFill>
              <a:latin typeface="Times New Roman"/>
              <a:ea typeface="Times New Roman"/>
              <a:cs typeface="Times New Roman"/>
              <a:sym typeface="Times New Roman"/>
            </a:endParaRPr>
          </a:p>
        </p:txBody>
      </p:sp>
      <p:sp>
        <p:nvSpPr>
          <p:cNvPr id="97" name="Google Shape;97;p1"/>
          <p:cNvSpPr txBox="1"/>
          <p:nvPr/>
        </p:nvSpPr>
        <p:spPr>
          <a:xfrm>
            <a:off x="304705" y="2398964"/>
            <a:ext cx="9236400" cy="828675"/>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Bài 14: Bảo mật trong Truyền thông IoT </a:t>
            </a:r>
            <a:endParaRPr b="1" i="0" sz="3200" u="none" cap="none" strike="noStrike">
              <a:solidFill>
                <a:schemeClr val="dk1"/>
              </a:solidFill>
              <a:latin typeface="Times New Roman"/>
              <a:ea typeface="Times New Roman"/>
              <a:cs typeface="Times New Roman"/>
              <a:sym typeface="Times New Roman"/>
            </a:endParaRPr>
          </a:p>
        </p:txBody>
      </p:sp>
      <p:sp>
        <p:nvSpPr>
          <p:cNvPr id="98" name="Google Shape;98;p1"/>
          <p:cNvSpPr txBox="1"/>
          <p:nvPr/>
        </p:nvSpPr>
        <p:spPr>
          <a:xfrm>
            <a:off x="431634" y="3653950"/>
            <a:ext cx="8527500" cy="249047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Người hướng dẫn: GV. Chu Bá Thành, GV. Lê Ngọc Lành</a:t>
            </a:r>
            <a:endParaRPr b="1" i="0" sz="1800" u="none" cap="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Sinh viên thực hiện:</a:t>
            </a:r>
            <a:endParaRPr b="1" i="0" sz="1800" u="none" cap="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ĐÀO ĐÌNH YÊN </a:t>
            </a:r>
            <a:endParaRPr b="1" i="0" sz="1800" u="none" cap="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VŨ QUANG VINH </a:t>
            </a:r>
            <a:endParaRPr b="1" i="0" sz="1800" u="none" cap="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PHẠM TUẤN VŨ</a:t>
            </a:r>
            <a:endParaRPr b="1" i="0" sz="1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
          <p:cNvSpPr txBox="1"/>
          <p:nvPr>
            <p:ph type="title"/>
          </p:nvPr>
        </p:nvSpPr>
        <p:spPr>
          <a:xfrm>
            <a:off x="-132347" y="152300"/>
            <a:ext cx="10184163" cy="68103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336110"/>
              <a:buFont typeface="Times New Roman"/>
              <a:buNone/>
            </a:pPr>
            <a:br>
              <a:rPr b="1" lang="en-US"/>
            </a:br>
            <a:endParaRPr b="1" sz="2400">
              <a:solidFill>
                <a:srgbClr val="002060"/>
              </a:solidFill>
              <a:latin typeface="Times New Roman"/>
              <a:ea typeface="Times New Roman"/>
              <a:cs typeface="Times New Roman"/>
              <a:sym typeface="Times New Roman"/>
            </a:endParaRPr>
          </a:p>
        </p:txBody>
      </p:sp>
      <p:sp>
        <p:nvSpPr>
          <p:cNvPr id="104" name="Google Shape;104;p2"/>
          <p:cNvSpPr txBox="1"/>
          <p:nvPr>
            <p:ph idx="1" type="body"/>
          </p:nvPr>
        </p:nvSpPr>
        <p:spPr>
          <a:xfrm>
            <a:off x="1082040" y="2548890"/>
            <a:ext cx="10250805" cy="17602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Clr>
                <a:schemeClr val="dk1"/>
              </a:buClr>
              <a:buSzPts val="1800"/>
              <a:buNone/>
            </a:pPr>
            <a:r>
              <a:rPr b="1" lang="en-US" sz="4000">
                <a:latin typeface="Times New Roman"/>
                <a:ea typeface="Times New Roman"/>
                <a:cs typeface="Times New Roman"/>
                <a:sym typeface="Times New Roman"/>
              </a:rPr>
              <a:t>Mã độc Mirai, tấn công DDoS ... Hồi chuông cảnh báo bảo mật trên các thiết bị IoT !</a:t>
            </a:r>
            <a:endParaRPr b="1" sz="4000">
              <a:latin typeface="Times New Roman"/>
              <a:ea typeface="Times New Roman"/>
              <a:cs typeface="Times New Roman"/>
              <a:sym typeface="Times New Roman"/>
            </a:endParaRPr>
          </a:p>
        </p:txBody>
      </p:sp>
      <p:sp>
        <p:nvSpPr>
          <p:cNvPr id="105" name="Google Shape;105;p2"/>
          <p:cNvSpPr txBox="1"/>
          <p:nvPr/>
        </p:nvSpPr>
        <p:spPr>
          <a:xfrm>
            <a:off x="2416175" y="3812540"/>
            <a:ext cx="6454775" cy="3067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https://youtu.be/FpR5xyW8l1U?si=AkCAkCJZbP5aNHOB</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3"/>
          <p:cNvSpPr txBox="1"/>
          <p:nvPr>
            <p:ph type="title"/>
          </p:nvPr>
        </p:nvSpPr>
        <p:spPr>
          <a:xfrm>
            <a:off x="-132347" y="152300"/>
            <a:ext cx="10184163" cy="68103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336110"/>
              <a:buFont typeface="Times New Roman"/>
              <a:buNone/>
            </a:pPr>
            <a:r>
              <a:rPr b="1" lang="en-US">
                <a:solidFill>
                  <a:schemeClr val="lt1"/>
                </a:solidFill>
                <a:latin typeface="Times New Roman"/>
                <a:ea typeface="Times New Roman"/>
                <a:cs typeface="Times New Roman"/>
                <a:sym typeface="Times New Roman"/>
              </a:rPr>
              <a:t> Bài học mã độc Mirai, tấn công DDoS</a:t>
            </a:r>
            <a:br>
              <a:rPr b="1" lang="en-US"/>
            </a:br>
            <a:endParaRPr b="1" sz="2400">
              <a:solidFill>
                <a:srgbClr val="002060"/>
              </a:solidFill>
              <a:latin typeface="Times New Roman"/>
              <a:ea typeface="Times New Roman"/>
              <a:cs typeface="Times New Roman"/>
              <a:sym typeface="Times New Roman"/>
            </a:endParaRPr>
          </a:p>
        </p:txBody>
      </p:sp>
      <p:sp>
        <p:nvSpPr>
          <p:cNvPr id="111" name="Google Shape;111;p3"/>
          <p:cNvSpPr txBox="1"/>
          <p:nvPr>
            <p:ph idx="1" type="body"/>
          </p:nvPr>
        </p:nvSpPr>
        <p:spPr>
          <a:xfrm>
            <a:off x="7071995" y="1769110"/>
            <a:ext cx="4806315" cy="3319780"/>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50000"/>
              </a:lnSpc>
              <a:spcBef>
                <a:spcPts val="0"/>
              </a:spcBef>
              <a:spcAft>
                <a:spcPts val="0"/>
              </a:spcAft>
              <a:buClr>
                <a:schemeClr val="dk1"/>
              </a:buClr>
              <a:buSzPts val="2000"/>
              <a:buFont typeface="Arial"/>
              <a:buChar char="•"/>
            </a:pPr>
            <a:r>
              <a:rPr lang="en-US" sz="1800">
                <a:latin typeface="Arial"/>
                <a:ea typeface="Arial"/>
                <a:cs typeface="Arial"/>
                <a:sym typeface="Arial"/>
              </a:rPr>
              <a:t>Thiết bị IoT nhỏ bé cũng có thể trở thành vũ khí toàn cầu</a:t>
            </a:r>
            <a:endParaRPr b="0" i="0" sz="1800" u="none" cap="none" strike="noStrike">
              <a:solidFill>
                <a:schemeClr val="dk1"/>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2000"/>
              <a:buFont typeface="Arial"/>
              <a:buChar char="•"/>
            </a:pPr>
            <a:r>
              <a:rPr lang="en-US" sz="1800">
                <a:latin typeface="Arial"/>
                <a:ea typeface="Arial"/>
                <a:cs typeface="Arial"/>
                <a:sym typeface="Arial"/>
              </a:rPr>
              <a:t>Điểm yếu là nằm ở bảo mật truyền thông và quản lý thiết bị</a:t>
            </a:r>
            <a:endParaRPr b="0" i="0" sz="1800" u="none" cap="none" strike="noStrike">
              <a:solidFill>
                <a:schemeClr val="dk1"/>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2000"/>
              <a:buFont typeface="Arial"/>
              <a:buChar char="•"/>
            </a:pPr>
            <a:r>
              <a:rPr lang="en-US" sz="1800">
                <a:latin typeface="Arial"/>
                <a:ea typeface="Arial"/>
                <a:cs typeface="Arial"/>
                <a:sym typeface="Arial"/>
              </a:rPr>
              <a:t>Các cuộc tấn công diện rộng dẫn đến những hậu quả khôn lường</a:t>
            </a:r>
            <a:endParaRPr b="0" i="0" sz="1800" u="none" cap="none" strike="noStrike">
              <a:solidFill>
                <a:schemeClr val="dk1"/>
              </a:solidFill>
              <a:latin typeface="Arial"/>
              <a:ea typeface="Arial"/>
              <a:cs typeface="Arial"/>
              <a:sym typeface="Arial"/>
            </a:endParaRPr>
          </a:p>
          <a:p>
            <a:pPr indent="0" lvl="0" marL="0" rtl="0" algn="l">
              <a:lnSpc>
                <a:spcPct val="90000"/>
              </a:lnSpc>
              <a:spcBef>
                <a:spcPts val="1000"/>
              </a:spcBef>
              <a:spcAft>
                <a:spcPts val="0"/>
              </a:spcAft>
              <a:buClr>
                <a:schemeClr val="dk1"/>
              </a:buClr>
              <a:buSzPts val="1800"/>
              <a:buNone/>
            </a:pPr>
            <a:r>
              <a:t/>
            </a:r>
            <a:endParaRPr sz="1800">
              <a:latin typeface="Calibri"/>
              <a:ea typeface="Calibri"/>
              <a:cs typeface="Calibri"/>
              <a:sym typeface="Calibri"/>
            </a:endParaRPr>
          </a:p>
        </p:txBody>
      </p:sp>
      <p:pic>
        <p:nvPicPr>
          <p:cNvPr descr="1" id="112" name="Google Shape;112;p3"/>
          <p:cNvPicPr preferRelativeResize="0"/>
          <p:nvPr/>
        </p:nvPicPr>
        <p:blipFill rotWithShape="1">
          <a:blip r:embed="rId3">
            <a:alphaModFix/>
          </a:blip>
          <a:srcRect b="0" l="0" r="0" t="0"/>
          <a:stretch/>
        </p:blipFill>
        <p:spPr>
          <a:xfrm>
            <a:off x="412750" y="1438275"/>
            <a:ext cx="6335395" cy="398208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4"/>
          <p:cNvSpPr txBox="1"/>
          <p:nvPr>
            <p:ph type="title"/>
          </p:nvPr>
        </p:nvSpPr>
        <p:spPr>
          <a:xfrm>
            <a:off x="-132347" y="152300"/>
            <a:ext cx="10184163" cy="68103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336110"/>
              <a:buFont typeface="Times New Roman"/>
              <a:buNone/>
            </a:pPr>
            <a:r>
              <a:rPr b="1" lang="en-US">
                <a:solidFill>
                  <a:schemeClr val="lt1"/>
                </a:solidFill>
              </a:rPr>
              <a:t> Tầm quan trọng của bảo mật trong IoT</a:t>
            </a:r>
            <a:br>
              <a:rPr b="1" lang="en-US"/>
            </a:br>
            <a:endParaRPr b="1" sz="2400">
              <a:solidFill>
                <a:srgbClr val="002060"/>
              </a:solidFill>
              <a:latin typeface="Times New Roman"/>
              <a:ea typeface="Times New Roman"/>
              <a:cs typeface="Times New Roman"/>
              <a:sym typeface="Times New Roman"/>
            </a:endParaRPr>
          </a:p>
        </p:txBody>
      </p:sp>
      <p:sp>
        <p:nvSpPr>
          <p:cNvPr id="118" name="Google Shape;118;p4"/>
          <p:cNvSpPr txBox="1"/>
          <p:nvPr>
            <p:ph idx="1" type="body"/>
          </p:nvPr>
        </p:nvSpPr>
        <p:spPr>
          <a:xfrm>
            <a:off x="182245" y="884555"/>
            <a:ext cx="11473815" cy="508889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Clr>
                <a:schemeClr val="dk1"/>
              </a:buClr>
              <a:buSzPts val="2800"/>
              <a:buFont typeface="Noto Sans Symbols"/>
              <a:buChar char="❖"/>
            </a:pPr>
            <a:r>
              <a:rPr lang="en-US" sz="1800">
                <a:latin typeface="Calibri"/>
                <a:ea typeface="Calibri"/>
                <a:cs typeface="Calibri"/>
                <a:sym typeface="Calibri"/>
              </a:rPr>
              <a:t>Trong kỷ nguyên Internet vạn vật (IoT), hàng tỷ thiết bị được kết nối. Khác với IT truyền thống (máy tính, server), IoT kết nối thế giới số với thế giới vật lý. Do đó, rủi ro bảo mật không chỉ nằm ở dữ liệu mà còn ảnh hưởng đến tính mạng con người và cơ sở hạ tầng..</a:t>
            </a:r>
            <a:endParaRPr sz="1800">
              <a:latin typeface="Calibri"/>
              <a:ea typeface="Calibri"/>
              <a:cs typeface="Calibri"/>
              <a:sym typeface="Calibri"/>
            </a:endParaRPr>
          </a:p>
          <a:p>
            <a:pPr indent="-107950" lvl="0" marL="285750" rtl="0" algn="l">
              <a:lnSpc>
                <a:spcPct val="100000"/>
              </a:lnSpc>
              <a:spcBef>
                <a:spcPts val="0"/>
              </a:spcBef>
              <a:spcAft>
                <a:spcPts val="0"/>
              </a:spcAft>
              <a:buClr>
                <a:schemeClr val="dk1"/>
              </a:buClr>
              <a:buSzPts val="2800"/>
              <a:buFont typeface="Noto Sans Symbols"/>
              <a:buNone/>
            </a:pPr>
            <a:r>
              <a:t/>
            </a:r>
            <a:endParaRPr sz="1800">
              <a:latin typeface="Calibri"/>
              <a:ea typeface="Calibri"/>
              <a:cs typeface="Calibri"/>
              <a:sym typeface="Calibri"/>
            </a:endParaRPr>
          </a:p>
          <a:p>
            <a:pPr indent="-285750" lvl="0" marL="285750" rtl="0" algn="l">
              <a:lnSpc>
                <a:spcPct val="100000"/>
              </a:lnSpc>
              <a:spcBef>
                <a:spcPts val="0"/>
              </a:spcBef>
              <a:spcAft>
                <a:spcPts val="0"/>
              </a:spcAft>
              <a:buClr>
                <a:schemeClr val="dk1"/>
              </a:buClr>
              <a:buSzPts val="2800"/>
              <a:buFont typeface="Noto Sans Symbols"/>
              <a:buChar char="❖"/>
            </a:pPr>
            <a:r>
              <a:rPr b="1" lang="en-US" sz="1800">
                <a:latin typeface="Calibri"/>
                <a:ea typeface="Calibri"/>
                <a:cs typeface="Calibri"/>
                <a:sym typeface="Calibri"/>
              </a:rPr>
              <a:t>Hậu quả khi mất an toàn:</a:t>
            </a:r>
            <a:endParaRPr b="1" sz="1800">
              <a:latin typeface="Calibri"/>
              <a:ea typeface="Calibri"/>
              <a:cs typeface="Calibri"/>
              <a:sym typeface="Calibri"/>
            </a:endParaRPr>
          </a:p>
          <a:p>
            <a:pPr indent="-107950" lvl="1" marL="1200150" rtl="0" algn="l">
              <a:lnSpc>
                <a:spcPct val="100000"/>
              </a:lnSpc>
              <a:spcBef>
                <a:spcPts val="0"/>
              </a:spcBef>
              <a:spcAft>
                <a:spcPts val="0"/>
              </a:spcAft>
              <a:buClr>
                <a:schemeClr val="dk1"/>
              </a:buClr>
              <a:buSzPts val="2800"/>
              <a:buFont typeface="Arial"/>
              <a:buNone/>
            </a:pPr>
            <a:r>
              <a:t/>
            </a:r>
            <a:endParaRPr sz="1800">
              <a:latin typeface="Calibri"/>
              <a:ea typeface="Calibri"/>
              <a:cs typeface="Calibri"/>
              <a:sym typeface="Calibri"/>
            </a:endParaRPr>
          </a:p>
          <a:p>
            <a:pPr indent="-285750" lvl="1" marL="1200150" rtl="0" algn="l">
              <a:lnSpc>
                <a:spcPct val="100000"/>
              </a:lnSpc>
              <a:spcBef>
                <a:spcPts val="0"/>
              </a:spcBef>
              <a:spcAft>
                <a:spcPts val="0"/>
              </a:spcAft>
              <a:buClr>
                <a:schemeClr val="dk1"/>
              </a:buClr>
              <a:buSzPts val="2800"/>
              <a:buFont typeface="Arial"/>
              <a:buChar char="•"/>
            </a:pPr>
            <a:r>
              <a:rPr b="1" lang="en-US" sz="1800">
                <a:latin typeface="Calibri"/>
                <a:ea typeface="Calibri"/>
                <a:cs typeface="Calibri"/>
                <a:sym typeface="Calibri"/>
              </a:rPr>
              <a:t>Mất dữ liệu và xâm phạm quyền riêng tư:</a:t>
            </a:r>
            <a:r>
              <a:rPr lang="en-US" sz="1800">
                <a:latin typeface="Calibri"/>
                <a:ea typeface="Calibri"/>
                <a:cs typeface="Calibri"/>
                <a:sym typeface="Calibri"/>
              </a:rPr>
              <a:t> Camera an ninh bị hack, dữ liệu sức khỏe (wearables) bị lộ, thông tin thói quen sinh hoạt trong nhà thông minh bị đánh cắp.</a:t>
            </a:r>
            <a:endParaRPr sz="1800">
              <a:latin typeface="Calibri"/>
              <a:ea typeface="Calibri"/>
              <a:cs typeface="Calibri"/>
              <a:sym typeface="Calibri"/>
            </a:endParaRPr>
          </a:p>
          <a:p>
            <a:pPr indent="-107950" lvl="1" marL="1200150" rtl="0" algn="l">
              <a:lnSpc>
                <a:spcPct val="100000"/>
              </a:lnSpc>
              <a:spcBef>
                <a:spcPts val="0"/>
              </a:spcBef>
              <a:spcAft>
                <a:spcPts val="0"/>
              </a:spcAft>
              <a:buClr>
                <a:schemeClr val="dk1"/>
              </a:buClr>
              <a:buSzPts val="2800"/>
              <a:buFont typeface="Arial"/>
              <a:buNone/>
            </a:pPr>
            <a:r>
              <a:t/>
            </a:r>
            <a:endParaRPr sz="1800">
              <a:latin typeface="Calibri"/>
              <a:ea typeface="Calibri"/>
              <a:cs typeface="Calibri"/>
              <a:sym typeface="Calibri"/>
            </a:endParaRPr>
          </a:p>
          <a:p>
            <a:pPr indent="-285750" lvl="1" marL="1200150" rtl="0" algn="l">
              <a:lnSpc>
                <a:spcPct val="100000"/>
              </a:lnSpc>
              <a:spcBef>
                <a:spcPts val="0"/>
              </a:spcBef>
              <a:spcAft>
                <a:spcPts val="0"/>
              </a:spcAft>
              <a:buClr>
                <a:schemeClr val="dk1"/>
              </a:buClr>
              <a:buSzPts val="2800"/>
              <a:buFont typeface="Arial"/>
              <a:buChar char="•"/>
            </a:pPr>
            <a:r>
              <a:rPr b="1" lang="en-US" sz="1800">
                <a:latin typeface="Calibri"/>
                <a:ea typeface="Calibri"/>
                <a:cs typeface="Calibri"/>
                <a:sym typeface="Calibri"/>
              </a:rPr>
              <a:t>Điều khiển trái phép (Physical Impact):</a:t>
            </a:r>
            <a:r>
              <a:rPr lang="en-US" sz="1800">
                <a:latin typeface="Calibri"/>
                <a:ea typeface="Calibri"/>
                <a:cs typeface="Calibri"/>
                <a:sym typeface="Calibri"/>
              </a:rPr>
              <a:t> Hacker chiếm quyền điều khiển xe tự lái (gây tai nạn), điều chỉnh sai liều lượng máy bơm thuốc y tế, hoặc mở khóa cửa thông minh trái phép.</a:t>
            </a:r>
            <a:endParaRPr sz="1800">
              <a:latin typeface="Calibri"/>
              <a:ea typeface="Calibri"/>
              <a:cs typeface="Calibri"/>
              <a:sym typeface="Calibri"/>
            </a:endParaRPr>
          </a:p>
          <a:p>
            <a:pPr indent="-107950" lvl="1" marL="1200150" rtl="0" algn="l">
              <a:lnSpc>
                <a:spcPct val="100000"/>
              </a:lnSpc>
              <a:spcBef>
                <a:spcPts val="0"/>
              </a:spcBef>
              <a:spcAft>
                <a:spcPts val="0"/>
              </a:spcAft>
              <a:buClr>
                <a:schemeClr val="dk1"/>
              </a:buClr>
              <a:buSzPts val="2800"/>
              <a:buFont typeface="Arial"/>
              <a:buNone/>
            </a:pPr>
            <a:r>
              <a:t/>
            </a:r>
            <a:endParaRPr sz="1800">
              <a:latin typeface="Calibri"/>
              <a:ea typeface="Calibri"/>
              <a:cs typeface="Calibri"/>
              <a:sym typeface="Calibri"/>
            </a:endParaRPr>
          </a:p>
          <a:p>
            <a:pPr indent="-285750" lvl="1" marL="1200150" rtl="0" algn="l">
              <a:lnSpc>
                <a:spcPct val="100000"/>
              </a:lnSpc>
              <a:spcBef>
                <a:spcPts val="0"/>
              </a:spcBef>
              <a:spcAft>
                <a:spcPts val="0"/>
              </a:spcAft>
              <a:buClr>
                <a:schemeClr val="dk1"/>
              </a:buClr>
              <a:buSzPts val="2800"/>
              <a:buFont typeface="Arial"/>
              <a:buChar char="•"/>
            </a:pPr>
            <a:r>
              <a:rPr b="1" lang="en-US" sz="1800">
                <a:latin typeface="Calibri"/>
                <a:ea typeface="Calibri"/>
                <a:cs typeface="Calibri"/>
                <a:sym typeface="Calibri"/>
              </a:rPr>
              <a:t>Gián đoạn dịch vụ (Service Disruption):</a:t>
            </a:r>
            <a:r>
              <a:rPr lang="en-US" sz="1800">
                <a:latin typeface="Calibri"/>
                <a:ea typeface="Calibri"/>
                <a:cs typeface="Calibri"/>
                <a:sym typeface="Calibri"/>
              </a:rPr>
              <a:t> Tấn công vào lưới điện thông minh (Smart Grid) gây mất điện diện rộng, hoặc làm tê liệt hệ thống sản xuất trong nhà máy (IIoT).</a:t>
            </a:r>
            <a:endParaRPr sz="1800">
              <a:latin typeface="Calibri"/>
              <a:ea typeface="Calibri"/>
              <a:cs typeface="Calibri"/>
              <a:sym typeface="Calibri"/>
            </a:endParaRPr>
          </a:p>
          <a:p>
            <a:pPr indent="-107950" lvl="1" marL="1200150" rtl="0" algn="l">
              <a:lnSpc>
                <a:spcPct val="100000"/>
              </a:lnSpc>
              <a:spcBef>
                <a:spcPts val="0"/>
              </a:spcBef>
              <a:spcAft>
                <a:spcPts val="0"/>
              </a:spcAft>
              <a:buClr>
                <a:schemeClr val="dk1"/>
              </a:buClr>
              <a:buSzPts val="2800"/>
              <a:buFont typeface="Arial"/>
              <a:buNone/>
            </a:pPr>
            <a:r>
              <a:t/>
            </a:r>
            <a:endParaRPr sz="1800">
              <a:latin typeface="Calibri"/>
              <a:ea typeface="Calibri"/>
              <a:cs typeface="Calibri"/>
              <a:sym typeface="Calibri"/>
            </a:endParaRPr>
          </a:p>
          <a:p>
            <a:pPr indent="-285750" lvl="1" marL="1200150" rtl="0" algn="l">
              <a:lnSpc>
                <a:spcPct val="100000"/>
              </a:lnSpc>
              <a:spcBef>
                <a:spcPts val="0"/>
              </a:spcBef>
              <a:spcAft>
                <a:spcPts val="0"/>
              </a:spcAft>
              <a:buClr>
                <a:schemeClr val="dk1"/>
              </a:buClr>
              <a:buSzPts val="2800"/>
              <a:buFont typeface="Arial"/>
              <a:buChar char="•"/>
            </a:pPr>
            <a:r>
              <a:rPr b="1" lang="en-US" sz="1800">
                <a:latin typeface="Calibri"/>
                <a:ea typeface="Calibri"/>
                <a:cs typeface="Calibri"/>
                <a:sym typeface="Calibri"/>
              </a:rPr>
              <a:t>Sử dụng làm bàn đạp tấn công (Botnets): </a:t>
            </a:r>
            <a:r>
              <a:rPr lang="en-US" sz="1800">
                <a:latin typeface="Calibri"/>
                <a:ea typeface="Calibri"/>
                <a:cs typeface="Calibri"/>
                <a:sym typeface="Calibri"/>
              </a:rPr>
              <a:t>Các thiết bị IoT yếu kém bị chiếm quyền để tạo thành mạng máy tính ma (Botnet) tấn công DDoS vào các hệ thống lớn khác (Ví dụ: Mirai Botnet).</a:t>
            </a:r>
            <a:endParaRPr sz="18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5"/>
          <p:cNvSpPr txBox="1"/>
          <p:nvPr>
            <p:ph type="title"/>
          </p:nvPr>
        </p:nvSpPr>
        <p:spPr>
          <a:xfrm>
            <a:off x="0" y="67945"/>
            <a:ext cx="10732135" cy="68072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000"/>
              <a:buFont typeface="Times New Roman"/>
              <a:buNone/>
            </a:pPr>
            <a:r>
              <a:rPr b="1" lang="en-US" sz="4000">
                <a:solidFill>
                  <a:schemeClr val="lt1"/>
                </a:solidFill>
                <a:latin typeface="Times New Roman"/>
                <a:ea typeface="Times New Roman"/>
                <a:cs typeface="Times New Roman"/>
                <a:sym typeface="Times New Roman"/>
              </a:rPr>
              <a:t>Bề mặt tấn công (Attack Surface) trong Iot</a:t>
            </a:r>
            <a:endParaRPr b="1" sz="4000">
              <a:solidFill>
                <a:schemeClr val="lt1"/>
              </a:solidFill>
              <a:latin typeface="Times New Roman"/>
              <a:ea typeface="Times New Roman"/>
              <a:cs typeface="Times New Roman"/>
              <a:sym typeface="Times New Roman"/>
            </a:endParaRPr>
          </a:p>
        </p:txBody>
      </p:sp>
      <p:sp>
        <p:nvSpPr>
          <p:cNvPr id="124" name="Google Shape;124;p5"/>
          <p:cNvSpPr txBox="1"/>
          <p:nvPr>
            <p:ph idx="1" type="body"/>
          </p:nvPr>
        </p:nvSpPr>
        <p:spPr>
          <a:xfrm>
            <a:off x="108311" y="1074393"/>
            <a:ext cx="6892598" cy="508894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US" sz="1800">
                <a:latin typeface="Times New Roman"/>
                <a:ea typeface="Times New Roman"/>
                <a:cs typeface="Times New Roman"/>
                <a:sym typeface="Times New Roman"/>
              </a:rPr>
              <a:t>Định nghĩa: </a:t>
            </a:r>
            <a:r>
              <a:rPr lang="en-US" sz="1800">
                <a:latin typeface="Times New Roman"/>
                <a:ea typeface="Times New Roman"/>
                <a:cs typeface="Times New Roman"/>
                <a:sym typeface="Times New Roman"/>
              </a:rPr>
              <a:t>Tổng hợp các điểm yếu mà hacker có thể xâm nhập.</a:t>
            </a:r>
            <a:endParaRPr sz="1800">
              <a:latin typeface="Times New Roman"/>
              <a:ea typeface="Times New Roman"/>
              <a:cs typeface="Times New Roman"/>
              <a:sym typeface="Times New Roman"/>
            </a:endParaRPr>
          </a:p>
          <a:p>
            <a:pPr indent="-107950" lvl="0" marL="285750" rtl="0" algn="l">
              <a:lnSpc>
                <a:spcPct val="90000"/>
              </a:lnSpc>
              <a:spcBef>
                <a:spcPts val="0"/>
              </a:spcBef>
              <a:spcAft>
                <a:spcPts val="0"/>
              </a:spcAft>
              <a:buClr>
                <a:schemeClr val="dk1"/>
              </a:buClr>
              <a:buSzPts val="2800"/>
              <a:buFont typeface="Arial"/>
              <a:buNone/>
            </a:pPr>
            <a:r>
              <a:t/>
            </a:r>
            <a:endParaRPr sz="1800">
              <a:latin typeface="Times New Roman"/>
              <a:ea typeface="Times New Roman"/>
              <a:cs typeface="Times New Roman"/>
              <a:sym typeface="Times New Roman"/>
            </a:endParaRPr>
          </a:p>
          <a:p>
            <a:pPr indent="-285750" lvl="0" marL="285750" rtl="0" algn="l">
              <a:lnSpc>
                <a:spcPct val="90000"/>
              </a:lnSpc>
              <a:spcBef>
                <a:spcPts val="0"/>
              </a:spcBef>
              <a:spcAft>
                <a:spcPts val="0"/>
              </a:spcAft>
              <a:buClr>
                <a:schemeClr val="dk1"/>
              </a:buClr>
              <a:buSzPts val="2800"/>
              <a:buFont typeface="Arial"/>
              <a:buChar char="•"/>
            </a:pPr>
            <a:r>
              <a:rPr b="1" lang="en-US" sz="1800">
                <a:latin typeface="Times New Roman"/>
                <a:ea typeface="Times New Roman"/>
                <a:cs typeface="Times New Roman"/>
                <a:sym typeface="Times New Roman"/>
              </a:rPr>
              <a:t>4 Lớp chính:</a:t>
            </a:r>
            <a:endParaRPr b="1" sz="1800">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ts val="2800"/>
              <a:buNone/>
            </a:pPr>
            <a:r>
              <a:t/>
            </a:r>
            <a:endParaRPr sz="1800">
              <a:latin typeface="Times New Roman"/>
              <a:ea typeface="Times New Roman"/>
              <a:cs typeface="Times New Roman"/>
              <a:sym typeface="Times New Roman"/>
            </a:endParaRPr>
          </a:p>
          <a:p>
            <a:pPr indent="-285750" lvl="1" marL="1200150" rtl="0" algn="l">
              <a:lnSpc>
                <a:spcPct val="90000"/>
              </a:lnSpc>
              <a:spcBef>
                <a:spcPts val="0"/>
              </a:spcBef>
              <a:spcAft>
                <a:spcPts val="0"/>
              </a:spcAft>
              <a:buClr>
                <a:schemeClr val="dk1"/>
              </a:buClr>
              <a:buSzPts val="2800"/>
              <a:buFont typeface="Arial"/>
              <a:buChar char="•"/>
            </a:pPr>
            <a:r>
              <a:rPr b="1" lang="en-US" sz="1800">
                <a:latin typeface="Times New Roman"/>
                <a:ea typeface="Times New Roman"/>
                <a:cs typeface="Times New Roman"/>
                <a:sym typeface="Times New Roman"/>
              </a:rPr>
              <a:t>Thiết bị (Phần cứng, Firmware):</a:t>
            </a:r>
            <a:r>
              <a:rPr lang="en-US" sz="1800">
                <a:latin typeface="Times New Roman"/>
                <a:ea typeface="Times New Roman"/>
                <a:cs typeface="Times New Roman"/>
                <a:sym typeface="Times New Roman"/>
              </a:rPr>
              <a:t> Cổng debug (JTAG/UART) mở, chip nhớ không mã hóa, firmware lỗi ,cho phép kẻ tấn công đọc trộm firmware.</a:t>
            </a:r>
            <a:endParaRPr sz="1800">
              <a:latin typeface="Times New Roman"/>
              <a:ea typeface="Times New Roman"/>
              <a:cs typeface="Times New Roman"/>
              <a:sym typeface="Times New Roman"/>
            </a:endParaRPr>
          </a:p>
          <a:p>
            <a:pPr indent="-107950" lvl="1" marL="1200150" rtl="0" algn="l">
              <a:lnSpc>
                <a:spcPct val="90000"/>
              </a:lnSpc>
              <a:spcBef>
                <a:spcPts val="0"/>
              </a:spcBef>
              <a:spcAft>
                <a:spcPts val="0"/>
              </a:spcAft>
              <a:buClr>
                <a:schemeClr val="dk1"/>
              </a:buClr>
              <a:buSzPts val="2800"/>
              <a:buFont typeface="Arial"/>
              <a:buNone/>
            </a:pPr>
            <a:r>
              <a:t/>
            </a:r>
            <a:endParaRPr sz="1800">
              <a:latin typeface="Times New Roman"/>
              <a:ea typeface="Times New Roman"/>
              <a:cs typeface="Times New Roman"/>
              <a:sym typeface="Times New Roman"/>
            </a:endParaRPr>
          </a:p>
          <a:p>
            <a:pPr indent="-285750" lvl="1" marL="1200150" rtl="0" algn="l">
              <a:lnSpc>
                <a:spcPct val="90000"/>
              </a:lnSpc>
              <a:spcBef>
                <a:spcPts val="0"/>
              </a:spcBef>
              <a:spcAft>
                <a:spcPts val="0"/>
              </a:spcAft>
              <a:buClr>
                <a:schemeClr val="dk1"/>
              </a:buClr>
              <a:buSzPts val="2800"/>
              <a:buFont typeface="Arial"/>
              <a:buChar char="•"/>
            </a:pPr>
            <a:r>
              <a:rPr b="1" lang="en-US" sz="1800">
                <a:latin typeface="Times New Roman"/>
                <a:ea typeface="Times New Roman"/>
                <a:cs typeface="Times New Roman"/>
                <a:sym typeface="Times New Roman"/>
              </a:rPr>
              <a:t>Truyền thông (Mạng cục bộ, Mạng diện rộng, Giao thức): </a:t>
            </a:r>
            <a:r>
              <a:rPr lang="en-US" sz="1800">
                <a:latin typeface="Times New Roman"/>
                <a:ea typeface="Times New Roman"/>
                <a:cs typeface="Times New Roman"/>
                <a:sym typeface="Times New Roman"/>
              </a:rPr>
              <a:t>Mạng Wifi/LAN, Bluetooth, giao thức không mã hóa dễ bị nghe lén.</a:t>
            </a:r>
            <a:endParaRPr sz="1800">
              <a:latin typeface="Times New Roman"/>
              <a:ea typeface="Times New Roman"/>
              <a:cs typeface="Times New Roman"/>
              <a:sym typeface="Times New Roman"/>
            </a:endParaRPr>
          </a:p>
          <a:p>
            <a:pPr indent="-107950" lvl="1" marL="1200150" rtl="0" algn="l">
              <a:lnSpc>
                <a:spcPct val="90000"/>
              </a:lnSpc>
              <a:spcBef>
                <a:spcPts val="0"/>
              </a:spcBef>
              <a:spcAft>
                <a:spcPts val="0"/>
              </a:spcAft>
              <a:buClr>
                <a:schemeClr val="dk1"/>
              </a:buClr>
              <a:buSzPts val="2800"/>
              <a:buFont typeface="Arial"/>
              <a:buNone/>
            </a:pPr>
            <a:r>
              <a:t/>
            </a:r>
            <a:endParaRPr sz="1800">
              <a:latin typeface="Times New Roman"/>
              <a:ea typeface="Times New Roman"/>
              <a:cs typeface="Times New Roman"/>
              <a:sym typeface="Times New Roman"/>
            </a:endParaRPr>
          </a:p>
          <a:p>
            <a:pPr indent="-285750" lvl="1" marL="1200150" rtl="0" algn="l">
              <a:lnSpc>
                <a:spcPct val="90000"/>
              </a:lnSpc>
              <a:spcBef>
                <a:spcPts val="0"/>
              </a:spcBef>
              <a:spcAft>
                <a:spcPts val="0"/>
              </a:spcAft>
              <a:buClr>
                <a:schemeClr val="dk1"/>
              </a:buClr>
              <a:buSzPts val="2800"/>
              <a:buFont typeface="Arial"/>
              <a:buChar char="•"/>
            </a:pPr>
            <a:r>
              <a:rPr b="1" lang="en-US" sz="1800">
                <a:latin typeface="Times New Roman"/>
                <a:ea typeface="Times New Roman"/>
                <a:cs typeface="Times New Roman"/>
                <a:sym typeface="Times New Roman"/>
              </a:rPr>
              <a:t>Cloud/Backend (API, Cơ sở dữ liệu): </a:t>
            </a:r>
            <a:r>
              <a:rPr lang="en-US" sz="1800">
                <a:latin typeface="Times New Roman"/>
                <a:ea typeface="Times New Roman"/>
                <a:cs typeface="Times New Roman"/>
                <a:sym typeface="Times New Roman"/>
              </a:rPr>
              <a:t>API không bảo mật, Database không được mã hóa hoặc quản lý truy cập kém.</a:t>
            </a:r>
            <a:endParaRPr sz="1800">
              <a:latin typeface="Times New Roman"/>
              <a:ea typeface="Times New Roman"/>
              <a:cs typeface="Times New Roman"/>
              <a:sym typeface="Times New Roman"/>
            </a:endParaRPr>
          </a:p>
          <a:p>
            <a:pPr indent="-107950" lvl="1" marL="1200150" rtl="0" algn="l">
              <a:lnSpc>
                <a:spcPct val="90000"/>
              </a:lnSpc>
              <a:spcBef>
                <a:spcPts val="0"/>
              </a:spcBef>
              <a:spcAft>
                <a:spcPts val="0"/>
              </a:spcAft>
              <a:buClr>
                <a:schemeClr val="dk1"/>
              </a:buClr>
              <a:buSzPts val="2800"/>
              <a:buFont typeface="Arial"/>
              <a:buNone/>
            </a:pPr>
            <a:r>
              <a:t/>
            </a:r>
            <a:endParaRPr sz="1800">
              <a:latin typeface="Times New Roman"/>
              <a:ea typeface="Times New Roman"/>
              <a:cs typeface="Times New Roman"/>
              <a:sym typeface="Times New Roman"/>
            </a:endParaRPr>
          </a:p>
          <a:p>
            <a:pPr indent="-285750" lvl="1" marL="1200150" rtl="0" algn="l">
              <a:lnSpc>
                <a:spcPct val="90000"/>
              </a:lnSpc>
              <a:spcBef>
                <a:spcPts val="0"/>
              </a:spcBef>
              <a:spcAft>
                <a:spcPts val="0"/>
              </a:spcAft>
              <a:buClr>
                <a:schemeClr val="dk1"/>
              </a:buClr>
              <a:buSzPts val="2800"/>
              <a:buFont typeface="Arial"/>
              <a:buChar char="•"/>
            </a:pPr>
            <a:r>
              <a:rPr b="1" lang="en-US" sz="1800">
                <a:latin typeface="Times New Roman"/>
                <a:ea typeface="Times New Roman"/>
                <a:cs typeface="Times New Roman"/>
                <a:sym typeface="Times New Roman"/>
              </a:rPr>
              <a:t>Ứng dụng (Mobile/Web): </a:t>
            </a:r>
            <a:r>
              <a:rPr lang="en-US" sz="1800">
                <a:latin typeface="Times New Roman"/>
                <a:ea typeface="Times New Roman"/>
                <a:cs typeface="Times New Roman"/>
                <a:sym typeface="Times New Roman"/>
              </a:rPr>
              <a:t>Mobile App lưu token kém, bị reverse engineering</a:t>
            </a:r>
            <a:r>
              <a:rPr lang="en-US" sz="1540">
                <a:latin typeface="Times New Roman"/>
                <a:ea typeface="Times New Roman"/>
                <a:cs typeface="Times New Roman"/>
                <a:sym typeface="Times New Roman"/>
              </a:rPr>
              <a:t>.</a:t>
            </a:r>
            <a:endParaRPr sz="1540">
              <a:latin typeface="Times New Roman"/>
              <a:ea typeface="Times New Roman"/>
              <a:cs typeface="Times New Roman"/>
              <a:sym typeface="Times New Roman"/>
            </a:endParaRPr>
          </a:p>
        </p:txBody>
      </p:sp>
      <p:pic>
        <p:nvPicPr>
          <p:cNvPr descr="2" id="125" name="Google Shape;125;p5"/>
          <p:cNvPicPr preferRelativeResize="0"/>
          <p:nvPr/>
        </p:nvPicPr>
        <p:blipFill rotWithShape="1">
          <a:blip r:embed="rId3">
            <a:alphaModFix/>
          </a:blip>
          <a:srcRect b="0" l="0" r="0" t="0"/>
          <a:stretch/>
        </p:blipFill>
        <p:spPr>
          <a:xfrm>
            <a:off x="7192010" y="1285240"/>
            <a:ext cx="4999990" cy="384746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6"/>
          <p:cNvSpPr txBox="1"/>
          <p:nvPr>
            <p:ph idx="1" type="body"/>
          </p:nvPr>
        </p:nvSpPr>
        <p:spPr>
          <a:xfrm>
            <a:off x="0" y="1927225"/>
            <a:ext cx="6682740" cy="199199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sz="4000">
                <a:latin typeface="Arial"/>
                <a:ea typeface="Arial"/>
                <a:cs typeface="Arial"/>
                <a:sym typeface="Arial"/>
              </a:rPr>
              <a:t>Các mối đe dọa và lỗ hổng phổ biến trong lớp truyền thông</a:t>
            </a:r>
            <a:endParaRPr b="1" sz="4000">
              <a:latin typeface="Arial"/>
              <a:ea typeface="Arial"/>
              <a:cs typeface="Arial"/>
              <a:sym typeface="Arial"/>
            </a:endParaRPr>
          </a:p>
        </p:txBody>
      </p:sp>
      <p:pic>
        <p:nvPicPr>
          <p:cNvPr descr="lo-hong" id="131" name="Google Shape;131;p6"/>
          <p:cNvPicPr preferRelativeResize="0"/>
          <p:nvPr/>
        </p:nvPicPr>
        <p:blipFill rotWithShape="1">
          <a:blip r:embed="rId3">
            <a:alphaModFix/>
          </a:blip>
          <a:srcRect b="0" l="0" r="0" t="0"/>
          <a:stretch/>
        </p:blipFill>
        <p:spPr>
          <a:xfrm>
            <a:off x="6527165" y="899160"/>
            <a:ext cx="5766435" cy="537591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7"/>
          <p:cNvSpPr txBox="1"/>
          <p:nvPr>
            <p:ph type="title"/>
          </p:nvPr>
        </p:nvSpPr>
        <p:spPr>
          <a:xfrm>
            <a:off x="-267" y="203735"/>
            <a:ext cx="10184163" cy="68103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sz="3100">
                <a:solidFill>
                  <a:schemeClr val="lt1"/>
                </a:solidFill>
                <a:latin typeface="Arial"/>
                <a:ea typeface="Arial"/>
                <a:cs typeface="Arial"/>
                <a:sym typeface="Arial"/>
              </a:rPr>
              <a:t>Nghe lén (Eavesdropping)</a:t>
            </a:r>
            <a:br>
              <a:rPr b="1" lang="en-US"/>
            </a:br>
            <a:endParaRPr b="1" sz="2400">
              <a:solidFill>
                <a:srgbClr val="002060"/>
              </a:solidFill>
              <a:latin typeface="Times New Roman"/>
              <a:ea typeface="Times New Roman"/>
              <a:cs typeface="Times New Roman"/>
              <a:sym typeface="Times New Roman"/>
            </a:endParaRPr>
          </a:p>
        </p:txBody>
      </p:sp>
      <p:sp>
        <p:nvSpPr>
          <p:cNvPr id="137" name="Google Shape;137;p7"/>
          <p:cNvSpPr txBox="1"/>
          <p:nvPr>
            <p:ph idx="1" type="body"/>
          </p:nvPr>
        </p:nvSpPr>
        <p:spPr>
          <a:xfrm>
            <a:off x="182245" y="884555"/>
            <a:ext cx="11485245" cy="5088890"/>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800"/>
              <a:buFont typeface="Arial"/>
              <a:buChar char="•"/>
            </a:pPr>
            <a:r>
              <a:rPr b="1" lang="en-US" sz="2400">
                <a:latin typeface="Arial"/>
                <a:ea typeface="Arial"/>
                <a:cs typeface="Arial"/>
                <a:sym typeface="Arial"/>
              </a:rPr>
              <a:t>Định nghĩa: </a:t>
            </a:r>
            <a:r>
              <a:rPr lang="en-US" sz="2400">
                <a:latin typeface="Arial"/>
                <a:ea typeface="Arial"/>
                <a:cs typeface="Arial"/>
                <a:sym typeface="Arial"/>
              </a:rPr>
              <a:t>Là hành vi lén lút chặn bắt và đọc nội dung dữ liệu đang truyền trên mạng mà không được sự cho phép.</a:t>
            </a:r>
            <a:endParaRPr sz="2400">
              <a:latin typeface="Arial"/>
              <a:ea typeface="Arial"/>
              <a:cs typeface="Arial"/>
              <a:sym typeface="Arial"/>
            </a:endParaRPr>
          </a:p>
          <a:p>
            <a:pPr indent="-165100" lvl="0" marL="342900" rtl="0" algn="l">
              <a:lnSpc>
                <a:spcPct val="90000"/>
              </a:lnSpc>
              <a:spcBef>
                <a:spcPts val="0"/>
              </a:spcBef>
              <a:spcAft>
                <a:spcPts val="0"/>
              </a:spcAft>
              <a:buClr>
                <a:schemeClr val="dk1"/>
              </a:buClr>
              <a:buSzPts val="2800"/>
              <a:buFont typeface="Arial"/>
              <a:buNone/>
            </a:pPr>
            <a:r>
              <a:t/>
            </a:r>
            <a:endParaRPr sz="2400">
              <a:latin typeface="Arial"/>
              <a:ea typeface="Arial"/>
              <a:cs typeface="Arial"/>
              <a:sym typeface="Arial"/>
            </a:endParaRPr>
          </a:p>
          <a:p>
            <a:pPr indent="-342900" lvl="0" marL="342900" rtl="0" algn="l">
              <a:lnSpc>
                <a:spcPct val="90000"/>
              </a:lnSpc>
              <a:spcBef>
                <a:spcPts val="0"/>
              </a:spcBef>
              <a:spcAft>
                <a:spcPts val="0"/>
              </a:spcAft>
              <a:buClr>
                <a:schemeClr val="dk1"/>
              </a:buClr>
              <a:buSzPts val="2800"/>
              <a:buFont typeface="Arial"/>
              <a:buChar char="•"/>
            </a:pPr>
            <a:r>
              <a:rPr b="1" lang="en-US" sz="2400">
                <a:latin typeface="Arial"/>
                <a:ea typeface="Arial"/>
                <a:cs typeface="Arial"/>
                <a:sym typeface="Arial"/>
              </a:rPr>
              <a:t>Dạng tấn công: Tấn công thụ động</a:t>
            </a:r>
            <a:r>
              <a:rPr lang="en-US" sz="2400">
                <a:latin typeface="Arial"/>
                <a:ea typeface="Arial"/>
                <a:cs typeface="Arial"/>
                <a:sym typeface="Arial"/>
              </a:rPr>
              <a:t> (Passive Attack). Kẻ tấn công chỉ "nghe" mà không làm thay đổi dữ liệu, do đó rất khó bị phát hiện.</a:t>
            </a:r>
            <a:endParaRPr sz="2400">
              <a:latin typeface="Arial"/>
              <a:ea typeface="Arial"/>
              <a:cs typeface="Arial"/>
              <a:sym typeface="Arial"/>
            </a:endParaRPr>
          </a:p>
          <a:p>
            <a:pPr indent="-165100" lvl="0" marL="342900" rtl="0" algn="l">
              <a:lnSpc>
                <a:spcPct val="90000"/>
              </a:lnSpc>
              <a:spcBef>
                <a:spcPts val="0"/>
              </a:spcBef>
              <a:spcAft>
                <a:spcPts val="0"/>
              </a:spcAft>
              <a:buClr>
                <a:schemeClr val="dk1"/>
              </a:buClr>
              <a:buSzPts val="2800"/>
              <a:buFont typeface="Arial"/>
              <a:buNone/>
            </a:pPr>
            <a:r>
              <a:t/>
            </a:r>
            <a:endParaRPr sz="2400">
              <a:latin typeface="Arial"/>
              <a:ea typeface="Arial"/>
              <a:cs typeface="Arial"/>
              <a:sym typeface="Arial"/>
            </a:endParaRPr>
          </a:p>
          <a:p>
            <a:pPr indent="-342900" lvl="0" marL="342900" rtl="0" algn="l">
              <a:lnSpc>
                <a:spcPct val="90000"/>
              </a:lnSpc>
              <a:spcBef>
                <a:spcPts val="0"/>
              </a:spcBef>
              <a:spcAft>
                <a:spcPts val="0"/>
              </a:spcAft>
              <a:buClr>
                <a:schemeClr val="dk1"/>
              </a:buClr>
              <a:buSzPts val="2800"/>
              <a:buFont typeface="Arial"/>
              <a:buChar char="•"/>
            </a:pPr>
            <a:r>
              <a:rPr b="1" lang="en-US" sz="2400">
                <a:latin typeface="Arial"/>
                <a:ea typeface="Arial"/>
                <a:cs typeface="Arial"/>
                <a:sym typeface="Arial"/>
              </a:rPr>
              <a:t>Điều kiện xảy ra:</a:t>
            </a:r>
            <a:endParaRPr b="1" sz="2400">
              <a:latin typeface="Arial"/>
              <a:ea typeface="Arial"/>
              <a:cs typeface="Arial"/>
              <a:sym typeface="Arial"/>
            </a:endParaRPr>
          </a:p>
          <a:p>
            <a:pPr indent="0" lvl="0" marL="0" rtl="0" algn="l">
              <a:lnSpc>
                <a:spcPct val="90000"/>
              </a:lnSpc>
              <a:spcBef>
                <a:spcPts val="0"/>
              </a:spcBef>
              <a:spcAft>
                <a:spcPts val="0"/>
              </a:spcAft>
              <a:buClr>
                <a:schemeClr val="dk1"/>
              </a:buClr>
              <a:buSzPts val="2800"/>
              <a:buNone/>
            </a:pPr>
            <a:r>
              <a:t/>
            </a:r>
            <a:endParaRPr sz="2400">
              <a:latin typeface="Arial"/>
              <a:ea typeface="Arial"/>
              <a:cs typeface="Arial"/>
              <a:sym typeface="Arial"/>
            </a:endParaRPr>
          </a:p>
          <a:p>
            <a:pPr indent="-342900" lvl="1" marL="800100" rtl="0" algn="l">
              <a:lnSpc>
                <a:spcPct val="90000"/>
              </a:lnSpc>
              <a:spcBef>
                <a:spcPts val="0"/>
              </a:spcBef>
              <a:spcAft>
                <a:spcPts val="0"/>
              </a:spcAft>
              <a:buClr>
                <a:schemeClr val="dk1"/>
              </a:buClr>
              <a:buSzPts val="2800"/>
              <a:buFont typeface="Arial"/>
              <a:buChar char="•"/>
            </a:pPr>
            <a:r>
              <a:rPr lang="en-US" sz="2055">
                <a:latin typeface="Arial"/>
                <a:ea typeface="Arial"/>
                <a:cs typeface="Arial"/>
                <a:sym typeface="Arial"/>
              </a:rPr>
              <a:t>Môi trường truyền dẫn không an toàn (Wifi công cộng, sóng vô tuyến Zigbee/LoRa tỏa rộng).</a:t>
            </a:r>
            <a:endParaRPr sz="2055">
              <a:latin typeface="Arial"/>
              <a:ea typeface="Arial"/>
              <a:cs typeface="Arial"/>
              <a:sym typeface="Arial"/>
            </a:endParaRPr>
          </a:p>
          <a:p>
            <a:pPr indent="-165100" lvl="1" marL="800100" rtl="0" algn="l">
              <a:lnSpc>
                <a:spcPct val="90000"/>
              </a:lnSpc>
              <a:spcBef>
                <a:spcPts val="0"/>
              </a:spcBef>
              <a:spcAft>
                <a:spcPts val="0"/>
              </a:spcAft>
              <a:buClr>
                <a:schemeClr val="dk1"/>
              </a:buClr>
              <a:buSzPts val="2800"/>
              <a:buFont typeface="Arial"/>
              <a:buNone/>
            </a:pPr>
            <a:r>
              <a:t/>
            </a:r>
            <a:endParaRPr sz="2055">
              <a:latin typeface="Arial"/>
              <a:ea typeface="Arial"/>
              <a:cs typeface="Arial"/>
              <a:sym typeface="Arial"/>
            </a:endParaRPr>
          </a:p>
          <a:p>
            <a:pPr indent="-342900" lvl="1" marL="800100" rtl="0" algn="l">
              <a:lnSpc>
                <a:spcPct val="90000"/>
              </a:lnSpc>
              <a:spcBef>
                <a:spcPts val="0"/>
              </a:spcBef>
              <a:spcAft>
                <a:spcPts val="0"/>
              </a:spcAft>
              <a:buClr>
                <a:schemeClr val="dk1"/>
              </a:buClr>
              <a:buSzPts val="2800"/>
              <a:buFont typeface="Arial"/>
              <a:buChar char="•"/>
            </a:pPr>
            <a:r>
              <a:rPr lang="en-US" sz="2055">
                <a:latin typeface="Arial"/>
                <a:ea typeface="Arial"/>
                <a:cs typeface="Arial"/>
                <a:sym typeface="Arial"/>
              </a:rPr>
              <a:t>Thiết bị tấn công nằm trong vùng phủ sóng (đối với không dây) hoặc đấu nối vật lý vào đường dây (đối với có dây).</a:t>
            </a:r>
            <a:endParaRPr sz="2055">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8"/>
          <p:cNvSpPr txBox="1"/>
          <p:nvPr>
            <p:ph type="title"/>
          </p:nvPr>
        </p:nvSpPr>
        <p:spPr>
          <a:xfrm>
            <a:off x="-267" y="152300"/>
            <a:ext cx="10184163" cy="68103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sz="3100">
                <a:solidFill>
                  <a:schemeClr val="lt1"/>
                </a:solidFill>
                <a:latin typeface="Arial"/>
                <a:ea typeface="Arial"/>
                <a:cs typeface="Arial"/>
                <a:sym typeface="Arial"/>
              </a:rPr>
              <a:t>Cuộc tấn công diễn ra như thế nào</a:t>
            </a:r>
            <a:br>
              <a:rPr b="1" lang="en-US"/>
            </a:br>
            <a:endParaRPr b="1" sz="2400">
              <a:solidFill>
                <a:srgbClr val="002060"/>
              </a:solidFill>
              <a:latin typeface="Times New Roman"/>
              <a:ea typeface="Times New Roman"/>
              <a:cs typeface="Times New Roman"/>
              <a:sym typeface="Times New Roman"/>
            </a:endParaRPr>
          </a:p>
        </p:txBody>
      </p:sp>
      <p:pic>
        <p:nvPicPr>
          <p:cNvPr descr="3" id="143" name="Google Shape;143;p8"/>
          <p:cNvPicPr preferRelativeResize="0"/>
          <p:nvPr/>
        </p:nvPicPr>
        <p:blipFill rotWithShape="1">
          <a:blip r:embed="rId3">
            <a:alphaModFix/>
          </a:blip>
          <a:srcRect b="0" l="0" r="0" t="0"/>
          <a:stretch/>
        </p:blipFill>
        <p:spPr>
          <a:xfrm>
            <a:off x="237490" y="1021715"/>
            <a:ext cx="5629275" cy="3098165"/>
          </a:xfrm>
          <a:prstGeom prst="rect">
            <a:avLst/>
          </a:prstGeom>
          <a:noFill/>
          <a:ln>
            <a:noFill/>
          </a:ln>
        </p:spPr>
      </p:pic>
      <p:sp>
        <p:nvSpPr>
          <p:cNvPr id="144" name="Google Shape;144;p8"/>
          <p:cNvSpPr txBox="1"/>
          <p:nvPr/>
        </p:nvSpPr>
        <p:spPr>
          <a:xfrm>
            <a:off x="6120130" y="1021715"/>
            <a:ext cx="5886450" cy="493141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0000"/>
              </a:lnSpc>
              <a:spcBef>
                <a:spcPts val="0"/>
              </a:spcBef>
              <a:spcAft>
                <a:spcPts val="0"/>
              </a:spcAft>
              <a:buClr>
                <a:srgbClr val="000000"/>
              </a:buClr>
              <a:buSzPts val="2000"/>
              <a:buFont typeface="Arial"/>
              <a:buAutoNum type="arabicPeriod"/>
            </a:pPr>
            <a:r>
              <a:rPr b="1" i="0" lang="en-US" sz="2000" u="none" cap="none" strike="noStrike">
                <a:solidFill>
                  <a:srgbClr val="000000"/>
                </a:solidFill>
                <a:latin typeface="Arial"/>
                <a:ea typeface="Arial"/>
                <a:cs typeface="Arial"/>
                <a:sym typeface="Arial"/>
              </a:rPr>
              <a:t>Tiếp cận: </a:t>
            </a:r>
            <a:r>
              <a:rPr b="0" i="0" lang="en-US" sz="2000" u="none" cap="none" strike="noStrike">
                <a:solidFill>
                  <a:srgbClr val="000000"/>
                </a:solidFill>
                <a:latin typeface="Arial"/>
                <a:ea typeface="Arial"/>
                <a:cs typeface="Arial"/>
                <a:sym typeface="Arial"/>
              </a:rPr>
              <a:t>Hacker sử dụng laptop có card mạng hỗ trợ chế độ "Promiscuous Mode" (Chế độ hỗn tạp) hoặc thiết bị SDR (Software Defined Radio).</a:t>
            </a:r>
            <a:endParaRPr b="0" i="0" sz="2000" u="none" cap="none" strike="noStrike">
              <a:solidFill>
                <a:srgbClr val="000000"/>
              </a:solidFill>
              <a:latin typeface="Arial"/>
              <a:ea typeface="Arial"/>
              <a:cs typeface="Arial"/>
              <a:sym typeface="Arial"/>
            </a:endParaRPr>
          </a:p>
          <a:p>
            <a:pPr indent="-342900" lvl="0" marL="342900" marR="0" rtl="0" algn="l">
              <a:lnSpc>
                <a:spcPct val="110000"/>
              </a:lnSpc>
              <a:spcBef>
                <a:spcPts val="0"/>
              </a:spcBef>
              <a:spcAft>
                <a:spcPts val="0"/>
              </a:spcAft>
              <a:buClr>
                <a:srgbClr val="000000"/>
              </a:buClr>
              <a:buSzPts val="2000"/>
              <a:buFont typeface="Arial"/>
              <a:buAutoNum type="arabicPeriod"/>
            </a:pPr>
            <a:r>
              <a:rPr b="1" i="0" lang="en-US" sz="2000" u="none" cap="none" strike="noStrike">
                <a:solidFill>
                  <a:srgbClr val="000000"/>
                </a:solidFill>
                <a:latin typeface="Arial"/>
                <a:ea typeface="Arial"/>
                <a:cs typeface="Arial"/>
                <a:sym typeface="Arial"/>
              </a:rPr>
              <a:t>Bắt gói tin:</a:t>
            </a:r>
            <a:r>
              <a:rPr b="0" i="0" lang="en-US" sz="2000" u="none" cap="none" strike="noStrike">
                <a:solidFill>
                  <a:srgbClr val="000000"/>
                </a:solidFill>
                <a:latin typeface="Arial"/>
                <a:ea typeface="Arial"/>
                <a:cs typeface="Arial"/>
                <a:sym typeface="Arial"/>
              </a:rPr>
              <a:t> Sử dụng công cụ (như Wireshark, Tcpdump) để thu thập tất cả các gói tin (packets) bay qua không gian mạng, kể cả các gói tin không gửi cho nó.</a:t>
            </a:r>
            <a:endParaRPr b="0" i="0" sz="2000" u="none" cap="none" strike="noStrike">
              <a:solidFill>
                <a:srgbClr val="000000"/>
              </a:solidFill>
              <a:latin typeface="Arial"/>
              <a:ea typeface="Arial"/>
              <a:cs typeface="Arial"/>
              <a:sym typeface="Arial"/>
            </a:endParaRPr>
          </a:p>
          <a:p>
            <a:pPr indent="-342900" lvl="0" marL="342900" marR="0" rtl="0" algn="l">
              <a:lnSpc>
                <a:spcPct val="110000"/>
              </a:lnSpc>
              <a:spcBef>
                <a:spcPts val="0"/>
              </a:spcBef>
              <a:spcAft>
                <a:spcPts val="0"/>
              </a:spcAft>
              <a:buClr>
                <a:srgbClr val="000000"/>
              </a:buClr>
              <a:buSzPts val="2000"/>
              <a:buFont typeface="Arial"/>
              <a:buAutoNum type="arabicPeriod"/>
            </a:pPr>
            <a:r>
              <a:rPr b="1" i="0" lang="en-US" sz="2000" u="none" cap="none" strike="noStrike">
                <a:solidFill>
                  <a:srgbClr val="000000"/>
                </a:solidFill>
                <a:latin typeface="Arial"/>
                <a:ea typeface="Arial"/>
                <a:cs typeface="Arial"/>
                <a:sym typeface="Arial"/>
              </a:rPr>
              <a:t>Phân tích:</a:t>
            </a:r>
            <a:r>
              <a:rPr b="0" i="0" lang="en-US" sz="2000" u="none" cap="none" strike="noStrike">
                <a:solidFill>
                  <a:srgbClr val="000000"/>
                </a:solidFill>
                <a:latin typeface="Arial"/>
                <a:ea typeface="Arial"/>
                <a:cs typeface="Arial"/>
                <a:sym typeface="Arial"/>
              </a:rPr>
              <a:t> Hacker lọc các gói tin theo giao thức (HTTP, MQTT, Telnet).</a:t>
            </a:r>
            <a:endParaRPr b="0" i="0" sz="2000" u="none" cap="none" strike="noStrike">
              <a:solidFill>
                <a:srgbClr val="000000"/>
              </a:solidFill>
              <a:latin typeface="Arial"/>
              <a:ea typeface="Arial"/>
              <a:cs typeface="Arial"/>
              <a:sym typeface="Arial"/>
            </a:endParaRPr>
          </a:p>
          <a:p>
            <a:pPr indent="-342900" lvl="0" marL="342900" marR="0" rtl="0" algn="l">
              <a:lnSpc>
                <a:spcPct val="110000"/>
              </a:lnSpc>
              <a:spcBef>
                <a:spcPts val="0"/>
              </a:spcBef>
              <a:spcAft>
                <a:spcPts val="0"/>
              </a:spcAft>
              <a:buClr>
                <a:srgbClr val="000000"/>
              </a:buClr>
              <a:buSzPts val="2000"/>
              <a:buFont typeface="Arial"/>
              <a:buAutoNum type="arabicPeriod"/>
            </a:pPr>
            <a:r>
              <a:rPr b="1" i="0" lang="en-US" sz="2000" u="none" cap="none" strike="noStrike">
                <a:solidFill>
                  <a:srgbClr val="000000"/>
                </a:solidFill>
                <a:latin typeface="Arial"/>
                <a:ea typeface="Arial"/>
                <a:cs typeface="Arial"/>
                <a:sym typeface="Arial"/>
              </a:rPr>
              <a:t>Khai thác:</a:t>
            </a:r>
            <a:r>
              <a:rPr b="0" i="0" lang="en-US" sz="2000" u="none" cap="none" strike="noStrike">
                <a:solidFill>
                  <a:srgbClr val="000000"/>
                </a:solidFill>
                <a:latin typeface="Arial"/>
                <a:ea typeface="Arial"/>
                <a:cs typeface="Arial"/>
                <a:sym typeface="Arial"/>
              </a:rPr>
              <a:t> Nếu dữ liệu dạng Plaintext (không mã hóa), hacker đọc được ngay lập tức nội dung bên trong.</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9"/>
          <p:cNvSpPr txBox="1"/>
          <p:nvPr>
            <p:ph type="title"/>
          </p:nvPr>
        </p:nvSpPr>
        <p:spPr>
          <a:xfrm>
            <a:off x="-267" y="152300"/>
            <a:ext cx="10184163" cy="68103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sz="3100">
                <a:solidFill>
                  <a:schemeClr val="lt1"/>
                </a:solidFill>
                <a:latin typeface="Times New Roman"/>
                <a:ea typeface="Times New Roman"/>
                <a:cs typeface="Times New Roman"/>
                <a:sym typeface="Times New Roman"/>
              </a:rPr>
              <a:t>Hậu quả</a:t>
            </a:r>
            <a:br>
              <a:rPr b="1" lang="en-US"/>
            </a:br>
            <a:endParaRPr b="1" sz="2400">
              <a:solidFill>
                <a:srgbClr val="002060"/>
              </a:solidFill>
              <a:latin typeface="Times New Roman"/>
              <a:ea typeface="Times New Roman"/>
              <a:cs typeface="Times New Roman"/>
              <a:sym typeface="Times New Roman"/>
            </a:endParaRPr>
          </a:p>
        </p:txBody>
      </p:sp>
      <p:sp>
        <p:nvSpPr>
          <p:cNvPr id="150" name="Google Shape;150;p9"/>
          <p:cNvSpPr txBox="1"/>
          <p:nvPr/>
        </p:nvSpPr>
        <p:spPr>
          <a:xfrm>
            <a:off x="374650" y="1126490"/>
            <a:ext cx="11480165" cy="394589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Mất tính bí mật (Confidentiality Loss): </a:t>
            </a:r>
            <a:r>
              <a:rPr b="0" i="0" lang="en-US" sz="2400" u="none" cap="none" strike="noStrike">
                <a:solidFill>
                  <a:srgbClr val="000000"/>
                </a:solidFill>
                <a:latin typeface="Arial"/>
                <a:ea typeface="Arial"/>
                <a:cs typeface="Arial"/>
                <a:sym typeface="Arial"/>
              </a:rPr>
              <a:t>Đây là hậu quả trực tiếp nhất.</a:t>
            </a:r>
            <a:endParaRPr b="0" i="0" sz="24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Lộ thông tin nhạy cảm:</a:t>
            </a:r>
            <a:endParaRPr b="1"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5" marL="74295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Tài khoản/Mật khẩu quản trị thiết bị (nếu dùng Telnet/HTTP).</a:t>
            </a:r>
            <a:endParaRPr b="0" i="0" sz="2400" u="none" cap="none" strike="noStrike">
              <a:solidFill>
                <a:srgbClr val="000000"/>
              </a:solidFill>
              <a:latin typeface="Arial"/>
              <a:ea typeface="Arial"/>
              <a:cs typeface="Arial"/>
              <a:sym typeface="Arial"/>
            </a:endParaRPr>
          </a:p>
          <a:p>
            <a:pPr indent="-133350" lvl="5" marL="7429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5" marL="74295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Dữ liệu riêng tư: Video từ camera phòng ngủ, thông tin sức khỏe từ đồng hồ thông minh.</a:t>
            </a:r>
            <a:endParaRPr b="0" i="0" sz="2400" u="none" cap="none" strike="noStrike">
              <a:solidFill>
                <a:srgbClr val="000000"/>
              </a:solidFill>
              <a:latin typeface="Arial"/>
              <a:ea typeface="Arial"/>
              <a:cs typeface="Arial"/>
              <a:sym typeface="Arial"/>
            </a:endParaRPr>
          </a:p>
          <a:p>
            <a:pPr indent="-133350" lvl="5" marL="7429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5" marL="74295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Dữ liệu doanh nghiệp: Quy trình sản xuất, thông số vận hành máy móc.</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Tiền đề cho tấn công khác:</a:t>
            </a:r>
            <a:r>
              <a:rPr b="0" i="0" lang="en-US" sz="2400" u="none" cap="none" strike="noStrike">
                <a:solidFill>
                  <a:srgbClr val="000000"/>
                </a:solidFill>
                <a:latin typeface="Arial"/>
                <a:ea typeface="Arial"/>
                <a:cs typeface="Arial"/>
                <a:sym typeface="Arial"/>
              </a:rPr>
              <a:t> Thông tin thu được (ví dụ: cấu trúc gói tin) sẽ được dùng để thực hiện tấn công Giả mạo hoặc Replay sau này.</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0"/>
          <p:cNvSpPr txBox="1"/>
          <p:nvPr>
            <p:ph type="title"/>
          </p:nvPr>
        </p:nvSpPr>
        <p:spPr>
          <a:xfrm>
            <a:off x="-267" y="67845"/>
            <a:ext cx="10184163" cy="68103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100"/>
              <a:buFont typeface="Times New Roman"/>
              <a:buNone/>
            </a:pPr>
            <a:r>
              <a:rPr b="1" lang="en-US" sz="3100">
                <a:solidFill>
                  <a:schemeClr val="lt1"/>
                </a:solidFill>
                <a:latin typeface="Arial"/>
                <a:ea typeface="Arial"/>
                <a:cs typeface="Arial"/>
                <a:sym typeface="Arial"/>
              </a:rPr>
              <a:t>Biện pháp phòng ngừa</a:t>
            </a:r>
            <a:endParaRPr b="1" sz="3100">
              <a:solidFill>
                <a:schemeClr val="lt1"/>
              </a:solidFill>
              <a:latin typeface="Arial"/>
              <a:ea typeface="Arial"/>
              <a:cs typeface="Arial"/>
              <a:sym typeface="Arial"/>
            </a:endParaRPr>
          </a:p>
        </p:txBody>
      </p:sp>
      <p:sp>
        <p:nvSpPr>
          <p:cNvPr id="156" name="Google Shape;156;p10"/>
          <p:cNvSpPr txBox="1"/>
          <p:nvPr/>
        </p:nvSpPr>
        <p:spPr>
          <a:xfrm>
            <a:off x="99060" y="1221105"/>
            <a:ext cx="11511280" cy="470789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000000"/>
                </a:solidFill>
                <a:latin typeface="Arial"/>
                <a:ea typeface="Arial"/>
                <a:cs typeface="Arial"/>
                <a:sym typeface="Arial"/>
              </a:rPr>
              <a:t>Mã hóa đường truyền (Quan trọng nhất):</a:t>
            </a:r>
            <a:endParaRPr b="1"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285750" lvl="2" marL="74295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Sử dụng TLS/SSL cho các giao thức ứng dụng (HTTPS thay vì HTTP, MQTTS thay vì MQTT).</a:t>
            </a:r>
            <a:endParaRPr b="0" i="0" sz="2000" u="none" cap="none" strike="noStrike">
              <a:solidFill>
                <a:srgbClr val="000000"/>
              </a:solidFill>
              <a:latin typeface="Arial"/>
              <a:ea typeface="Arial"/>
              <a:cs typeface="Arial"/>
              <a:sym typeface="Arial"/>
            </a:endParaRPr>
          </a:p>
          <a:p>
            <a:pPr indent="-158750" lvl="2" marL="74295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285750" lvl="2" marL="74295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Dù hacker bắt được gói tin, họ chỉ thấy các ký tự vô nghĩa đã mã hóa.</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000000"/>
                </a:solidFill>
                <a:latin typeface="Arial"/>
                <a:ea typeface="Arial"/>
                <a:cs typeface="Arial"/>
                <a:sym typeface="Arial"/>
              </a:rPr>
              <a:t>Bảo mật lớp mạng:</a:t>
            </a:r>
            <a:endParaRPr b="1"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Wifi: Sử dụng WPA2/WPA3 Enterprise, tránh dùng mạng Open.</a:t>
            </a:r>
            <a:endParaRPr b="0" i="0" sz="2000" u="none" cap="none" strike="noStrike">
              <a:solidFill>
                <a:srgbClr val="000000"/>
              </a:solidFill>
              <a:latin typeface="Arial"/>
              <a:ea typeface="Arial"/>
              <a:cs typeface="Arial"/>
              <a:sym typeface="Arial"/>
            </a:endParaRPr>
          </a:p>
          <a:p>
            <a:pPr indent="-158750" lvl="1" marL="74295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Zigbee/LoRa: Bật tính năng mã hóa AES-128 mặc định, thay đổi Network Key mặc định của nhà sản xuất.</a:t>
            </a:r>
            <a:endParaRPr b="0" i="0" sz="2000" u="none" cap="none" strike="noStrike">
              <a:solidFill>
                <a:srgbClr val="000000"/>
              </a:solidFill>
              <a:latin typeface="Arial"/>
              <a:ea typeface="Arial"/>
              <a:cs typeface="Arial"/>
              <a:sym typeface="Arial"/>
            </a:endParaRPr>
          </a:p>
          <a:p>
            <a:pPr indent="-158750" lvl="0" marL="28575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000000"/>
                </a:solidFill>
                <a:latin typeface="Arial"/>
                <a:ea typeface="Arial"/>
                <a:cs typeface="Arial"/>
                <a:sym typeface="Arial"/>
              </a:rPr>
              <a:t>Phân đoạn mạng (VLAN):</a:t>
            </a:r>
            <a:r>
              <a:rPr b="0" i="0" lang="en-US" sz="2000" u="none" cap="none" strike="noStrike">
                <a:solidFill>
                  <a:srgbClr val="000000"/>
                </a:solidFill>
                <a:latin typeface="Arial"/>
                <a:ea typeface="Arial"/>
                <a:cs typeface="Arial"/>
                <a:sym typeface="Arial"/>
              </a:rPr>
              <a:t> Tách riêng mạng cho thiết bị IoT và mạng cho người dùng, hạn chế phạm vi nghe lén</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1"/>
          <p:cNvSpPr txBox="1"/>
          <p:nvPr>
            <p:ph type="title"/>
          </p:nvPr>
        </p:nvSpPr>
        <p:spPr>
          <a:xfrm>
            <a:off x="-267" y="203735"/>
            <a:ext cx="10184163" cy="68103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336110"/>
              <a:buFont typeface="Times New Roman"/>
              <a:buNone/>
            </a:pPr>
            <a:r>
              <a:rPr b="1" lang="en-US">
                <a:solidFill>
                  <a:schemeClr val="lt1"/>
                </a:solidFill>
              </a:rPr>
              <a:t>GIẢ MẠO (SPOOFING)</a:t>
            </a:r>
            <a:br>
              <a:rPr b="1" lang="en-US"/>
            </a:br>
            <a:endParaRPr b="1" sz="2400">
              <a:solidFill>
                <a:srgbClr val="002060"/>
              </a:solidFill>
              <a:latin typeface="Times New Roman"/>
              <a:ea typeface="Times New Roman"/>
              <a:cs typeface="Times New Roman"/>
              <a:sym typeface="Times New Roman"/>
            </a:endParaRPr>
          </a:p>
        </p:txBody>
      </p:sp>
      <p:sp>
        <p:nvSpPr>
          <p:cNvPr id="162" name="Google Shape;162;p11"/>
          <p:cNvSpPr txBox="1"/>
          <p:nvPr>
            <p:ph idx="1" type="body"/>
          </p:nvPr>
        </p:nvSpPr>
        <p:spPr>
          <a:xfrm>
            <a:off x="182245" y="884555"/>
            <a:ext cx="11485245" cy="5088890"/>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100000"/>
              </a:lnSpc>
              <a:spcBef>
                <a:spcPts val="0"/>
              </a:spcBef>
              <a:spcAft>
                <a:spcPts val="0"/>
              </a:spcAft>
              <a:buClr>
                <a:schemeClr val="dk1"/>
              </a:buClr>
              <a:buSzPts val="2800"/>
              <a:buFont typeface="Arial"/>
              <a:buChar char="•"/>
            </a:pPr>
            <a:r>
              <a:rPr b="1" lang="en-US" sz="2400">
                <a:latin typeface="Arial"/>
                <a:ea typeface="Arial"/>
                <a:cs typeface="Arial"/>
                <a:sym typeface="Arial"/>
              </a:rPr>
              <a:t>Định nghĩa:</a:t>
            </a:r>
            <a:r>
              <a:rPr lang="en-US" sz="2400">
                <a:latin typeface="Arial"/>
                <a:ea typeface="Arial"/>
                <a:cs typeface="Arial"/>
                <a:sym typeface="Arial"/>
              </a:rPr>
              <a:t> Là kỹ thuật kẻ tấn công mạo danh một thực thể hợp pháp (thiết bị, server, hoặc người dùng) để đánh lừa hệ thống.</a:t>
            </a:r>
            <a:endParaRPr sz="2400">
              <a:latin typeface="Arial"/>
              <a:ea typeface="Arial"/>
              <a:cs typeface="Arial"/>
              <a:sym typeface="Arial"/>
            </a:endParaRPr>
          </a:p>
          <a:p>
            <a:pPr indent="-165100" lvl="0" marL="342900" rtl="0" algn="l">
              <a:lnSpc>
                <a:spcPct val="100000"/>
              </a:lnSpc>
              <a:spcBef>
                <a:spcPts val="0"/>
              </a:spcBef>
              <a:spcAft>
                <a:spcPts val="0"/>
              </a:spcAft>
              <a:buClr>
                <a:schemeClr val="dk1"/>
              </a:buClr>
              <a:buSzPts val="2800"/>
              <a:buFont typeface="Arial"/>
              <a:buNone/>
            </a:pPr>
            <a:r>
              <a:t/>
            </a:r>
            <a:endParaRPr sz="2400">
              <a:latin typeface="Arial"/>
              <a:ea typeface="Arial"/>
              <a:cs typeface="Arial"/>
              <a:sym typeface="Arial"/>
            </a:endParaRPr>
          </a:p>
          <a:p>
            <a:pPr indent="-342900" lvl="0" marL="342900" rtl="0" algn="l">
              <a:lnSpc>
                <a:spcPct val="100000"/>
              </a:lnSpc>
              <a:spcBef>
                <a:spcPts val="0"/>
              </a:spcBef>
              <a:spcAft>
                <a:spcPts val="0"/>
              </a:spcAft>
              <a:buClr>
                <a:schemeClr val="dk1"/>
              </a:buClr>
              <a:buSzPts val="2800"/>
              <a:buFont typeface="Arial"/>
              <a:buChar char="•"/>
            </a:pPr>
            <a:r>
              <a:rPr b="1" lang="en-US" sz="2400">
                <a:latin typeface="Arial"/>
                <a:ea typeface="Arial"/>
                <a:cs typeface="Arial"/>
                <a:sym typeface="Arial"/>
              </a:rPr>
              <a:t>Mục đích:</a:t>
            </a:r>
            <a:r>
              <a:rPr lang="en-US" sz="2400">
                <a:latin typeface="Arial"/>
                <a:ea typeface="Arial"/>
                <a:cs typeface="Arial"/>
                <a:sym typeface="Arial"/>
              </a:rPr>
              <a:t> khiến hệ thống tin rằng dữ liệu/thiết bị đó là hợp lệ, từ đó cho phép truy cập hoặc chấp nhận dữ liệu giả.</a:t>
            </a:r>
            <a:endParaRPr sz="2400">
              <a:latin typeface="Arial"/>
              <a:ea typeface="Arial"/>
              <a:cs typeface="Arial"/>
              <a:sym typeface="Arial"/>
            </a:endParaRPr>
          </a:p>
          <a:p>
            <a:pPr indent="-165100" lvl="0" marL="342900" rtl="0" algn="l">
              <a:lnSpc>
                <a:spcPct val="100000"/>
              </a:lnSpc>
              <a:spcBef>
                <a:spcPts val="0"/>
              </a:spcBef>
              <a:spcAft>
                <a:spcPts val="0"/>
              </a:spcAft>
              <a:buClr>
                <a:schemeClr val="dk1"/>
              </a:buClr>
              <a:buSzPts val="2800"/>
              <a:buFont typeface="Arial"/>
              <a:buNone/>
            </a:pPr>
            <a:r>
              <a:t/>
            </a:r>
            <a:endParaRPr sz="2400">
              <a:latin typeface="Arial"/>
              <a:ea typeface="Arial"/>
              <a:cs typeface="Arial"/>
              <a:sym typeface="Arial"/>
            </a:endParaRPr>
          </a:p>
          <a:p>
            <a:pPr indent="-342900" lvl="0" marL="342900" rtl="0" algn="l">
              <a:lnSpc>
                <a:spcPct val="90000"/>
              </a:lnSpc>
              <a:spcBef>
                <a:spcPts val="0"/>
              </a:spcBef>
              <a:spcAft>
                <a:spcPts val="0"/>
              </a:spcAft>
              <a:buClr>
                <a:schemeClr val="dk1"/>
              </a:buClr>
              <a:buSzPts val="2800"/>
              <a:buFont typeface="Arial"/>
              <a:buChar char="•"/>
            </a:pPr>
            <a:r>
              <a:rPr b="1" lang="en-US" sz="2400">
                <a:latin typeface="Arial"/>
                <a:ea typeface="Arial"/>
                <a:cs typeface="Arial"/>
                <a:sym typeface="Arial"/>
              </a:rPr>
              <a:t>Dạng tấn công:</a:t>
            </a:r>
            <a:r>
              <a:rPr lang="en-US" sz="2400">
                <a:latin typeface="Arial"/>
                <a:ea typeface="Arial"/>
                <a:cs typeface="Arial"/>
                <a:sym typeface="Arial"/>
              </a:rPr>
              <a:t> Tấn công chủ động (Active Attack).</a:t>
            </a:r>
            <a:endParaRPr sz="2400">
              <a:latin typeface="Arial"/>
              <a:ea typeface="Arial"/>
              <a:cs typeface="Arial"/>
              <a:sym typeface="Arial"/>
            </a:endParaRPr>
          </a:p>
          <a:p>
            <a:pPr indent="-165100" lvl="0" marL="342900" rtl="0" algn="l">
              <a:lnSpc>
                <a:spcPct val="90000"/>
              </a:lnSpc>
              <a:spcBef>
                <a:spcPts val="0"/>
              </a:spcBef>
              <a:spcAft>
                <a:spcPts val="0"/>
              </a:spcAft>
              <a:buClr>
                <a:schemeClr val="dk1"/>
              </a:buClr>
              <a:buSzPts val="2800"/>
              <a:buFont typeface="Arial"/>
              <a:buNone/>
            </a:pPr>
            <a:r>
              <a:t/>
            </a:r>
            <a:endParaRPr sz="2400">
              <a:latin typeface="Arial"/>
              <a:ea typeface="Arial"/>
              <a:cs typeface="Arial"/>
              <a:sym typeface="Arial"/>
            </a:endParaRPr>
          </a:p>
          <a:p>
            <a:pPr indent="-342900" lvl="0" marL="342900" rtl="0" algn="l">
              <a:lnSpc>
                <a:spcPct val="90000"/>
              </a:lnSpc>
              <a:spcBef>
                <a:spcPts val="0"/>
              </a:spcBef>
              <a:spcAft>
                <a:spcPts val="0"/>
              </a:spcAft>
              <a:buClr>
                <a:schemeClr val="dk1"/>
              </a:buClr>
              <a:buSzPts val="2800"/>
              <a:buFont typeface="Arial"/>
              <a:buChar char="•"/>
            </a:pPr>
            <a:r>
              <a:rPr b="1" lang="en-US" sz="2400">
                <a:latin typeface="Arial"/>
                <a:ea typeface="Arial"/>
                <a:cs typeface="Arial"/>
                <a:sym typeface="Arial"/>
              </a:rPr>
              <a:t>Điều kiện xảy ra:</a:t>
            </a:r>
            <a:endParaRPr b="1" sz="2400">
              <a:latin typeface="Arial"/>
              <a:ea typeface="Arial"/>
              <a:cs typeface="Arial"/>
              <a:sym typeface="Arial"/>
            </a:endParaRPr>
          </a:p>
          <a:p>
            <a:pPr indent="-165100" lvl="1" marL="800100" rtl="0" algn="l">
              <a:lnSpc>
                <a:spcPct val="90000"/>
              </a:lnSpc>
              <a:spcBef>
                <a:spcPts val="0"/>
              </a:spcBef>
              <a:spcAft>
                <a:spcPts val="0"/>
              </a:spcAft>
              <a:buClr>
                <a:schemeClr val="dk1"/>
              </a:buClr>
              <a:buSzPts val="2800"/>
              <a:buFont typeface="Arial"/>
              <a:buNone/>
            </a:pPr>
            <a:r>
              <a:t/>
            </a:r>
            <a:endParaRPr sz="2055">
              <a:latin typeface="Arial"/>
              <a:ea typeface="Arial"/>
              <a:cs typeface="Arial"/>
              <a:sym typeface="Arial"/>
            </a:endParaRPr>
          </a:p>
          <a:p>
            <a:pPr indent="-342900" lvl="1" marL="800100" rtl="0" algn="l">
              <a:lnSpc>
                <a:spcPct val="90000"/>
              </a:lnSpc>
              <a:spcBef>
                <a:spcPts val="0"/>
              </a:spcBef>
              <a:spcAft>
                <a:spcPts val="0"/>
              </a:spcAft>
              <a:buClr>
                <a:schemeClr val="dk1"/>
              </a:buClr>
              <a:buSzPts val="2800"/>
              <a:buFont typeface="Arial"/>
              <a:buChar char="•"/>
            </a:pPr>
            <a:r>
              <a:rPr lang="en-US">
                <a:latin typeface="Arial"/>
                <a:ea typeface="Arial"/>
                <a:cs typeface="Arial"/>
                <a:sym typeface="Arial"/>
              </a:rPr>
              <a:t>Hệ thống xác thực yếu (chỉ dựa vào địa chỉ MAC hoặc IP), không có lớp bảo mật bổ sung.</a:t>
            </a:r>
            <a:endParaRPr>
              <a:latin typeface="Arial"/>
              <a:ea typeface="Arial"/>
              <a:cs typeface="Arial"/>
              <a:sym typeface="Arial"/>
            </a:endParaRPr>
          </a:p>
          <a:p>
            <a:pPr indent="-165100" lvl="1" marL="800100" rtl="0" algn="l">
              <a:lnSpc>
                <a:spcPct val="90000"/>
              </a:lnSpc>
              <a:spcBef>
                <a:spcPts val="0"/>
              </a:spcBef>
              <a:spcAft>
                <a:spcPts val="0"/>
              </a:spcAft>
              <a:buClr>
                <a:schemeClr val="dk1"/>
              </a:buClr>
              <a:buSzPts val="2800"/>
              <a:buFont typeface="Arial"/>
              <a:buNone/>
            </a:pPr>
            <a:r>
              <a:t/>
            </a:r>
            <a:endParaRPr>
              <a:latin typeface="Arial"/>
              <a:ea typeface="Arial"/>
              <a:cs typeface="Arial"/>
              <a:sym typeface="Arial"/>
            </a:endParaRPr>
          </a:p>
          <a:p>
            <a:pPr indent="-342900" lvl="1" marL="800100" rtl="0" algn="l">
              <a:lnSpc>
                <a:spcPct val="90000"/>
              </a:lnSpc>
              <a:spcBef>
                <a:spcPts val="0"/>
              </a:spcBef>
              <a:spcAft>
                <a:spcPts val="0"/>
              </a:spcAft>
              <a:buClr>
                <a:schemeClr val="dk1"/>
              </a:buClr>
              <a:buSzPts val="2800"/>
              <a:buFont typeface="Arial"/>
              <a:buChar char="•"/>
            </a:pPr>
            <a:r>
              <a:rPr lang="en-US">
                <a:latin typeface="Arial"/>
                <a:ea typeface="Arial"/>
                <a:cs typeface="Arial"/>
                <a:sym typeface="Arial"/>
              </a:rPr>
              <a:t>Kẻ tấn công biết được định danh (ID) của thiết bị mục tiêu (có thể lấy được từ việc Nghe lén).</a:t>
            </a:r>
            <a:endParaRPr>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2"/>
          <p:cNvSpPr txBox="1"/>
          <p:nvPr>
            <p:ph type="title"/>
          </p:nvPr>
        </p:nvSpPr>
        <p:spPr>
          <a:xfrm>
            <a:off x="-267" y="152300"/>
            <a:ext cx="10184163" cy="68103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sz="3100">
                <a:solidFill>
                  <a:schemeClr val="lt1"/>
                </a:solidFill>
                <a:latin typeface="Arial"/>
                <a:ea typeface="Arial"/>
                <a:cs typeface="Arial"/>
                <a:sym typeface="Arial"/>
              </a:rPr>
              <a:t>Cuộc tấn công diễn ra như thế nào</a:t>
            </a:r>
            <a:br>
              <a:rPr b="1" lang="en-US"/>
            </a:br>
            <a:endParaRPr b="1" sz="2400">
              <a:solidFill>
                <a:srgbClr val="002060"/>
              </a:solidFill>
              <a:latin typeface="Times New Roman"/>
              <a:ea typeface="Times New Roman"/>
              <a:cs typeface="Times New Roman"/>
              <a:sym typeface="Times New Roman"/>
            </a:endParaRPr>
          </a:p>
        </p:txBody>
      </p:sp>
      <p:pic>
        <p:nvPicPr>
          <p:cNvPr descr="C:/Users/ADMIN/OneDrive/圖片/Screenshots/5.png5" id="168" name="Google Shape;168;p12"/>
          <p:cNvPicPr preferRelativeResize="0"/>
          <p:nvPr/>
        </p:nvPicPr>
        <p:blipFill rotWithShape="1">
          <a:blip r:embed="rId3">
            <a:alphaModFix/>
          </a:blip>
          <a:srcRect b="3349" l="0" r="0" t="3348"/>
          <a:stretch/>
        </p:blipFill>
        <p:spPr>
          <a:xfrm>
            <a:off x="317790" y="1294765"/>
            <a:ext cx="5629275" cy="3098165"/>
          </a:xfrm>
          <a:prstGeom prst="rect">
            <a:avLst/>
          </a:prstGeom>
          <a:noFill/>
          <a:ln>
            <a:noFill/>
          </a:ln>
        </p:spPr>
      </p:pic>
      <p:sp>
        <p:nvSpPr>
          <p:cNvPr id="169" name="Google Shape;169;p12"/>
          <p:cNvSpPr txBox="1"/>
          <p:nvPr/>
        </p:nvSpPr>
        <p:spPr>
          <a:xfrm>
            <a:off x="6120130" y="1021715"/>
            <a:ext cx="5886450" cy="493141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0000"/>
              </a:lnSpc>
              <a:spcBef>
                <a:spcPts val="0"/>
              </a:spcBef>
              <a:spcAft>
                <a:spcPts val="0"/>
              </a:spcAft>
              <a:buClr>
                <a:srgbClr val="000000"/>
              </a:buClr>
              <a:buSzPts val="2000"/>
              <a:buFont typeface="Arial"/>
              <a:buAutoNum type="arabicPeriod"/>
            </a:pPr>
            <a:r>
              <a:rPr b="1" i="0" lang="en-US" sz="2000" u="none" cap="none" strike="noStrike">
                <a:solidFill>
                  <a:srgbClr val="000000"/>
                </a:solidFill>
                <a:latin typeface="Arial"/>
                <a:ea typeface="Arial"/>
                <a:cs typeface="Arial"/>
                <a:sym typeface="Arial"/>
              </a:rPr>
              <a:t>Thu thập thông tin:</a:t>
            </a:r>
            <a:r>
              <a:rPr b="0" i="0" lang="en-US" sz="2000" u="none" cap="none" strike="noStrike">
                <a:solidFill>
                  <a:srgbClr val="000000"/>
                </a:solidFill>
                <a:latin typeface="Arial"/>
                <a:ea typeface="Arial"/>
                <a:cs typeface="Arial"/>
                <a:sym typeface="Arial"/>
              </a:rPr>
              <a:t> Hacker quét mạng để tìm địa chỉ MAC và IP của một cảm biến quan trọng hoặc Gateway.</a:t>
            </a:r>
            <a:endParaRPr b="0" i="0" sz="2000" u="none" cap="none" strike="noStrike">
              <a:solidFill>
                <a:srgbClr val="000000"/>
              </a:solidFill>
              <a:latin typeface="Arial"/>
              <a:ea typeface="Arial"/>
              <a:cs typeface="Arial"/>
              <a:sym typeface="Arial"/>
            </a:endParaRPr>
          </a:p>
          <a:p>
            <a:pPr indent="-342900" lvl="0" marL="342900" marR="0" rtl="0" algn="l">
              <a:lnSpc>
                <a:spcPct val="110000"/>
              </a:lnSpc>
              <a:spcBef>
                <a:spcPts val="0"/>
              </a:spcBef>
              <a:spcAft>
                <a:spcPts val="0"/>
              </a:spcAft>
              <a:buClr>
                <a:srgbClr val="000000"/>
              </a:buClr>
              <a:buSzPts val="2000"/>
              <a:buFont typeface="Arial"/>
              <a:buAutoNum type="arabicPeriod"/>
            </a:pPr>
            <a:r>
              <a:rPr b="1" i="0" lang="en-US" sz="2000" u="none" cap="none" strike="noStrike">
                <a:solidFill>
                  <a:srgbClr val="000000"/>
                </a:solidFill>
                <a:latin typeface="Arial"/>
                <a:ea typeface="Arial"/>
                <a:cs typeface="Arial"/>
                <a:sym typeface="Arial"/>
              </a:rPr>
              <a:t>Thay đổi định danh: </a:t>
            </a:r>
            <a:r>
              <a:rPr b="0" i="0" lang="en-US" sz="2000" u="none" cap="none" strike="noStrike">
                <a:solidFill>
                  <a:srgbClr val="000000"/>
                </a:solidFill>
                <a:latin typeface="Arial"/>
                <a:ea typeface="Arial"/>
                <a:cs typeface="Arial"/>
                <a:sym typeface="Arial"/>
              </a:rPr>
              <a:t>Hacker sử dụng phần mềm để đổi địa chỉ MAC/IP của máy mình trùng khớp với thiết bị mục tiêu.</a:t>
            </a:r>
            <a:endParaRPr b="0" i="0" sz="2000" u="none" cap="none" strike="noStrike">
              <a:solidFill>
                <a:srgbClr val="000000"/>
              </a:solidFill>
              <a:latin typeface="Arial"/>
              <a:ea typeface="Arial"/>
              <a:cs typeface="Arial"/>
              <a:sym typeface="Arial"/>
            </a:endParaRPr>
          </a:p>
          <a:p>
            <a:pPr indent="-342900" lvl="0" marL="342900" marR="0" rtl="0" algn="l">
              <a:lnSpc>
                <a:spcPct val="110000"/>
              </a:lnSpc>
              <a:spcBef>
                <a:spcPts val="0"/>
              </a:spcBef>
              <a:spcAft>
                <a:spcPts val="0"/>
              </a:spcAft>
              <a:buClr>
                <a:srgbClr val="000000"/>
              </a:buClr>
              <a:buSzPts val="2000"/>
              <a:buFont typeface="Arial"/>
              <a:buAutoNum type="arabicPeriod"/>
            </a:pPr>
            <a:r>
              <a:rPr b="1" i="0" lang="en-US" sz="2000" u="none" cap="none" strike="noStrike">
                <a:solidFill>
                  <a:srgbClr val="000000"/>
                </a:solidFill>
                <a:latin typeface="Arial"/>
                <a:ea typeface="Arial"/>
                <a:cs typeface="Arial"/>
                <a:sym typeface="Arial"/>
              </a:rPr>
              <a:t>Gửi dữ liệu giả:</a:t>
            </a:r>
            <a:r>
              <a:rPr b="0" i="0" lang="en-US" sz="2000" u="none" cap="none" strike="noStrike">
                <a:solidFill>
                  <a:schemeClr val="dk1"/>
                </a:solidFill>
                <a:latin typeface="Arial"/>
                <a:ea typeface="Arial"/>
                <a:cs typeface="Arial"/>
                <a:sym typeface="Arial"/>
              </a:rPr>
              <a:t>Gửi gói tin giả mạo vào hệ thống như thể xuất phát từ thiết bị thật.</a:t>
            </a:r>
            <a:endParaRPr b="0" i="0" sz="2000" u="none" cap="none" strike="noStrike">
              <a:solidFill>
                <a:schemeClr val="dk1"/>
              </a:solidFill>
              <a:latin typeface="Arial"/>
              <a:ea typeface="Arial"/>
              <a:cs typeface="Arial"/>
              <a:sym typeface="Arial"/>
            </a:endParaRPr>
          </a:p>
          <a:p>
            <a:pPr indent="-342900" lvl="0" marL="342900" marR="0" rtl="0" algn="l">
              <a:lnSpc>
                <a:spcPct val="110000"/>
              </a:lnSpc>
              <a:spcBef>
                <a:spcPts val="0"/>
              </a:spcBef>
              <a:spcAft>
                <a:spcPts val="0"/>
              </a:spcAft>
              <a:buClr>
                <a:srgbClr val="000000"/>
              </a:buClr>
              <a:buSzPts val="2000"/>
              <a:buFont typeface="Arial"/>
              <a:buAutoNum type="arabicPeriod"/>
            </a:pPr>
            <a:r>
              <a:rPr b="0" i="0" lang="en-US" sz="2000" u="none" cap="none" strike="noStrike">
                <a:solidFill>
                  <a:schemeClr val="dk1"/>
                </a:solidFill>
                <a:latin typeface="Arial"/>
                <a:ea typeface="Arial"/>
                <a:cs typeface="Arial"/>
                <a:sym typeface="Arial"/>
              </a:rPr>
              <a:t>Hệ thống tin tưởng và xử lý dữ liệu/cho phép truy cập.</a:t>
            </a:r>
            <a:endParaRPr b="0" i="0" sz="2000" u="none" cap="none" strike="noStrike">
              <a:solidFill>
                <a:schemeClr val="dk1"/>
              </a:solidFill>
              <a:latin typeface="Arial"/>
              <a:ea typeface="Arial"/>
              <a:cs typeface="Arial"/>
              <a:sym typeface="Arial"/>
            </a:endParaRPr>
          </a:p>
          <a:p>
            <a:pPr indent="-215900" lvl="0" marL="342900" marR="0" rtl="0" algn="l">
              <a:lnSpc>
                <a:spcPct val="110000"/>
              </a:lnSpc>
              <a:spcBef>
                <a:spcPts val="0"/>
              </a:spcBef>
              <a:spcAft>
                <a:spcPts val="0"/>
              </a:spcAft>
              <a:buClr>
                <a:srgbClr val="000000"/>
              </a:buClr>
              <a:buSzPts val="2000"/>
              <a:buFont typeface="Arial"/>
              <a:buNone/>
            </a:pPr>
            <a:r>
              <a:t/>
            </a:r>
            <a:endParaRPr b="1" i="0" sz="2000" u="none" cap="none" strike="noStrike">
              <a:solidFill>
                <a:srgbClr val="000000"/>
              </a:solidFill>
              <a:latin typeface="Arial"/>
              <a:ea typeface="Arial"/>
              <a:cs typeface="Arial"/>
              <a:sym typeface="Arial"/>
            </a:endParaRPr>
          </a:p>
          <a:p>
            <a:pPr indent="-215900" lvl="1" marL="800100" marR="0" rtl="0" algn="l">
              <a:lnSpc>
                <a:spcPct val="11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3"/>
          <p:cNvSpPr txBox="1"/>
          <p:nvPr>
            <p:ph type="title"/>
          </p:nvPr>
        </p:nvSpPr>
        <p:spPr>
          <a:xfrm>
            <a:off x="-267" y="152300"/>
            <a:ext cx="10184163" cy="68103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sz="3100">
                <a:solidFill>
                  <a:schemeClr val="lt1"/>
                </a:solidFill>
                <a:latin typeface="Times New Roman"/>
                <a:ea typeface="Times New Roman"/>
                <a:cs typeface="Times New Roman"/>
                <a:sym typeface="Times New Roman"/>
              </a:rPr>
              <a:t>Hậu quả</a:t>
            </a:r>
            <a:br>
              <a:rPr b="1" lang="en-US"/>
            </a:br>
            <a:endParaRPr b="1" sz="2400">
              <a:solidFill>
                <a:srgbClr val="002060"/>
              </a:solidFill>
              <a:latin typeface="Times New Roman"/>
              <a:ea typeface="Times New Roman"/>
              <a:cs typeface="Times New Roman"/>
              <a:sym typeface="Times New Roman"/>
            </a:endParaRPr>
          </a:p>
        </p:txBody>
      </p:sp>
      <p:sp>
        <p:nvSpPr>
          <p:cNvPr id="175" name="Google Shape;175;p13"/>
          <p:cNvSpPr txBox="1"/>
          <p:nvPr/>
        </p:nvSpPr>
        <p:spPr>
          <a:xfrm>
            <a:off x="374650" y="1126490"/>
            <a:ext cx="11480165" cy="394589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Dữ liệu sai lệch (Data Integrity Loss):</a:t>
            </a:r>
            <a:r>
              <a:rPr b="0" i="0" lang="en-US" sz="2400" u="none" cap="none" strike="noStrike">
                <a:solidFill>
                  <a:srgbClr val="000000"/>
                </a:solidFill>
                <a:latin typeface="Arial"/>
                <a:ea typeface="Arial"/>
                <a:cs typeface="Arial"/>
                <a:sym typeface="Arial"/>
              </a:rPr>
              <a:t> Server nhận dữ liệu rác, dẫn đến quyết định sai (ví dụ: hệ thống tưới cây tự động bật khi trời đang mưa).</a:t>
            </a:r>
            <a:endParaRPr b="0" i="0" sz="24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Vượt qua kiểm soát truy cập:</a:t>
            </a:r>
            <a:r>
              <a:rPr b="0" i="0" lang="en-US" sz="2400" u="none" cap="none" strike="noStrike">
                <a:solidFill>
                  <a:srgbClr val="000000"/>
                </a:solidFill>
                <a:latin typeface="Arial"/>
                <a:ea typeface="Arial"/>
                <a:cs typeface="Arial"/>
                <a:sym typeface="Arial"/>
              </a:rPr>
              <a:t> Hacker giả làm Admin để truy cập vào hệ thống điều khiển mà không cần mật khẩu (nếu hệ thống chỉ lọc theo MAC).</a:t>
            </a:r>
            <a:endParaRPr b="0" i="0" sz="24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Mất quyền kiểm soát:</a:t>
            </a:r>
            <a:r>
              <a:rPr b="0" i="0" lang="en-US" sz="2400" u="none" cap="none" strike="noStrike">
                <a:solidFill>
                  <a:srgbClr val="000000"/>
                </a:solidFill>
                <a:latin typeface="Arial"/>
                <a:ea typeface="Arial"/>
                <a:cs typeface="Arial"/>
                <a:sym typeface="Arial"/>
              </a:rPr>
              <a:t> Nếu hacker giả mạo Gateway, toàn bộ dữ liệu của các cảm biến con sẽ rơi vào tay hacker.</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4"/>
          <p:cNvSpPr txBox="1"/>
          <p:nvPr>
            <p:ph type="title"/>
          </p:nvPr>
        </p:nvSpPr>
        <p:spPr>
          <a:xfrm>
            <a:off x="-267" y="67845"/>
            <a:ext cx="10184163" cy="68103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100"/>
              <a:buFont typeface="Times New Roman"/>
              <a:buNone/>
            </a:pPr>
            <a:r>
              <a:rPr b="1" lang="en-US" sz="3100">
                <a:solidFill>
                  <a:schemeClr val="lt1"/>
                </a:solidFill>
                <a:latin typeface="Arial"/>
                <a:ea typeface="Arial"/>
                <a:cs typeface="Arial"/>
                <a:sym typeface="Arial"/>
              </a:rPr>
              <a:t>Biện pháp phòng ngừa</a:t>
            </a:r>
            <a:endParaRPr b="1" sz="3100">
              <a:solidFill>
                <a:schemeClr val="lt1"/>
              </a:solidFill>
              <a:latin typeface="Arial"/>
              <a:ea typeface="Arial"/>
              <a:cs typeface="Arial"/>
              <a:sym typeface="Arial"/>
            </a:endParaRPr>
          </a:p>
        </p:txBody>
      </p:sp>
      <p:sp>
        <p:nvSpPr>
          <p:cNvPr id="181" name="Google Shape;181;p14"/>
          <p:cNvSpPr txBox="1"/>
          <p:nvPr/>
        </p:nvSpPr>
        <p:spPr>
          <a:xfrm>
            <a:off x="99060" y="1221105"/>
            <a:ext cx="11511280" cy="37846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000000"/>
                </a:solidFill>
                <a:latin typeface="Arial"/>
                <a:ea typeface="Arial"/>
                <a:cs typeface="Arial"/>
                <a:sym typeface="Arial"/>
              </a:rPr>
              <a:t>Xác thực mạnh (Strong Authentication):</a:t>
            </a:r>
            <a:endParaRPr b="1" i="0" sz="2000" u="none" cap="none" strike="noStrike">
              <a:solidFill>
                <a:srgbClr val="000000"/>
              </a:solidFill>
              <a:latin typeface="Arial"/>
              <a:ea typeface="Arial"/>
              <a:cs typeface="Arial"/>
              <a:sym typeface="Arial"/>
            </a:endParaRPr>
          </a:p>
          <a:p>
            <a:pPr indent="-158750" lvl="0" marL="28575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Không tin tưởng vào địa chỉ MAC/IP (vì chúng dễ dàng bị làm giả).</a:t>
            </a:r>
            <a:endParaRPr b="0" i="0" sz="2000" u="none" cap="none" strike="noStrike">
              <a:solidFill>
                <a:srgbClr val="000000"/>
              </a:solidFill>
              <a:latin typeface="Arial"/>
              <a:ea typeface="Arial"/>
              <a:cs typeface="Arial"/>
              <a:sym typeface="Arial"/>
            </a:endParaRPr>
          </a:p>
          <a:p>
            <a:pPr indent="-158750" lvl="1" marL="74295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Sử dụng </a:t>
            </a:r>
            <a:r>
              <a:rPr b="1" i="0" lang="en-US" sz="2000" u="none" cap="none" strike="noStrike">
                <a:solidFill>
                  <a:srgbClr val="000000"/>
                </a:solidFill>
                <a:latin typeface="Arial"/>
                <a:ea typeface="Arial"/>
                <a:cs typeface="Arial"/>
                <a:sym typeface="Arial"/>
              </a:rPr>
              <a:t>Chứng chỉ số (X.509 Certificates)</a:t>
            </a:r>
            <a:r>
              <a:rPr b="0" i="0" lang="en-US" sz="2000" u="none" cap="none" strike="noStrike">
                <a:solidFill>
                  <a:srgbClr val="000000"/>
                </a:solidFill>
                <a:latin typeface="Arial"/>
                <a:ea typeface="Arial"/>
                <a:cs typeface="Arial"/>
                <a:sym typeface="Arial"/>
              </a:rPr>
              <a:t>: Mỗi thiết bị có một "CMND điện tử" riêng biệt không thể làm giả.</a:t>
            </a:r>
            <a:endParaRPr b="0" i="0" sz="2000" u="none" cap="none" strike="noStrike">
              <a:solidFill>
                <a:srgbClr val="000000"/>
              </a:solidFill>
              <a:latin typeface="Arial"/>
              <a:ea typeface="Arial"/>
              <a:cs typeface="Arial"/>
              <a:sym typeface="Arial"/>
            </a:endParaRPr>
          </a:p>
          <a:p>
            <a:pPr indent="-158750" lvl="0" marL="28575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000000"/>
                </a:solidFill>
                <a:latin typeface="Arial"/>
                <a:ea typeface="Arial"/>
                <a:cs typeface="Arial"/>
                <a:sym typeface="Arial"/>
              </a:rPr>
              <a:t>Sử dụng Challenge-Response:</a:t>
            </a:r>
            <a:r>
              <a:rPr b="0" i="0" lang="en-US" sz="2000" u="none" cap="none" strike="noStrike">
                <a:solidFill>
                  <a:srgbClr val="000000"/>
                </a:solidFill>
                <a:latin typeface="Arial"/>
                <a:ea typeface="Arial"/>
                <a:cs typeface="Arial"/>
                <a:sym typeface="Arial"/>
              </a:rPr>
              <a:t> Server gửi một câu đố ngẫu nhiên, thiết bị phải dùng khóa bí mật để giải mới được chấp nhận.</a:t>
            </a:r>
            <a:endParaRPr b="0" i="0" sz="2000" u="none" cap="none" strike="noStrike">
              <a:solidFill>
                <a:srgbClr val="000000"/>
              </a:solidFill>
              <a:latin typeface="Arial"/>
              <a:ea typeface="Arial"/>
              <a:cs typeface="Arial"/>
              <a:sym typeface="Arial"/>
            </a:endParaRPr>
          </a:p>
          <a:p>
            <a:pPr indent="-158750" lvl="0" marL="28575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000000"/>
                </a:solidFill>
                <a:latin typeface="Arial"/>
                <a:ea typeface="Arial"/>
                <a:cs typeface="Arial"/>
                <a:sym typeface="Arial"/>
              </a:rPr>
              <a:t>Chống giả mạo ARP (ARP Spoofing Mitigation):</a:t>
            </a:r>
            <a:r>
              <a:rPr b="0" i="0" lang="en-US" sz="2000" u="none" cap="none" strike="noStrike">
                <a:solidFill>
                  <a:srgbClr val="000000"/>
                </a:solidFill>
                <a:latin typeface="Arial"/>
                <a:ea typeface="Arial"/>
                <a:cs typeface="Arial"/>
                <a:sym typeface="Arial"/>
              </a:rPr>
              <a:t> Cấu hình trên Switch/Router để gán cứng IP với MAC (Static ARP).</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5"/>
          <p:cNvSpPr txBox="1"/>
          <p:nvPr>
            <p:ph type="title"/>
          </p:nvPr>
        </p:nvSpPr>
        <p:spPr>
          <a:xfrm>
            <a:off x="-267" y="203735"/>
            <a:ext cx="10184163" cy="68103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sz="3555">
                <a:solidFill>
                  <a:schemeClr val="lt1"/>
                </a:solidFill>
              </a:rPr>
              <a:t>TẤN CÔNG XEN GIỮA (MAN-IN-THE-MIDDLE - MitM)</a:t>
            </a:r>
            <a:br>
              <a:rPr b="1" lang="en-US"/>
            </a:br>
            <a:endParaRPr b="1" sz="2400">
              <a:solidFill>
                <a:srgbClr val="002060"/>
              </a:solidFill>
              <a:latin typeface="Times New Roman"/>
              <a:ea typeface="Times New Roman"/>
              <a:cs typeface="Times New Roman"/>
              <a:sym typeface="Times New Roman"/>
            </a:endParaRPr>
          </a:p>
        </p:txBody>
      </p:sp>
      <p:sp>
        <p:nvSpPr>
          <p:cNvPr id="187" name="Google Shape;187;p15"/>
          <p:cNvSpPr txBox="1"/>
          <p:nvPr>
            <p:ph idx="1" type="body"/>
          </p:nvPr>
        </p:nvSpPr>
        <p:spPr>
          <a:xfrm>
            <a:off x="182245" y="884555"/>
            <a:ext cx="11485245" cy="5088890"/>
          </a:xfrm>
          <a:prstGeom prst="rect">
            <a:avLst/>
          </a:prstGeom>
          <a:noFill/>
          <a:ln>
            <a:noFill/>
          </a:ln>
        </p:spPr>
        <p:txBody>
          <a:bodyPr anchorCtr="0" anchor="t" bIns="45700" lIns="91425" spcFirstLastPara="1" rIns="91425" wrap="square" tIns="45700">
            <a:normAutofit lnSpcReduction="20000"/>
          </a:bodyPr>
          <a:lstStyle/>
          <a:p>
            <a:pPr indent="-342900" lvl="0" marL="342900" rtl="0" algn="l">
              <a:lnSpc>
                <a:spcPct val="100000"/>
              </a:lnSpc>
              <a:spcBef>
                <a:spcPts val="0"/>
              </a:spcBef>
              <a:spcAft>
                <a:spcPts val="0"/>
              </a:spcAft>
              <a:buClr>
                <a:schemeClr val="dk1"/>
              </a:buClr>
              <a:buSzPts val="2800"/>
              <a:buFont typeface="Arial"/>
              <a:buChar char="•"/>
            </a:pPr>
            <a:r>
              <a:rPr b="1" lang="en-US">
                <a:latin typeface="Arial"/>
                <a:ea typeface="Arial"/>
                <a:cs typeface="Arial"/>
                <a:sym typeface="Arial"/>
              </a:rPr>
              <a:t>Định nghĩa:</a:t>
            </a:r>
            <a:r>
              <a:rPr lang="en-US">
                <a:latin typeface="Arial"/>
                <a:ea typeface="Arial"/>
                <a:cs typeface="Arial"/>
                <a:sym typeface="Arial"/>
              </a:rPr>
              <a:t> Kẻ tấn công bí mật đứng giữa quá trình giao tiếp của hai bên (Thiết bị IoT và Server), đóng vai trò "người trung chuyển" để kiểm soát dòng dữ liệu.</a:t>
            </a:r>
            <a:endParaRPr>
              <a:latin typeface="Arial"/>
              <a:ea typeface="Arial"/>
              <a:cs typeface="Arial"/>
              <a:sym typeface="Arial"/>
            </a:endParaRPr>
          </a:p>
          <a:p>
            <a:pPr indent="-165100" lvl="0" marL="342900" rtl="0" algn="l">
              <a:lnSpc>
                <a:spcPct val="100000"/>
              </a:lnSpc>
              <a:spcBef>
                <a:spcPts val="0"/>
              </a:spcBef>
              <a:spcAft>
                <a:spcPts val="0"/>
              </a:spcAft>
              <a:buClr>
                <a:schemeClr val="dk1"/>
              </a:buClr>
              <a:buSzPts val="2800"/>
              <a:buFont typeface="Arial"/>
              <a:buNone/>
            </a:pPr>
            <a:r>
              <a:t/>
            </a:r>
            <a:endParaRPr>
              <a:latin typeface="Arial"/>
              <a:ea typeface="Arial"/>
              <a:cs typeface="Arial"/>
              <a:sym typeface="Arial"/>
            </a:endParaRPr>
          </a:p>
          <a:p>
            <a:pPr indent="-342900" lvl="0" marL="342900" rtl="0" algn="l">
              <a:lnSpc>
                <a:spcPct val="100000"/>
              </a:lnSpc>
              <a:spcBef>
                <a:spcPts val="0"/>
              </a:spcBef>
              <a:spcAft>
                <a:spcPts val="0"/>
              </a:spcAft>
              <a:buClr>
                <a:schemeClr val="dk1"/>
              </a:buClr>
              <a:buSzPts val="2800"/>
              <a:buFont typeface="Arial"/>
              <a:buChar char="•"/>
            </a:pPr>
            <a:r>
              <a:rPr b="1" lang="en-US"/>
              <a:t>Đặc trưng:</a:t>
            </a:r>
            <a:r>
              <a:rPr lang="en-US"/>
              <a:t> hai bên tin rằng đang giao tiếp trực tiếp với nhau, nhưng thực tế toàn bộ thông tin đi qua kẻ tấn công.</a:t>
            </a:r>
            <a:endParaRPr b="0" i="0" u="none" cap="none" strike="noStrike">
              <a:solidFill>
                <a:schemeClr val="dk1"/>
              </a:solidFill>
              <a:latin typeface="Calibri"/>
              <a:ea typeface="Calibri"/>
              <a:cs typeface="Calibri"/>
              <a:sym typeface="Calibri"/>
            </a:endParaRPr>
          </a:p>
          <a:p>
            <a:pPr indent="-165100" lvl="0" marL="342900" rtl="0" algn="l">
              <a:lnSpc>
                <a:spcPct val="100000"/>
              </a:lnSpc>
              <a:spcBef>
                <a:spcPts val="0"/>
              </a:spcBef>
              <a:spcAft>
                <a:spcPts val="0"/>
              </a:spcAft>
              <a:buClr>
                <a:schemeClr val="dk1"/>
              </a:buClr>
              <a:buSzPts val="2800"/>
              <a:buFont typeface="Arial"/>
              <a:buNone/>
            </a:pPr>
            <a:r>
              <a:t/>
            </a:r>
            <a:endParaRPr>
              <a:latin typeface="Arial"/>
              <a:ea typeface="Arial"/>
              <a:cs typeface="Arial"/>
              <a:sym typeface="Arial"/>
            </a:endParaRPr>
          </a:p>
          <a:p>
            <a:pPr indent="-342900" lvl="0" marL="342900" rtl="0" algn="l">
              <a:lnSpc>
                <a:spcPct val="100000"/>
              </a:lnSpc>
              <a:spcBef>
                <a:spcPts val="0"/>
              </a:spcBef>
              <a:spcAft>
                <a:spcPts val="0"/>
              </a:spcAft>
              <a:buClr>
                <a:schemeClr val="dk1"/>
              </a:buClr>
              <a:buSzPts val="2800"/>
              <a:buFont typeface="Arial"/>
              <a:buChar char="•"/>
            </a:pPr>
            <a:r>
              <a:rPr b="1" lang="en-US">
                <a:latin typeface="Arial"/>
                <a:ea typeface="Arial"/>
                <a:cs typeface="Arial"/>
                <a:sym typeface="Arial"/>
              </a:rPr>
              <a:t>Điều kiện xảy ra:</a:t>
            </a:r>
            <a:endParaRPr b="1">
              <a:latin typeface="Arial"/>
              <a:ea typeface="Arial"/>
              <a:cs typeface="Arial"/>
              <a:sym typeface="Arial"/>
            </a:endParaRPr>
          </a:p>
          <a:p>
            <a:pPr indent="-165100" lvl="0" marL="342900" rtl="0" algn="l">
              <a:lnSpc>
                <a:spcPct val="100000"/>
              </a:lnSpc>
              <a:spcBef>
                <a:spcPts val="0"/>
              </a:spcBef>
              <a:spcAft>
                <a:spcPts val="0"/>
              </a:spcAft>
              <a:buClr>
                <a:schemeClr val="dk1"/>
              </a:buClr>
              <a:buSzPts val="2800"/>
              <a:buFont typeface="Arial"/>
              <a:buNone/>
            </a:pPr>
            <a:r>
              <a:t/>
            </a:r>
            <a:endParaRPr sz="2000">
              <a:latin typeface="Arial"/>
              <a:ea typeface="Arial"/>
              <a:cs typeface="Arial"/>
              <a:sym typeface="Arial"/>
            </a:endParaRPr>
          </a:p>
          <a:p>
            <a:pPr indent="-342900" lvl="1" marL="800100" rtl="0" algn="l">
              <a:lnSpc>
                <a:spcPct val="100000"/>
              </a:lnSpc>
              <a:spcBef>
                <a:spcPts val="0"/>
              </a:spcBef>
              <a:spcAft>
                <a:spcPts val="0"/>
              </a:spcAft>
              <a:buClr>
                <a:schemeClr val="dk1"/>
              </a:buClr>
              <a:buSzPts val="2800"/>
              <a:buFont typeface="Arial"/>
              <a:buChar char="•"/>
            </a:pPr>
            <a:r>
              <a:rPr lang="en-US" sz="2000">
                <a:latin typeface="Arial"/>
                <a:ea typeface="Arial"/>
                <a:cs typeface="Arial"/>
                <a:sym typeface="Arial"/>
              </a:rPr>
              <a:t>Giao thức trao đổi khóa không an toàn.</a:t>
            </a:r>
            <a:endParaRPr sz="2000">
              <a:latin typeface="Arial"/>
              <a:ea typeface="Arial"/>
              <a:cs typeface="Arial"/>
              <a:sym typeface="Arial"/>
            </a:endParaRPr>
          </a:p>
          <a:p>
            <a:pPr indent="-165100" lvl="1" marL="800100" rtl="0" algn="l">
              <a:lnSpc>
                <a:spcPct val="100000"/>
              </a:lnSpc>
              <a:spcBef>
                <a:spcPts val="0"/>
              </a:spcBef>
              <a:spcAft>
                <a:spcPts val="0"/>
              </a:spcAft>
              <a:buClr>
                <a:schemeClr val="dk1"/>
              </a:buClr>
              <a:buSzPts val="2800"/>
              <a:buFont typeface="Arial"/>
              <a:buNone/>
            </a:pPr>
            <a:r>
              <a:t/>
            </a:r>
            <a:endParaRPr sz="2000">
              <a:latin typeface="Arial"/>
              <a:ea typeface="Arial"/>
              <a:cs typeface="Arial"/>
              <a:sym typeface="Arial"/>
            </a:endParaRPr>
          </a:p>
          <a:p>
            <a:pPr indent="-342900" lvl="1" marL="800100" rtl="0" algn="l">
              <a:lnSpc>
                <a:spcPct val="100000"/>
              </a:lnSpc>
              <a:spcBef>
                <a:spcPts val="0"/>
              </a:spcBef>
              <a:spcAft>
                <a:spcPts val="0"/>
              </a:spcAft>
              <a:buClr>
                <a:schemeClr val="dk1"/>
              </a:buClr>
              <a:buSzPts val="2800"/>
              <a:buFont typeface="Arial"/>
              <a:buChar char="•"/>
            </a:pPr>
            <a:r>
              <a:rPr lang="en-US" sz="2000">
                <a:latin typeface="Arial"/>
                <a:ea typeface="Arial"/>
                <a:cs typeface="Arial"/>
                <a:sym typeface="Arial"/>
              </a:rPr>
              <a:t>Thiết bị không xác thực danh tính của Server (không kiểm tra chứng chỉ).</a:t>
            </a:r>
            <a:endParaRPr sz="2000">
              <a:latin typeface="Arial"/>
              <a:ea typeface="Arial"/>
              <a:cs typeface="Arial"/>
              <a:sym typeface="Arial"/>
            </a:endParaRPr>
          </a:p>
          <a:p>
            <a:pPr indent="-165100" lvl="1" marL="800100" rtl="0" algn="l">
              <a:lnSpc>
                <a:spcPct val="100000"/>
              </a:lnSpc>
              <a:spcBef>
                <a:spcPts val="0"/>
              </a:spcBef>
              <a:spcAft>
                <a:spcPts val="0"/>
              </a:spcAft>
              <a:buClr>
                <a:schemeClr val="dk1"/>
              </a:buClr>
              <a:buSzPts val="2800"/>
              <a:buFont typeface="Arial"/>
              <a:buNone/>
            </a:pPr>
            <a:r>
              <a:t/>
            </a:r>
            <a:endParaRPr sz="2000">
              <a:latin typeface="Arial"/>
              <a:ea typeface="Arial"/>
              <a:cs typeface="Arial"/>
              <a:sym typeface="Arial"/>
            </a:endParaRPr>
          </a:p>
          <a:p>
            <a:pPr indent="-342900" lvl="1" marL="800100" rtl="0" algn="l">
              <a:lnSpc>
                <a:spcPct val="100000"/>
              </a:lnSpc>
              <a:spcBef>
                <a:spcPts val="0"/>
              </a:spcBef>
              <a:spcAft>
                <a:spcPts val="0"/>
              </a:spcAft>
              <a:buClr>
                <a:schemeClr val="dk1"/>
              </a:buClr>
              <a:buSzPts val="2800"/>
              <a:buFont typeface="Arial"/>
              <a:buChar char="•"/>
            </a:pPr>
            <a:r>
              <a:rPr lang="en-US" sz="2000"/>
              <a:t>Khi hệ thống không có xác thực hai chiều (mutual authentication)</a:t>
            </a:r>
            <a:endParaRPr sz="2000"/>
          </a:p>
          <a:p>
            <a:pPr indent="-165100" lvl="1" marL="800100" rtl="0" algn="l">
              <a:lnSpc>
                <a:spcPct val="100000"/>
              </a:lnSpc>
              <a:spcBef>
                <a:spcPts val="0"/>
              </a:spcBef>
              <a:spcAft>
                <a:spcPts val="0"/>
              </a:spcAft>
              <a:buClr>
                <a:schemeClr val="dk1"/>
              </a:buClr>
              <a:buSzPts val="2800"/>
              <a:buFont typeface="Arial"/>
              <a:buNone/>
            </a:pPr>
            <a:r>
              <a:t/>
            </a:r>
            <a:endParaRPr sz="2000"/>
          </a:p>
          <a:p>
            <a:pPr indent="-342900" lvl="1" marL="800100" rtl="0" algn="l">
              <a:lnSpc>
                <a:spcPct val="100000"/>
              </a:lnSpc>
              <a:spcBef>
                <a:spcPts val="0"/>
              </a:spcBef>
              <a:spcAft>
                <a:spcPts val="0"/>
              </a:spcAft>
              <a:buClr>
                <a:schemeClr val="dk1"/>
              </a:buClr>
              <a:buSzPts val="2800"/>
              <a:buFont typeface="Arial"/>
              <a:buChar char="•"/>
            </a:pPr>
            <a:r>
              <a:rPr lang="en-US" sz="2000"/>
              <a:t>Khi dữ liệu truyền không được mã hóa đầu cuối (end-to-end encryption)</a:t>
            </a:r>
            <a:endParaRPr sz="2000">
              <a:latin typeface="Arial"/>
              <a:ea typeface="Arial"/>
              <a:cs typeface="Arial"/>
              <a:sym typeface="Arial"/>
            </a:endParaRPr>
          </a:p>
          <a:p>
            <a:pPr indent="0" lvl="2" marL="914400" rtl="0" algn="l">
              <a:lnSpc>
                <a:spcPct val="100000"/>
              </a:lnSpc>
              <a:spcBef>
                <a:spcPts val="0"/>
              </a:spcBef>
              <a:spcAft>
                <a:spcPts val="0"/>
              </a:spcAft>
              <a:buClr>
                <a:schemeClr val="dk1"/>
              </a:buClr>
              <a:buSzPts val="2800"/>
              <a:buFont typeface="Arial"/>
              <a:buNone/>
            </a:pPr>
            <a:r>
              <a:t/>
            </a:r>
            <a:endParaRPr sz="2000">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6"/>
          <p:cNvSpPr txBox="1"/>
          <p:nvPr>
            <p:ph type="title"/>
          </p:nvPr>
        </p:nvSpPr>
        <p:spPr>
          <a:xfrm>
            <a:off x="-267" y="152300"/>
            <a:ext cx="10184163" cy="68103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sz="3100">
                <a:solidFill>
                  <a:schemeClr val="lt1"/>
                </a:solidFill>
                <a:latin typeface="Arial"/>
                <a:ea typeface="Arial"/>
                <a:cs typeface="Arial"/>
                <a:sym typeface="Arial"/>
              </a:rPr>
              <a:t>Cuộc tấn công diễn ra như thế nào</a:t>
            </a:r>
            <a:br>
              <a:rPr b="1" lang="en-US"/>
            </a:br>
            <a:endParaRPr b="1" sz="2400">
              <a:solidFill>
                <a:srgbClr val="002060"/>
              </a:solidFill>
              <a:latin typeface="Times New Roman"/>
              <a:ea typeface="Times New Roman"/>
              <a:cs typeface="Times New Roman"/>
              <a:sym typeface="Times New Roman"/>
            </a:endParaRPr>
          </a:p>
        </p:txBody>
      </p:sp>
      <p:sp>
        <p:nvSpPr>
          <p:cNvPr id="193" name="Google Shape;193;p16"/>
          <p:cNvSpPr txBox="1"/>
          <p:nvPr/>
        </p:nvSpPr>
        <p:spPr>
          <a:xfrm>
            <a:off x="6120130" y="1021715"/>
            <a:ext cx="5886450" cy="493141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0000"/>
              </a:lnSpc>
              <a:spcBef>
                <a:spcPts val="0"/>
              </a:spcBef>
              <a:spcAft>
                <a:spcPts val="0"/>
              </a:spcAft>
              <a:buClr>
                <a:srgbClr val="000000"/>
              </a:buClr>
              <a:buSzPts val="2000"/>
              <a:buFont typeface="Arial"/>
              <a:buAutoNum type="arabicPeriod"/>
            </a:pPr>
            <a:r>
              <a:rPr b="1" i="0" lang="en-US" sz="2000" u="none" cap="none" strike="noStrike">
                <a:solidFill>
                  <a:srgbClr val="000000"/>
                </a:solidFill>
                <a:latin typeface="Arial"/>
                <a:ea typeface="Arial"/>
                <a:cs typeface="Arial"/>
                <a:sym typeface="Arial"/>
              </a:rPr>
              <a:t>Xâm nhập:</a:t>
            </a:r>
            <a:r>
              <a:rPr b="0" i="0" lang="en-US" sz="2000" u="none" cap="none" strike="noStrike">
                <a:solidFill>
                  <a:srgbClr val="000000"/>
                </a:solidFill>
                <a:latin typeface="Arial"/>
                <a:ea typeface="Arial"/>
                <a:cs typeface="Arial"/>
                <a:sym typeface="Arial"/>
              </a:rPr>
              <a:t> Hacker sử dụng kỹ thuật ARP Poisoning hoặc DNS Spoofing để chuyển hướng lưu lượng mạng đi qua máy của hắn.</a:t>
            </a:r>
            <a:endParaRPr b="0" i="0" sz="2000" u="none" cap="none" strike="noStrike">
              <a:solidFill>
                <a:srgbClr val="000000"/>
              </a:solidFill>
              <a:latin typeface="Arial"/>
              <a:ea typeface="Arial"/>
              <a:cs typeface="Arial"/>
              <a:sym typeface="Arial"/>
            </a:endParaRPr>
          </a:p>
          <a:p>
            <a:pPr indent="-215900" lvl="0" marL="342900" marR="0" rtl="0" algn="l">
              <a:lnSpc>
                <a:spcPct val="11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342900" lvl="0" marL="342900" marR="0" rtl="0" algn="l">
              <a:lnSpc>
                <a:spcPct val="110000"/>
              </a:lnSpc>
              <a:spcBef>
                <a:spcPts val="0"/>
              </a:spcBef>
              <a:spcAft>
                <a:spcPts val="0"/>
              </a:spcAft>
              <a:buClr>
                <a:srgbClr val="000000"/>
              </a:buClr>
              <a:buSzPts val="2000"/>
              <a:buFont typeface="Arial"/>
              <a:buAutoNum type="arabicPeriod"/>
            </a:pPr>
            <a:r>
              <a:rPr b="1" i="0" lang="en-US" sz="2000" u="none" cap="none" strike="noStrike">
                <a:solidFill>
                  <a:srgbClr val="000000"/>
                </a:solidFill>
                <a:latin typeface="Arial"/>
                <a:ea typeface="Arial"/>
                <a:cs typeface="Arial"/>
                <a:sym typeface="Arial"/>
              </a:rPr>
              <a:t>Thiết lập kết nối kép:</a:t>
            </a:r>
            <a:endParaRPr b="0" i="0" sz="2000" u="none" cap="none" strike="noStrike">
              <a:solidFill>
                <a:srgbClr val="000000"/>
              </a:solidFill>
              <a:latin typeface="Arial"/>
              <a:ea typeface="Arial"/>
              <a:cs typeface="Arial"/>
              <a:sym typeface="Arial"/>
            </a:endParaRPr>
          </a:p>
          <a:p>
            <a:pPr indent="-342900" lvl="1" marL="800100" marR="0" rtl="0" algn="l">
              <a:lnSpc>
                <a:spcPct val="11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Hacker giả làm Server để kết nối với Thiết bị.</a:t>
            </a:r>
            <a:endParaRPr b="0" i="0" sz="2000" u="none" cap="none" strike="noStrike">
              <a:solidFill>
                <a:srgbClr val="000000"/>
              </a:solidFill>
              <a:latin typeface="Arial"/>
              <a:ea typeface="Arial"/>
              <a:cs typeface="Arial"/>
              <a:sym typeface="Arial"/>
            </a:endParaRPr>
          </a:p>
          <a:p>
            <a:pPr indent="-342900" lvl="1" marL="800100" marR="0" rtl="0" algn="l">
              <a:lnSpc>
                <a:spcPct val="11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Hacker giả làm Thiết bị để kết nối với Server thật.</a:t>
            </a:r>
            <a:endParaRPr b="0" i="0" sz="2000" u="none" cap="none" strike="noStrike">
              <a:solidFill>
                <a:srgbClr val="000000"/>
              </a:solidFill>
              <a:latin typeface="Arial"/>
              <a:ea typeface="Arial"/>
              <a:cs typeface="Arial"/>
              <a:sym typeface="Arial"/>
            </a:endParaRPr>
          </a:p>
          <a:p>
            <a:pPr indent="-215900" lvl="1" marL="800100" marR="0" rtl="0" algn="l">
              <a:lnSpc>
                <a:spcPct val="11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342900" lvl="0" marL="342900" marR="0" rtl="0" algn="l">
              <a:lnSpc>
                <a:spcPct val="110000"/>
              </a:lnSpc>
              <a:spcBef>
                <a:spcPts val="0"/>
              </a:spcBef>
              <a:spcAft>
                <a:spcPts val="0"/>
              </a:spcAft>
              <a:buClr>
                <a:srgbClr val="000000"/>
              </a:buClr>
              <a:buSzPts val="2000"/>
              <a:buFont typeface="Arial"/>
              <a:buAutoNum type="arabicPeriod"/>
            </a:pPr>
            <a:r>
              <a:rPr b="1" i="0" lang="en-US" sz="2000" u="none" cap="none" strike="noStrike">
                <a:solidFill>
                  <a:srgbClr val="000000"/>
                </a:solidFill>
                <a:latin typeface="Arial"/>
                <a:ea typeface="Arial"/>
                <a:cs typeface="Arial"/>
                <a:sym typeface="Arial"/>
              </a:rPr>
              <a:t>Chặn bắt và sửa đổi:</a:t>
            </a:r>
            <a:r>
              <a:rPr b="0" i="0" lang="en-US" sz="2000" u="none" cap="none" strike="noStrike">
                <a:solidFill>
                  <a:srgbClr val="000000"/>
                </a:solidFill>
                <a:latin typeface="Arial"/>
                <a:ea typeface="Arial"/>
                <a:cs typeface="Arial"/>
                <a:sym typeface="Arial"/>
              </a:rPr>
              <a:t> Khi thiết bị gửi lệnh "Đóng cửa", hacker chặn lại, sửa thành "Mở cửa" rồi mới gửi tiếp đến khóa thông minh. Cả hai bên đều tưởng mình đang nói chuyện trực tiếp với nhau.</a:t>
            </a:r>
            <a:endParaRPr b="0" i="0" sz="2000" u="none" cap="none" strike="noStrike">
              <a:solidFill>
                <a:srgbClr val="000000"/>
              </a:solidFill>
              <a:latin typeface="Arial"/>
              <a:ea typeface="Arial"/>
              <a:cs typeface="Arial"/>
              <a:sym typeface="Arial"/>
            </a:endParaRPr>
          </a:p>
          <a:p>
            <a:pPr indent="-215900" lvl="0" marL="342900" marR="0" rtl="0" algn="l">
              <a:lnSpc>
                <a:spcPct val="11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215900" lvl="1" marL="800100" marR="0" rtl="0" algn="l">
              <a:lnSpc>
                <a:spcPct val="11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pic>
        <p:nvPicPr>
          <p:cNvPr descr="6" id="194" name="Google Shape;194;p16"/>
          <p:cNvPicPr preferRelativeResize="0"/>
          <p:nvPr/>
        </p:nvPicPr>
        <p:blipFill rotWithShape="1">
          <a:blip r:embed="rId3">
            <a:alphaModFix/>
          </a:blip>
          <a:srcRect b="0" l="0" r="0" t="0"/>
          <a:stretch/>
        </p:blipFill>
        <p:spPr>
          <a:xfrm>
            <a:off x="574040" y="1270635"/>
            <a:ext cx="5291455" cy="246253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7"/>
          <p:cNvSpPr txBox="1"/>
          <p:nvPr>
            <p:ph type="title"/>
          </p:nvPr>
        </p:nvSpPr>
        <p:spPr>
          <a:xfrm>
            <a:off x="-267" y="152300"/>
            <a:ext cx="10184163" cy="68103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sz="3100">
                <a:solidFill>
                  <a:schemeClr val="lt1"/>
                </a:solidFill>
                <a:latin typeface="Times New Roman"/>
                <a:ea typeface="Times New Roman"/>
                <a:cs typeface="Times New Roman"/>
                <a:sym typeface="Times New Roman"/>
              </a:rPr>
              <a:t>Hậu quả</a:t>
            </a:r>
            <a:br>
              <a:rPr b="1" lang="en-US"/>
            </a:br>
            <a:endParaRPr b="1" sz="2400">
              <a:solidFill>
                <a:srgbClr val="002060"/>
              </a:solidFill>
              <a:latin typeface="Times New Roman"/>
              <a:ea typeface="Times New Roman"/>
              <a:cs typeface="Times New Roman"/>
              <a:sym typeface="Times New Roman"/>
            </a:endParaRPr>
          </a:p>
        </p:txBody>
      </p:sp>
      <p:sp>
        <p:nvSpPr>
          <p:cNvPr id="200" name="Google Shape;200;p17"/>
          <p:cNvSpPr txBox="1"/>
          <p:nvPr/>
        </p:nvSpPr>
        <p:spPr>
          <a:xfrm>
            <a:off x="374650" y="1126490"/>
            <a:ext cx="11480165" cy="394589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chemeClr val="dk1"/>
                </a:solidFill>
                <a:latin typeface="Arial"/>
                <a:ea typeface="Arial"/>
                <a:cs typeface="Arial"/>
                <a:sym typeface="Arial"/>
              </a:rPr>
              <a:t>Đánh cắp dữ liệu:</a:t>
            </a:r>
            <a:r>
              <a:rPr b="0" i="0" lang="en-US" sz="2400" u="none" cap="none" strike="noStrike">
                <a:solidFill>
                  <a:schemeClr val="dk1"/>
                </a:solidFill>
                <a:latin typeface="Arial"/>
                <a:ea typeface="Arial"/>
                <a:cs typeface="Arial"/>
                <a:sym typeface="Arial"/>
              </a:rPr>
              <a:t> thông tin cá nhân, dữ liệu sức khỏe, dữ liệu nhạy cảm.</a:t>
            </a:r>
            <a:endParaRPr b="0" i="0" sz="2400" u="none" cap="none" strike="noStrike">
              <a:solidFill>
                <a:schemeClr val="dk1"/>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Thao túng điều khiển: </a:t>
            </a:r>
            <a:r>
              <a:rPr b="0" i="0" lang="en-US" sz="2400" u="none" cap="none" strike="noStrike">
                <a:solidFill>
                  <a:srgbClr val="000000"/>
                </a:solidFill>
                <a:latin typeface="Arial"/>
                <a:ea typeface="Arial"/>
                <a:cs typeface="Arial"/>
                <a:sym typeface="Arial"/>
              </a:rPr>
              <a:t>Nguy hiểm nhất trong IoT. Hacker có thể thay đổi lệnh điều khiển máy móc, y tế, xe tự lái gây tai nạn thực tế.</a:t>
            </a:r>
            <a:endParaRPr b="0" i="0" sz="24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Tiêm nhiễm mã độc:</a:t>
            </a:r>
            <a:r>
              <a:rPr b="0" i="0" lang="en-US" sz="2400" u="none" cap="none" strike="noStrike">
                <a:solidFill>
                  <a:srgbClr val="000000"/>
                </a:solidFill>
                <a:latin typeface="Arial"/>
                <a:ea typeface="Arial"/>
                <a:cs typeface="Arial"/>
                <a:sym typeface="Arial"/>
              </a:rPr>
              <a:t> Hacker chặn quá trình cập nhật Firmware (OTA), thay thế file firmware chính hãng bằng firmware chứa mã độc để chiếm quyền thiết bị vĩnh viễn.</a:t>
            </a:r>
            <a:endParaRPr b="0" i="0" sz="24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Mất toàn bộ tính bảo mật:</a:t>
            </a:r>
            <a:r>
              <a:rPr b="0" i="0" lang="en-US" sz="2400" u="none" cap="none" strike="noStrike">
                <a:solidFill>
                  <a:srgbClr val="000000"/>
                </a:solidFill>
                <a:latin typeface="Arial"/>
                <a:ea typeface="Arial"/>
                <a:cs typeface="Arial"/>
                <a:sym typeface="Arial"/>
              </a:rPr>
              <a:t> Vi phạm cả 3 tính chất CIA (Bí mật, Toàn vẹn, Sẵn sàng).</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8"/>
          <p:cNvSpPr txBox="1"/>
          <p:nvPr>
            <p:ph type="title"/>
          </p:nvPr>
        </p:nvSpPr>
        <p:spPr>
          <a:xfrm>
            <a:off x="-267" y="67845"/>
            <a:ext cx="10184163" cy="68103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100"/>
              <a:buFont typeface="Times New Roman"/>
              <a:buNone/>
            </a:pPr>
            <a:r>
              <a:rPr b="1" lang="en-US" sz="3100">
                <a:solidFill>
                  <a:schemeClr val="lt1"/>
                </a:solidFill>
                <a:latin typeface="Arial"/>
                <a:ea typeface="Arial"/>
                <a:cs typeface="Arial"/>
                <a:sym typeface="Arial"/>
              </a:rPr>
              <a:t>Biện pháp phòng ngừa</a:t>
            </a:r>
            <a:endParaRPr b="1" sz="3100">
              <a:solidFill>
                <a:schemeClr val="lt1"/>
              </a:solidFill>
              <a:latin typeface="Arial"/>
              <a:ea typeface="Arial"/>
              <a:cs typeface="Arial"/>
              <a:sym typeface="Arial"/>
            </a:endParaRPr>
          </a:p>
        </p:txBody>
      </p:sp>
      <p:sp>
        <p:nvSpPr>
          <p:cNvPr id="206" name="Google Shape;206;p18"/>
          <p:cNvSpPr txBox="1"/>
          <p:nvPr/>
        </p:nvSpPr>
        <p:spPr>
          <a:xfrm>
            <a:off x="99060" y="1221105"/>
            <a:ext cx="11511280" cy="415417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Xác thực hai chiều (Mutual Authentication):</a:t>
            </a:r>
            <a:endParaRPr b="0" i="0" sz="2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Không chỉ Server xác thực Thiết bị, mà Thiết bị cũng phải xác thực lại Server (để tránh kết nối vào Server giả của hacker).</a:t>
            </a:r>
            <a:endParaRPr b="0" i="0" sz="24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Kiểm tra chuỗi tin cậy (Chain of Trust):</a:t>
            </a:r>
            <a:endParaRPr b="0" i="0" sz="2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Khi dùng HTTPS/TLS, thiết bị phải kiểm tra xem chứng chỉ của Server có được ký bởi một tổ chức uy tín (CA) hay không.</a:t>
            </a:r>
            <a:endParaRPr b="0" i="0" sz="24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Mã hóa dữ liệu đầu cuối (End-to-End Encryption):</a:t>
            </a:r>
            <a:r>
              <a:rPr b="0" i="0" lang="en-US" sz="2400" u="none" cap="none" strike="noStrike">
                <a:solidFill>
                  <a:srgbClr val="000000"/>
                </a:solidFill>
                <a:latin typeface="Arial"/>
                <a:ea typeface="Arial"/>
                <a:cs typeface="Arial"/>
                <a:sym typeface="Arial"/>
              </a:rPr>
              <a:t> Dữ liệu được mã hóa từ ứng dụng người gửi và chỉ được giải mã tại ứng dụng người nhận, hacker ở giữa dù chặn được cũng không sửa được nội dung.</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9"/>
          <p:cNvSpPr txBox="1"/>
          <p:nvPr>
            <p:ph type="title"/>
          </p:nvPr>
        </p:nvSpPr>
        <p:spPr>
          <a:xfrm>
            <a:off x="-267" y="203735"/>
            <a:ext cx="10184163" cy="68103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sz="3555">
                <a:solidFill>
                  <a:schemeClr val="lt1"/>
                </a:solidFill>
                <a:latin typeface="Arial"/>
                <a:ea typeface="Arial"/>
                <a:cs typeface="Arial"/>
                <a:sym typeface="Arial"/>
              </a:rPr>
              <a:t>Tấn công phát lại (Replay Attack)</a:t>
            </a:r>
            <a:br>
              <a:rPr b="1" lang="en-US"/>
            </a:br>
            <a:endParaRPr b="1" sz="2400">
              <a:solidFill>
                <a:srgbClr val="002060"/>
              </a:solidFill>
              <a:latin typeface="Times New Roman"/>
              <a:ea typeface="Times New Roman"/>
              <a:cs typeface="Times New Roman"/>
              <a:sym typeface="Times New Roman"/>
            </a:endParaRPr>
          </a:p>
        </p:txBody>
      </p:sp>
      <p:sp>
        <p:nvSpPr>
          <p:cNvPr id="212" name="Google Shape;212;p19"/>
          <p:cNvSpPr txBox="1"/>
          <p:nvPr>
            <p:ph idx="1" type="body"/>
          </p:nvPr>
        </p:nvSpPr>
        <p:spPr>
          <a:xfrm>
            <a:off x="182245" y="884555"/>
            <a:ext cx="11485245" cy="5088890"/>
          </a:xfrm>
          <a:prstGeom prst="rect">
            <a:avLst/>
          </a:prstGeom>
          <a:noFill/>
          <a:ln>
            <a:noFill/>
          </a:ln>
        </p:spPr>
        <p:txBody>
          <a:bodyPr anchorCtr="0" anchor="t" bIns="45700" lIns="91425" spcFirstLastPara="1" rIns="91425" wrap="square" tIns="45700">
            <a:normAutofit fontScale="90000" lnSpcReduction="20000"/>
          </a:bodyPr>
          <a:lstStyle/>
          <a:p>
            <a:pPr indent="-342900" lvl="0" marL="342900" rtl="0" algn="l">
              <a:lnSpc>
                <a:spcPct val="100000"/>
              </a:lnSpc>
              <a:spcBef>
                <a:spcPts val="0"/>
              </a:spcBef>
              <a:spcAft>
                <a:spcPts val="0"/>
              </a:spcAft>
              <a:buClr>
                <a:schemeClr val="dk1"/>
              </a:buClr>
              <a:buSzPct val="129629"/>
              <a:buFont typeface="Arial"/>
              <a:buChar char="•"/>
            </a:pPr>
            <a:r>
              <a:rPr b="1" lang="en-US" sz="2400">
                <a:latin typeface="Arial"/>
                <a:ea typeface="Arial"/>
                <a:cs typeface="Arial"/>
                <a:sym typeface="Arial"/>
              </a:rPr>
              <a:t>Định nghĩa:</a:t>
            </a:r>
            <a:r>
              <a:rPr lang="en-US" sz="2400">
                <a:latin typeface="Arial"/>
                <a:ea typeface="Arial"/>
                <a:cs typeface="Arial"/>
                <a:sym typeface="Arial"/>
              </a:rPr>
              <a:t> Là kỹ thuật trong đó kẻ tấn công ghi lại một thông điệp hợp lệ (đã được xác thực trước đó) và phát lại nó sau một khoảng thời gian để đánh lừa hệ thống thực hiện lại hành động đó.</a:t>
            </a:r>
            <a:endParaRPr sz="2400">
              <a:latin typeface="Arial"/>
              <a:ea typeface="Arial"/>
              <a:cs typeface="Arial"/>
              <a:sym typeface="Arial"/>
            </a:endParaRPr>
          </a:p>
          <a:p>
            <a:pPr indent="-165100" lvl="0" marL="342900" rtl="0" algn="l">
              <a:lnSpc>
                <a:spcPct val="100000"/>
              </a:lnSpc>
              <a:spcBef>
                <a:spcPts val="0"/>
              </a:spcBef>
              <a:spcAft>
                <a:spcPts val="0"/>
              </a:spcAft>
              <a:buClr>
                <a:schemeClr val="dk1"/>
              </a:buClr>
              <a:buSzPct val="129629"/>
              <a:buFont typeface="Arial"/>
              <a:buNone/>
            </a:pPr>
            <a:r>
              <a:t/>
            </a:r>
            <a:endParaRPr sz="2400">
              <a:latin typeface="Arial"/>
              <a:ea typeface="Arial"/>
              <a:cs typeface="Arial"/>
              <a:sym typeface="Arial"/>
            </a:endParaRPr>
          </a:p>
          <a:p>
            <a:pPr indent="-342900" lvl="0" marL="342900" rtl="0" algn="l">
              <a:lnSpc>
                <a:spcPct val="100000"/>
              </a:lnSpc>
              <a:spcBef>
                <a:spcPts val="0"/>
              </a:spcBef>
              <a:spcAft>
                <a:spcPts val="0"/>
              </a:spcAft>
              <a:buClr>
                <a:schemeClr val="dk1"/>
              </a:buClr>
              <a:buSzPct val="129629"/>
              <a:buFont typeface="Arial"/>
              <a:buChar char="•"/>
            </a:pPr>
            <a:r>
              <a:rPr b="1" lang="en-US" sz="2400">
                <a:latin typeface="Arial"/>
                <a:ea typeface="Arial"/>
                <a:cs typeface="Arial"/>
                <a:sym typeface="Arial"/>
              </a:rPr>
              <a:t>Dạng tấn công: </a:t>
            </a:r>
            <a:r>
              <a:rPr lang="en-US" sz="2400">
                <a:latin typeface="Arial"/>
                <a:ea typeface="Arial"/>
                <a:cs typeface="Arial"/>
                <a:sym typeface="Arial"/>
              </a:rPr>
              <a:t>Tấn công chủ động (Active Attack) – nhắm vào cơ chế xác thực.</a:t>
            </a:r>
            <a:endParaRPr sz="2400">
              <a:latin typeface="Arial"/>
              <a:ea typeface="Arial"/>
              <a:cs typeface="Arial"/>
              <a:sym typeface="Arial"/>
            </a:endParaRPr>
          </a:p>
          <a:p>
            <a:pPr indent="-165100" lvl="0" marL="342900" rtl="0" algn="l">
              <a:lnSpc>
                <a:spcPct val="100000"/>
              </a:lnSpc>
              <a:spcBef>
                <a:spcPts val="0"/>
              </a:spcBef>
              <a:spcAft>
                <a:spcPts val="0"/>
              </a:spcAft>
              <a:buClr>
                <a:schemeClr val="dk1"/>
              </a:buClr>
              <a:buSzPct val="129629"/>
              <a:buFont typeface="Arial"/>
              <a:buNone/>
            </a:pPr>
            <a:r>
              <a:t/>
            </a:r>
            <a:endParaRPr sz="2400">
              <a:latin typeface="Arial"/>
              <a:ea typeface="Arial"/>
              <a:cs typeface="Arial"/>
              <a:sym typeface="Arial"/>
            </a:endParaRPr>
          </a:p>
          <a:p>
            <a:pPr indent="-342900" lvl="0" marL="342900" rtl="0" algn="l">
              <a:lnSpc>
                <a:spcPct val="100000"/>
              </a:lnSpc>
              <a:spcBef>
                <a:spcPts val="0"/>
              </a:spcBef>
              <a:spcAft>
                <a:spcPts val="0"/>
              </a:spcAft>
              <a:buClr>
                <a:schemeClr val="dk1"/>
              </a:buClr>
              <a:buSzPct val="129629"/>
              <a:buFont typeface="Arial"/>
              <a:buChar char="•"/>
            </a:pPr>
            <a:r>
              <a:rPr b="1" lang="en-US" sz="2400">
                <a:latin typeface="Arial"/>
                <a:ea typeface="Arial"/>
                <a:cs typeface="Arial"/>
                <a:sym typeface="Arial"/>
              </a:rPr>
              <a:t>Đặc trưng:</a:t>
            </a:r>
            <a:r>
              <a:rPr lang="en-US" sz="2400">
                <a:latin typeface="Arial"/>
                <a:ea typeface="Arial"/>
                <a:cs typeface="Arial"/>
                <a:sym typeface="Arial"/>
              </a:rPr>
              <a:t> dữ liệu gốc là hợp lệ, nhưng bị tái sử dụng ở một thời điểm khác nhằm gây nhầm lẫn hoặc chiếm quyền.</a:t>
            </a:r>
            <a:endParaRPr b="0" i="0" sz="2400" u="none" cap="none" strike="noStrike">
              <a:solidFill>
                <a:schemeClr val="dk1"/>
              </a:solidFill>
              <a:latin typeface="Arial"/>
              <a:ea typeface="Arial"/>
              <a:cs typeface="Arial"/>
              <a:sym typeface="Arial"/>
            </a:endParaRPr>
          </a:p>
          <a:p>
            <a:pPr indent="-165100" lvl="0" marL="342900" rtl="0" algn="l">
              <a:lnSpc>
                <a:spcPct val="100000"/>
              </a:lnSpc>
              <a:spcBef>
                <a:spcPts val="0"/>
              </a:spcBef>
              <a:spcAft>
                <a:spcPts val="0"/>
              </a:spcAft>
              <a:buClr>
                <a:schemeClr val="dk1"/>
              </a:buClr>
              <a:buSzPct val="129629"/>
              <a:buFont typeface="Arial"/>
              <a:buNone/>
            </a:pPr>
            <a:r>
              <a:t/>
            </a:r>
            <a:endParaRPr sz="2400">
              <a:latin typeface="Arial"/>
              <a:ea typeface="Arial"/>
              <a:cs typeface="Arial"/>
              <a:sym typeface="Arial"/>
            </a:endParaRPr>
          </a:p>
          <a:p>
            <a:pPr indent="-165100" lvl="0" marL="342900" rtl="0" algn="l">
              <a:lnSpc>
                <a:spcPct val="100000"/>
              </a:lnSpc>
              <a:spcBef>
                <a:spcPts val="0"/>
              </a:spcBef>
              <a:spcAft>
                <a:spcPts val="0"/>
              </a:spcAft>
              <a:buClr>
                <a:schemeClr val="dk1"/>
              </a:buClr>
              <a:buSzPct val="129629"/>
              <a:buFont typeface="Arial"/>
              <a:buNone/>
            </a:pPr>
            <a:r>
              <a:t/>
            </a:r>
            <a:endParaRPr sz="2400">
              <a:latin typeface="Arial"/>
              <a:ea typeface="Arial"/>
              <a:cs typeface="Arial"/>
              <a:sym typeface="Arial"/>
            </a:endParaRPr>
          </a:p>
          <a:p>
            <a:pPr indent="-342900" lvl="0" marL="342900" rtl="0" algn="l">
              <a:lnSpc>
                <a:spcPct val="100000"/>
              </a:lnSpc>
              <a:spcBef>
                <a:spcPts val="0"/>
              </a:spcBef>
              <a:spcAft>
                <a:spcPts val="0"/>
              </a:spcAft>
              <a:buClr>
                <a:schemeClr val="dk1"/>
              </a:buClr>
              <a:buSzPct val="129629"/>
              <a:buFont typeface="Arial"/>
              <a:buChar char="•"/>
            </a:pPr>
            <a:r>
              <a:rPr b="1" lang="en-US" sz="2400">
                <a:latin typeface="Arial"/>
                <a:ea typeface="Arial"/>
                <a:cs typeface="Arial"/>
                <a:sym typeface="Arial"/>
              </a:rPr>
              <a:t>Điều kiện xảy ra:</a:t>
            </a:r>
            <a:endParaRPr b="1" sz="2400">
              <a:latin typeface="Arial"/>
              <a:ea typeface="Arial"/>
              <a:cs typeface="Arial"/>
              <a:sym typeface="Arial"/>
            </a:endParaRPr>
          </a:p>
          <a:p>
            <a:pPr indent="-165100" lvl="0" marL="342900" rtl="0" algn="l">
              <a:lnSpc>
                <a:spcPct val="100000"/>
              </a:lnSpc>
              <a:spcBef>
                <a:spcPts val="0"/>
              </a:spcBef>
              <a:spcAft>
                <a:spcPts val="0"/>
              </a:spcAft>
              <a:buClr>
                <a:schemeClr val="dk1"/>
              </a:buClr>
              <a:buSzPct val="129629"/>
              <a:buFont typeface="Arial"/>
              <a:buNone/>
            </a:pPr>
            <a:r>
              <a:t/>
            </a:r>
            <a:endParaRPr sz="2400">
              <a:latin typeface="Arial"/>
              <a:ea typeface="Arial"/>
              <a:cs typeface="Arial"/>
              <a:sym typeface="Arial"/>
            </a:endParaRPr>
          </a:p>
          <a:p>
            <a:pPr indent="-342900" lvl="1" marL="800100" rtl="0" algn="l">
              <a:lnSpc>
                <a:spcPct val="100000"/>
              </a:lnSpc>
              <a:spcBef>
                <a:spcPts val="0"/>
              </a:spcBef>
              <a:spcAft>
                <a:spcPts val="0"/>
              </a:spcAft>
              <a:buClr>
                <a:schemeClr val="dk1"/>
              </a:buClr>
              <a:buSzPct val="129629"/>
              <a:buFont typeface="Arial"/>
              <a:buChar char="•"/>
            </a:pPr>
            <a:r>
              <a:rPr lang="en-US" sz="2400">
                <a:latin typeface="Arial"/>
                <a:ea typeface="Arial"/>
                <a:cs typeface="Arial"/>
                <a:sym typeface="Arial"/>
              </a:rPr>
              <a:t>Gói tin không có thông tin về thời gian (Timestamp) hoặc số thứ tự (Sequence Number).</a:t>
            </a:r>
            <a:endParaRPr sz="2400">
              <a:latin typeface="Arial"/>
              <a:ea typeface="Arial"/>
              <a:cs typeface="Arial"/>
              <a:sym typeface="Arial"/>
            </a:endParaRPr>
          </a:p>
          <a:p>
            <a:pPr indent="-165100" lvl="1" marL="800100" rtl="0" algn="l">
              <a:lnSpc>
                <a:spcPct val="100000"/>
              </a:lnSpc>
              <a:spcBef>
                <a:spcPts val="0"/>
              </a:spcBef>
              <a:spcAft>
                <a:spcPts val="0"/>
              </a:spcAft>
              <a:buClr>
                <a:schemeClr val="dk1"/>
              </a:buClr>
              <a:buSzPct val="129629"/>
              <a:buFont typeface="Arial"/>
              <a:buNone/>
            </a:pPr>
            <a:r>
              <a:t/>
            </a:r>
            <a:endParaRPr sz="2400">
              <a:latin typeface="Arial"/>
              <a:ea typeface="Arial"/>
              <a:cs typeface="Arial"/>
              <a:sym typeface="Arial"/>
            </a:endParaRPr>
          </a:p>
          <a:p>
            <a:pPr indent="-342900" lvl="1" marL="800100" rtl="0" algn="l">
              <a:lnSpc>
                <a:spcPct val="100000"/>
              </a:lnSpc>
              <a:spcBef>
                <a:spcPts val="0"/>
              </a:spcBef>
              <a:spcAft>
                <a:spcPts val="0"/>
              </a:spcAft>
              <a:buClr>
                <a:schemeClr val="dk1"/>
              </a:buClr>
              <a:buSzPct val="129629"/>
              <a:buFont typeface="Arial"/>
              <a:buChar char="•"/>
            </a:pPr>
            <a:r>
              <a:rPr lang="en-US" sz="2400">
                <a:latin typeface="Arial"/>
                <a:ea typeface="Arial"/>
                <a:cs typeface="Arial"/>
                <a:sym typeface="Arial"/>
              </a:rPr>
              <a:t>Hệ thống sử dụng mã cố định (Static Code) thay vì mã thay đổi (Rolling Code).</a:t>
            </a:r>
            <a:endParaRPr sz="2400">
              <a:latin typeface="Arial"/>
              <a:ea typeface="Arial"/>
              <a:cs typeface="Arial"/>
              <a:sym typeface="Arial"/>
            </a:endParaRPr>
          </a:p>
          <a:p>
            <a:pPr indent="-165100" lvl="1" marL="800100" rtl="0" algn="l">
              <a:lnSpc>
                <a:spcPct val="100000"/>
              </a:lnSpc>
              <a:spcBef>
                <a:spcPts val="0"/>
              </a:spcBef>
              <a:spcAft>
                <a:spcPts val="0"/>
              </a:spcAft>
              <a:buClr>
                <a:schemeClr val="dk1"/>
              </a:buClr>
              <a:buSzPct val="127242"/>
              <a:buFont typeface="Arial"/>
              <a:buNone/>
            </a:pPr>
            <a:r>
              <a:t/>
            </a:r>
            <a:endParaRPr sz="2445">
              <a:latin typeface="Arial"/>
              <a:ea typeface="Arial"/>
              <a:cs typeface="Arial"/>
              <a:sym typeface="Arial"/>
            </a:endParaRPr>
          </a:p>
          <a:p>
            <a:pPr indent="-342940" lvl="1" marL="800100" rtl="0" algn="l">
              <a:lnSpc>
                <a:spcPct val="100000"/>
              </a:lnSpc>
              <a:spcBef>
                <a:spcPts val="0"/>
              </a:spcBef>
              <a:spcAft>
                <a:spcPts val="0"/>
              </a:spcAft>
              <a:buClr>
                <a:schemeClr val="dk1"/>
              </a:buClr>
              <a:buSzPct val="127242"/>
              <a:buFont typeface="Arial"/>
              <a:buChar char="•"/>
            </a:pPr>
            <a:r>
              <a:rPr lang="en-US" sz="2445">
                <a:latin typeface="Arial"/>
                <a:ea typeface="Arial"/>
                <a:cs typeface="Arial"/>
                <a:sym typeface="Arial"/>
              </a:rPr>
              <a:t>Khi giao thức truyền thông IoT (ví dụ MQTT, CoAP) thiếu cơ chế chống replay</a:t>
            </a:r>
            <a:endParaRPr sz="2445">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0"/>
          <p:cNvSpPr txBox="1"/>
          <p:nvPr>
            <p:ph type="title"/>
          </p:nvPr>
        </p:nvSpPr>
        <p:spPr>
          <a:xfrm>
            <a:off x="-267" y="152300"/>
            <a:ext cx="10184163" cy="68103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sz="3100">
                <a:solidFill>
                  <a:schemeClr val="lt1"/>
                </a:solidFill>
                <a:latin typeface="Arial"/>
                <a:ea typeface="Arial"/>
                <a:cs typeface="Arial"/>
                <a:sym typeface="Arial"/>
              </a:rPr>
              <a:t>Cuộc tấn công diễn ra như thế nào</a:t>
            </a:r>
            <a:br>
              <a:rPr b="1" lang="en-US"/>
            </a:br>
            <a:endParaRPr b="1" sz="2400">
              <a:solidFill>
                <a:srgbClr val="002060"/>
              </a:solidFill>
              <a:latin typeface="Times New Roman"/>
              <a:ea typeface="Times New Roman"/>
              <a:cs typeface="Times New Roman"/>
              <a:sym typeface="Times New Roman"/>
            </a:endParaRPr>
          </a:p>
        </p:txBody>
      </p:sp>
      <p:sp>
        <p:nvSpPr>
          <p:cNvPr id="218" name="Google Shape;218;p20"/>
          <p:cNvSpPr txBox="1"/>
          <p:nvPr/>
        </p:nvSpPr>
        <p:spPr>
          <a:xfrm>
            <a:off x="6120130" y="1021715"/>
            <a:ext cx="5886450" cy="493141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0000"/>
              </a:lnSpc>
              <a:spcBef>
                <a:spcPts val="0"/>
              </a:spcBef>
              <a:spcAft>
                <a:spcPts val="0"/>
              </a:spcAft>
              <a:buClr>
                <a:srgbClr val="000000"/>
              </a:buClr>
              <a:buSzPts val="2000"/>
              <a:buFont typeface="Arial"/>
              <a:buAutoNum type="arabicPeriod"/>
            </a:pPr>
            <a:r>
              <a:rPr b="1" i="0" lang="en-US" sz="2000" u="none" cap="none" strike="noStrike">
                <a:solidFill>
                  <a:srgbClr val="000000"/>
                </a:solidFill>
                <a:latin typeface="Arial"/>
                <a:ea typeface="Arial"/>
                <a:cs typeface="Arial"/>
                <a:sym typeface="Arial"/>
              </a:rPr>
              <a:t>Nghe lén (Record):</a:t>
            </a:r>
            <a:r>
              <a:rPr b="0" i="0" lang="en-US" sz="2000" u="none" cap="none" strike="noStrike">
                <a:solidFill>
                  <a:srgbClr val="000000"/>
                </a:solidFill>
                <a:latin typeface="Arial"/>
                <a:ea typeface="Arial"/>
                <a:cs typeface="Arial"/>
                <a:sym typeface="Arial"/>
              </a:rPr>
              <a:t> Hacker ẩn nấp gần mục tiêu, dùng thiết bị thu sóng để ghi lại tín hiệu khi người dùng bấm nút mở cửa gara hoặc quẹt thẻ từ. Gói tin này hoàn toàn hợp lệ và đã được mã hóa.</a:t>
            </a:r>
            <a:endParaRPr b="0" i="0" sz="2000" u="none" cap="none" strike="noStrike">
              <a:solidFill>
                <a:srgbClr val="000000"/>
              </a:solidFill>
              <a:latin typeface="Arial"/>
              <a:ea typeface="Arial"/>
              <a:cs typeface="Arial"/>
              <a:sym typeface="Arial"/>
            </a:endParaRPr>
          </a:p>
          <a:p>
            <a:pPr indent="-215900" lvl="0" marL="342900" marR="0" rtl="0" algn="l">
              <a:lnSpc>
                <a:spcPct val="11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342900" lvl="0" marL="342900" marR="0" rtl="0" algn="l">
              <a:lnSpc>
                <a:spcPct val="110000"/>
              </a:lnSpc>
              <a:spcBef>
                <a:spcPts val="0"/>
              </a:spcBef>
              <a:spcAft>
                <a:spcPts val="0"/>
              </a:spcAft>
              <a:buClr>
                <a:srgbClr val="000000"/>
              </a:buClr>
              <a:buSzPts val="2000"/>
              <a:buFont typeface="Arial"/>
              <a:buAutoNum type="arabicPeriod"/>
            </a:pPr>
            <a:r>
              <a:rPr b="1" i="0" lang="en-US" sz="2000" u="none" cap="none" strike="noStrike">
                <a:solidFill>
                  <a:srgbClr val="000000"/>
                </a:solidFill>
                <a:latin typeface="Arial"/>
                <a:ea typeface="Arial"/>
                <a:cs typeface="Arial"/>
                <a:sym typeface="Arial"/>
              </a:rPr>
              <a:t>Chờ đợi:</a:t>
            </a:r>
            <a:r>
              <a:rPr b="0" i="0" lang="en-US" sz="2000" u="none" cap="none" strike="noStrike">
                <a:solidFill>
                  <a:srgbClr val="000000"/>
                </a:solidFill>
                <a:latin typeface="Arial"/>
                <a:ea typeface="Arial"/>
                <a:cs typeface="Arial"/>
                <a:sym typeface="Arial"/>
              </a:rPr>
              <a:t> Hacker không cần giải mã gói tin, hắn chỉ cần lưu trữ nó và đợi khi người dùng đi vắng.</a:t>
            </a:r>
            <a:endParaRPr b="0" i="0" sz="2000" u="none" cap="none" strike="noStrike">
              <a:solidFill>
                <a:srgbClr val="000000"/>
              </a:solidFill>
              <a:latin typeface="Arial"/>
              <a:ea typeface="Arial"/>
              <a:cs typeface="Arial"/>
              <a:sym typeface="Arial"/>
            </a:endParaRPr>
          </a:p>
          <a:p>
            <a:pPr indent="-215900" lvl="0" marL="342900" marR="0" rtl="0" algn="l">
              <a:lnSpc>
                <a:spcPct val="11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342900" lvl="0" marL="342900" marR="0" rtl="0" algn="l">
              <a:lnSpc>
                <a:spcPct val="110000"/>
              </a:lnSpc>
              <a:spcBef>
                <a:spcPts val="0"/>
              </a:spcBef>
              <a:spcAft>
                <a:spcPts val="0"/>
              </a:spcAft>
              <a:buClr>
                <a:srgbClr val="000000"/>
              </a:buClr>
              <a:buSzPts val="2000"/>
              <a:buFont typeface="Arial"/>
              <a:buAutoNum type="arabicPeriod"/>
            </a:pPr>
            <a:r>
              <a:rPr b="1" i="0" lang="en-US" sz="2000" u="none" cap="none" strike="noStrike">
                <a:solidFill>
                  <a:srgbClr val="000000"/>
                </a:solidFill>
                <a:latin typeface="Arial"/>
                <a:ea typeface="Arial"/>
                <a:cs typeface="Arial"/>
                <a:sym typeface="Arial"/>
              </a:rPr>
              <a:t>Phát lại (Replay):</a:t>
            </a:r>
            <a:r>
              <a:rPr b="0" i="0" lang="en-US" sz="2000" u="none" cap="none" strike="noStrike">
                <a:solidFill>
                  <a:srgbClr val="000000"/>
                </a:solidFill>
                <a:latin typeface="Arial"/>
                <a:ea typeface="Arial"/>
                <a:cs typeface="Arial"/>
                <a:sym typeface="Arial"/>
              </a:rPr>
              <a:t> Hacker phát lại nguyên văn tín hiệu đã ghi. Hệ thống nhận được, thấy đúng chữ ký/mã khóa (dù là cũ) nên chấp nhận lệnh và mở cửa.</a:t>
            </a:r>
            <a:endParaRPr b="0" i="0" sz="2000" u="none" cap="none" strike="noStrike">
              <a:solidFill>
                <a:srgbClr val="000000"/>
              </a:solidFill>
              <a:latin typeface="Arial"/>
              <a:ea typeface="Arial"/>
              <a:cs typeface="Arial"/>
              <a:sym typeface="Arial"/>
            </a:endParaRPr>
          </a:p>
          <a:p>
            <a:pPr indent="-215900" lvl="1" marL="800100" marR="0" rtl="0" algn="l">
              <a:lnSpc>
                <a:spcPct val="11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pic>
        <p:nvPicPr>
          <p:cNvPr descr="8" id="219" name="Google Shape;219;p20"/>
          <p:cNvPicPr preferRelativeResize="0"/>
          <p:nvPr/>
        </p:nvPicPr>
        <p:blipFill rotWithShape="1">
          <a:blip r:embed="rId3">
            <a:alphaModFix/>
          </a:blip>
          <a:srcRect b="0" l="0" r="0" t="0"/>
          <a:stretch/>
        </p:blipFill>
        <p:spPr>
          <a:xfrm>
            <a:off x="220980" y="731520"/>
            <a:ext cx="5785485" cy="36163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1"/>
          <p:cNvSpPr txBox="1"/>
          <p:nvPr>
            <p:ph type="title"/>
          </p:nvPr>
        </p:nvSpPr>
        <p:spPr>
          <a:xfrm>
            <a:off x="-267" y="152300"/>
            <a:ext cx="10184163" cy="68103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sz="3100">
                <a:solidFill>
                  <a:schemeClr val="lt1"/>
                </a:solidFill>
                <a:latin typeface="Times New Roman"/>
                <a:ea typeface="Times New Roman"/>
                <a:cs typeface="Times New Roman"/>
                <a:sym typeface="Times New Roman"/>
              </a:rPr>
              <a:t>Hậu quả</a:t>
            </a:r>
            <a:br>
              <a:rPr b="1" lang="en-US"/>
            </a:br>
            <a:endParaRPr b="1" sz="2400">
              <a:solidFill>
                <a:srgbClr val="002060"/>
              </a:solidFill>
              <a:latin typeface="Times New Roman"/>
              <a:ea typeface="Times New Roman"/>
              <a:cs typeface="Times New Roman"/>
              <a:sym typeface="Times New Roman"/>
            </a:endParaRPr>
          </a:p>
        </p:txBody>
      </p:sp>
      <p:sp>
        <p:nvSpPr>
          <p:cNvPr id="225" name="Google Shape;225;p21"/>
          <p:cNvSpPr txBox="1"/>
          <p:nvPr/>
        </p:nvSpPr>
        <p:spPr>
          <a:xfrm>
            <a:off x="374650" y="1126490"/>
            <a:ext cx="11480165" cy="394589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Vượt qua xác thực (Authentication Bypass): </a:t>
            </a:r>
            <a:r>
              <a:rPr b="0" i="0" lang="en-US" sz="2400" u="none" cap="none" strike="noStrike">
                <a:solidFill>
                  <a:srgbClr val="000000"/>
                </a:solidFill>
                <a:latin typeface="Arial"/>
                <a:ea typeface="Arial"/>
                <a:cs typeface="Arial"/>
                <a:sym typeface="Arial"/>
              </a:rPr>
              <a:t>Hacker truy cập được vào nhà, xe hơi, hoặc văn phòng mà không cần biết mật khẩu hay khóa giải mã.</a:t>
            </a:r>
            <a:endParaRPr b="0" i="0" sz="24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Lặp lại giao dịch:</a:t>
            </a:r>
            <a:r>
              <a:rPr b="0" i="0" lang="en-US" sz="2400" u="none" cap="none" strike="noStrike">
                <a:solidFill>
                  <a:srgbClr val="000000"/>
                </a:solidFill>
                <a:latin typeface="Arial"/>
                <a:ea typeface="Arial"/>
                <a:cs typeface="Arial"/>
                <a:sym typeface="Arial"/>
              </a:rPr>
              <a:t> Trong các hệ thống thanh toán IoT (ví dụ: máy bán hàng tự động), hacker có thể phát lại lệnh "đã trừ tiền" để mua hàng nhiều lần mà chỉ trả tiền một lần.</a:t>
            </a:r>
            <a:endParaRPr b="0" i="0" sz="24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Gây rối loạn trạng thái:</a:t>
            </a:r>
            <a:r>
              <a:rPr b="0" i="0" lang="en-US" sz="2400" u="none" cap="none" strike="noStrike">
                <a:solidFill>
                  <a:srgbClr val="000000"/>
                </a:solidFill>
                <a:latin typeface="Arial"/>
                <a:ea typeface="Arial"/>
                <a:cs typeface="Arial"/>
                <a:sym typeface="Arial"/>
              </a:rPr>
              <a:t> Gửi lại các dữ liệu cảm biến cũ (ví dụ: báo nhiệt độ bình thường) trong khi thực tế máy móc đang quá nhiệt, khiến bộ điều khiển không kích hoạt quạt làm mát.</a:t>
            </a:r>
            <a:endParaRPr b="0" i="0" sz="24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chemeClr val="dk1"/>
                </a:solidFill>
                <a:latin typeface="Arial"/>
                <a:ea typeface="Arial"/>
                <a:cs typeface="Arial"/>
                <a:sym typeface="Arial"/>
              </a:rPr>
              <a:t>Lừa hệ thống an ninh:</a:t>
            </a:r>
            <a:r>
              <a:rPr b="0" i="0" lang="en-US" sz="2400" u="none" cap="none" strike="noStrike">
                <a:solidFill>
                  <a:schemeClr val="dk1"/>
                </a:solidFill>
                <a:latin typeface="Arial"/>
                <a:ea typeface="Arial"/>
                <a:cs typeface="Arial"/>
                <a:sym typeface="Arial"/>
              </a:rPr>
              <a:t> dữ liệu cảm biến bị lặp lại → gây hiểu sai tình trạng thực tế.</a:t>
            </a:r>
            <a:endParaRPr b="0" i="0" sz="2400" u="none" cap="none" strike="noStrike">
              <a:solidFill>
                <a:schemeClr val="dk1"/>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2"/>
          <p:cNvSpPr txBox="1"/>
          <p:nvPr>
            <p:ph type="title"/>
          </p:nvPr>
        </p:nvSpPr>
        <p:spPr>
          <a:xfrm>
            <a:off x="-267" y="67845"/>
            <a:ext cx="10184163" cy="68103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100"/>
              <a:buFont typeface="Times New Roman"/>
              <a:buNone/>
            </a:pPr>
            <a:r>
              <a:rPr b="1" lang="en-US" sz="3100">
                <a:solidFill>
                  <a:schemeClr val="lt1"/>
                </a:solidFill>
                <a:latin typeface="Arial"/>
                <a:ea typeface="Arial"/>
                <a:cs typeface="Arial"/>
                <a:sym typeface="Arial"/>
              </a:rPr>
              <a:t>Biện pháp phòng ngừa</a:t>
            </a:r>
            <a:endParaRPr b="1" sz="3100">
              <a:solidFill>
                <a:schemeClr val="lt1"/>
              </a:solidFill>
              <a:latin typeface="Arial"/>
              <a:ea typeface="Arial"/>
              <a:cs typeface="Arial"/>
              <a:sym typeface="Arial"/>
            </a:endParaRPr>
          </a:p>
        </p:txBody>
      </p:sp>
      <p:sp>
        <p:nvSpPr>
          <p:cNvPr id="231" name="Google Shape;231;p22"/>
          <p:cNvSpPr txBox="1"/>
          <p:nvPr/>
        </p:nvSpPr>
        <p:spPr>
          <a:xfrm>
            <a:off x="99060" y="1221105"/>
            <a:ext cx="11511280" cy="415417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Sử dụng Timestamp (Dấu thời gian):</a:t>
            </a:r>
            <a:r>
              <a:rPr b="0" i="0" lang="en-US" sz="2400" u="none" cap="none" strike="noStrike">
                <a:solidFill>
                  <a:srgbClr val="000000"/>
                </a:solidFill>
                <a:latin typeface="Arial"/>
                <a:ea typeface="Arial"/>
                <a:cs typeface="Arial"/>
                <a:sym typeface="Arial"/>
              </a:rPr>
              <a:t> Gói tin phải kèm theo giờ gửi. Nếu Server nhận được gói tin có giờ gửi quá xa so với giờ hiện tại (ví dụ: lệch quá 5 giây), nó sẽ từ chối.</a:t>
            </a:r>
            <a:endParaRPr b="0" i="0" sz="24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Sử dụng Nonce (Number used once):</a:t>
            </a:r>
            <a:r>
              <a:rPr b="0" i="0" lang="en-US" sz="2400" u="none" cap="none" strike="noStrike">
                <a:solidFill>
                  <a:srgbClr val="000000"/>
                </a:solidFill>
                <a:latin typeface="Arial"/>
                <a:ea typeface="Arial"/>
                <a:cs typeface="Arial"/>
                <a:sym typeface="Arial"/>
              </a:rPr>
              <a:t> Mỗi lần giao tiếp, Server gửi một số ngẫu nhiên duy nhất. Thiết bị phải dùng số đó để mã hóa trả lời. Số này không bao giờ dùng lại, nên gói tin cũ sẽ vô hiệu.</a:t>
            </a:r>
            <a:endParaRPr b="0" i="0" sz="24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Bộ đếm (Sequence Number/Frame Counter):</a:t>
            </a:r>
            <a:r>
              <a:rPr b="0" i="0" lang="en-US" sz="2400" u="none" cap="none" strike="noStrike">
                <a:solidFill>
                  <a:srgbClr val="000000"/>
                </a:solidFill>
                <a:latin typeface="Arial"/>
                <a:ea typeface="Arial"/>
                <a:cs typeface="Arial"/>
                <a:sym typeface="Arial"/>
              </a:rPr>
              <a:t> Các giao thức như Zigbee/LoRaWAN có bộ đếm gói tin. Nếu nhận được gói tin có số thứ tự nhỏ hơn hoặc bằng gói tin trước đó, hệ thống sẽ loại bỏ.</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3"/>
          <p:cNvSpPr txBox="1"/>
          <p:nvPr>
            <p:ph type="title"/>
          </p:nvPr>
        </p:nvSpPr>
        <p:spPr>
          <a:xfrm>
            <a:off x="-267" y="203735"/>
            <a:ext cx="10184163" cy="68103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336110"/>
              <a:buFont typeface="Times New Roman"/>
              <a:buNone/>
            </a:pPr>
            <a:r>
              <a:rPr b="1" lang="en-US">
                <a:solidFill>
                  <a:schemeClr val="lt1"/>
                </a:solidFill>
              </a:rPr>
              <a:t>TẤN CÔNG TỪ CHỐI DỊCH VỤ (DoS/DDoS)</a:t>
            </a:r>
            <a:br>
              <a:rPr b="1" lang="en-US"/>
            </a:br>
            <a:endParaRPr b="1" sz="2400">
              <a:solidFill>
                <a:srgbClr val="002060"/>
              </a:solidFill>
              <a:latin typeface="Times New Roman"/>
              <a:ea typeface="Times New Roman"/>
              <a:cs typeface="Times New Roman"/>
              <a:sym typeface="Times New Roman"/>
            </a:endParaRPr>
          </a:p>
        </p:txBody>
      </p:sp>
      <p:sp>
        <p:nvSpPr>
          <p:cNvPr id="237" name="Google Shape;237;p23"/>
          <p:cNvSpPr txBox="1"/>
          <p:nvPr>
            <p:ph idx="1" type="body"/>
          </p:nvPr>
        </p:nvSpPr>
        <p:spPr>
          <a:xfrm>
            <a:off x="182245" y="884555"/>
            <a:ext cx="11485245" cy="508889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800"/>
              <a:buFont typeface="Arial"/>
              <a:buChar char="•"/>
            </a:pPr>
            <a:r>
              <a:rPr b="1" lang="en-US" sz="2445">
                <a:latin typeface="Arial"/>
                <a:ea typeface="Arial"/>
                <a:cs typeface="Arial"/>
                <a:sym typeface="Arial"/>
              </a:rPr>
              <a:t>Định nghĩa: </a:t>
            </a:r>
            <a:r>
              <a:rPr lang="en-US" sz="2445">
                <a:latin typeface="Arial"/>
                <a:ea typeface="Arial"/>
                <a:cs typeface="Arial"/>
                <a:sym typeface="Arial"/>
              </a:rPr>
              <a:t>Tấn công nhằm làm cho hệ thống (Gateway, Broker, Server) bị quá tải, không thể phục vụ các yêu cầu hợp lệ từ thiết bị IoT.</a:t>
            </a:r>
            <a:endParaRPr sz="2445">
              <a:latin typeface="Arial"/>
              <a:ea typeface="Arial"/>
              <a:cs typeface="Arial"/>
              <a:sym typeface="Arial"/>
            </a:endParaRPr>
          </a:p>
          <a:p>
            <a:pPr indent="-165100" lvl="0" marL="342900" rtl="0" algn="l">
              <a:lnSpc>
                <a:spcPct val="100000"/>
              </a:lnSpc>
              <a:spcBef>
                <a:spcPts val="0"/>
              </a:spcBef>
              <a:spcAft>
                <a:spcPts val="0"/>
              </a:spcAft>
              <a:buClr>
                <a:schemeClr val="dk1"/>
              </a:buClr>
              <a:buSzPts val="2800"/>
              <a:buFont typeface="Arial"/>
              <a:buNone/>
            </a:pPr>
            <a:r>
              <a:t/>
            </a:r>
            <a:endParaRPr sz="2400">
              <a:latin typeface="Arial"/>
              <a:ea typeface="Arial"/>
              <a:cs typeface="Arial"/>
              <a:sym typeface="Arial"/>
            </a:endParaRPr>
          </a:p>
          <a:p>
            <a:pPr indent="-342900" lvl="1" marL="800100" rtl="0" algn="l">
              <a:lnSpc>
                <a:spcPct val="100000"/>
              </a:lnSpc>
              <a:spcBef>
                <a:spcPts val="0"/>
              </a:spcBef>
              <a:spcAft>
                <a:spcPts val="0"/>
              </a:spcAft>
              <a:buClr>
                <a:schemeClr val="dk1"/>
              </a:buClr>
              <a:buSzPts val="2800"/>
              <a:buFont typeface="Arial"/>
              <a:buChar char="•"/>
            </a:pPr>
            <a:r>
              <a:rPr b="1" lang="en-US" sz="2400">
                <a:latin typeface="Arial"/>
                <a:ea typeface="Arial"/>
                <a:cs typeface="Arial"/>
                <a:sym typeface="Arial"/>
              </a:rPr>
              <a:t>DoS (Denial of Service):</a:t>
            </a:r>
            <a:r>
              <a:rPr lang="en-US" sz="2400">
                <a:latin typeface="Arial"/>
                <a:ea typeface="Arial"/>
                <a:cs typeface="Arial"/>
                <a:sym typeface="Arial"/>
              </a:rPr>
              <a:t> Tấn công từ 1 nguồn.</a:t>
            </a:r>
            <a:endParaRPr sz="2400">
              <a:latin typeface="Arial"/>
              <a:ea typeface="Arial"/>
              <a:cs typeface="Arial"/>
              <a:sym typeface="Arial"/>
            </a:endParaRPr>
          </a:p>
          <a:p>
            <a:pPr indent="-165100" lvl="1" marL="800100" rtl="0" algn="l">
              <a:lnSpc>
                <a:spcPct val="100000"/>
              </a:lnSpc>
              <a:spcBef>
                <a:spcPts val="0"/>
              </a:spcBef>
              <a:spcAft>
                <a:spcPts val="0"/>
              </a:spcAft>
              <a:buClr>
                <a:schemeClr val="dk1"/>
              </a:buClr>
              <a:buSzPts val="2800"/>
              <a:buFont typeface="Arial"/>
              <a:buNone/>
            </a:pPr>
            <a:r>
              <a:t/>
            </a:r>
            <a:endParaRPr sz="2400">
              <a:latin typeface="Arial"/>
              <a:ea typeface="Arial"/>
              <a:cs typeface="Arial"/>
              <a:sym typeface="Arial"/>
            </a:endParaRPr>
          </a:p>
          <a:p>
            <a:pPr indent="-342900" lvl="1" marL="800100" rtl="0" algn="l">
              <a:lnSpc>
                <a:spcPct val="100000"/>
              </a:lnSpc>
              <a:spcBef>
                <a:spcPts val="0"/>
              </a:spcBef>
              <a:spcAft>
                <a:spcPts val="0"/>
              </a:spcAft>
              <a:buClr>
                <a:schemeClr val="dk1"/>
              </a:buClr>
              <a:buSzPts val="2800"/>
              <a:buFont typeface="Arial"/>
              <a:buChar char="•"/>
            </a:pPr>
            <a:r>
              <a:rPr b="1" lang="en-US" sz="2400">
                <a:latin typeface="Arial"/>
                <a:ea typeface="Arial"/>
                <a:cs typeface="Arial"/>
                <a:sym typeface="Arial"/>
              </a:rPr>
              <a:t>DDoS (Distributed DoS): </a:t>
            </a:r>
            <a:r>
              <a:rPr lang="en-US" sz="2400">
                <a:latin typeface="Arial"/>
                <a:ea typeface="Arial"/>
                <a:cs typeface="Arial"/>
                <a:sym typeface="Arial"/>
              </a:rPr>
              <a:t>Tấn công từ nhiều nguồn (Botnet).</a:t>
            </a:r>
            <a:endParaRPr sz="2400">
              <a:latin typeface="Arial"/>
              <a:ea typeface="Arial"/>
              <a:cs typeface="Arial"/>
              <a:sym typeface="Arial"/>
            </a:endParaRPr>
          </a:p>
          <a:p>
            <a:pPr indent="-165100" lvl="0" marL="342900" rtl="0" algn="l">
              <a:lnSpc>
                <a:spcPct val="100000"/>
              </a:lnSpc>
              <a:spcBef>
                <a:spcPts val="0"/>
              </a:spcBef>
              <a:spcAft>
                <a:spcPts val="0"/>
              </a:spcAft>
              <a:buClr>
                <a:schemeClr val="dk1"/>
              </a:buClr>
              <a:buSzPts val="2800"/>
              <a:buFont typeface="Arial"/>
              <a:buNone/>
            </a:pPr>
            <a:r>
              <a:t/>
            </a:r>
            <a:endParaRPr sz="2445">
              <a:latin typeface="Arial"/>
              <a:ea typeface="Arial"/>
              <a:cs typeface="Arial"/>
              <a:sym typeface="Arial"/>
            </a:endParaRPr>
          </a:p>
          <a:p>
            <a:pPr indent="-342900" lvl="0" marL="342900" rtl="0" algn="l">
              <a:lnSpc>
                <a:spcPct val="100000"/>
              </a:lnSpc>
              <a:spcBef>
                <a:spcPts val="0"/>
              </a:spcBef>
              <a:spcAft>
                <a:spcPts val="0"/>
              </a:spcAft>
              <a:buClr>
                <a:schemeClr val="dk1"/>
              </a:buClr>
              <a:buSzPts val="2800"/>
              <a:buFont typeface="Arial"/>
              <a:buChar char="•"/>
            </a:pPr>
            <a:r>
              <a:rPr b="1" lang="en-US" sz="2445">
                <a:latin typeface="Arial"/>
                <a:ea typeface="Arial"/>
                <a:cs typeface="Arial"/>
                <a:sym typeface="Arial"/>
              </a:rPr>
              <a:t>Dạng tấn công: </a:t>
            </a:r>
            <a:r>
              <a:rPr lang="en-US" sz="2445">
                <a:latin typeface="Arial"/>
                <a:ea typeface="Arial"/>
                <a:cs typeface="Arial"/>
                <a:sym typeface="Arial"/>
              </a:rPr>
              <a:t>Tấn công vào tính sẵn sàng (Availability).</a:t>
            </a:r>
            <a:endParaRPr sz="2445">
              <a:latin typeface="Arial"/>
              <a:ea typeface="Arial"/>
              <a:cs typeface="Arial"/>
              <a:sym typeface="Arial"/>
            </a:endParaRPr>
          </a:p>
          <a:p>
            <a:pPr indent="-165100" lvl="0" marL="342900" rtl="0" algn="l">
              <a:lnSpc>
                <a:spcPct val="100000"/>
              </a:lnSpc>
              <a:spcBef>
                <a:spcPts val="0"/>
              </a:spcBef>
              <a:spcAft>
                <a:spcPts val="0"/>
              </a:spcAft>
              <a:buClr>
                <a:schemeClr val="dk1"/>
              </a:buClr>
              <a:buSzPts val="2800"/>
              <a:buFont typeface="Arial"/>
              <a:buNone/>
            </a:pPr>
            <a:r>
              <a:t/>
            </a:r>
            <a:endParaRPr sz="2445">
              <a:latin typeface="Arial"/>
              <a:ea typeface="Arial"/>
              <a:cs typeface="Arial"/>
              <a:sym typeface="Arial"/>
            </a:endParaRPr>
          </a:p>
          <a:p>
            <a:pPr indent="-342900" lvl="0" marL="342900" rtl="0" algn="l">
              <a:lnSpc>
                <a:spcPct val="100000"/>
              </a:lnSpc>
              <a:spcBef>
                <a:spcPts val="0"/>
              </a:spcBef>
              <a:spcAft>
                <a:spcPts val="0"/>
              </a:spcAft>
              <a:buClr>
                <a:schemeClr val="dk1"/>
              </a:buClr>
              <a:buSzPts val="2800"/>
              <a:buFont typeface="Arial"/>
              <a:buChar char="•"/>
            </a:pPr>
            <a:r>
              <a:rPr b="1" lang="en-US" sz="2445">
                <a:latin typeface="Arial"/>
                <a:ea typeface="Arial"/>
                <a:cs typeface="Arial"/>
                <a:sym typeface="Arial"/>
              </a:rPr>
              <a:t>Điều kiện xảy ra: </a:t>
            </a:r>
            <a:r>
              <a:rPr lang="en-US" sz="2445">
                <a:latin typeface="Arial"/>
                <a:ea typeface="Arial"/>
                <a:cs typeface="Arial"/>
                <a:sym typeface="Arial"/>
              </a:rPr>
              <a:t>Tài nguyên hệ thống (Băng thông, CPU, RAM, số lượng kết nối tối đa) có giới hạn và không có cơ chế lọc lưu lượng tốt.</a:t>
            </a:r>
            <a:endParaRPr sz="2445">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4"/>
          <p:cNvSpPr txBox="1"/>
          <p:nvPr>
            <p:ph type="title"/>
          </p:nvPr>
        </p:nvSpPr>
        <p:spPr>
          <a:xfrm>
            <a:off x="-267" y="152300"/>
            <a:ext cx="10184163" cy="68103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sz="3100">
                <a:solidFill>
                  <a:schemeClr val="lt1"/>
                </a:solidFill>
                <a:latin typeface="Arial"/>
                <a:ea typeface="Arial"/>
                <a:cs typeface="Arial"/>
                <a:sym typeface="Arial"/>
              </a:rPr>
              <a:t>Cuộc tấn công diễn ra như thế nào</a:t>
            </a:r>
            <a:br>
              <a:rPr b="1" lang="en-US"/>
            </a:br>
            <a:endParaRPr b="1" sz="2400">
              <a:solidFill>
                <a:srgbClr val="002060"/>
              </a:solidFill>
              <a:latin typeface="Times New Roman"/>
              <a:ea typeface="Times New Roman"/>
              <a:cs typeface="Times New Roman"/>
              <a:sym typeface="Times New Roman"/>
            </a:endParaRPr>
          </a:p>
        </p:txBody>
      </p:sp>
      <p:sp>
        <p:nvSpPr>
          <p:cNvPr id="243" name="Google Shape;243;p24"/>
          <p:cNvSpPr txBox="1"/>
          <p:nvPr/>
        </p:nvSpPr>
        <p:spPr>
          <a:xfrm>
            <a:off x="6120130" y="1021715"/>
            <a:ext cx="5886450" cy="493141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0000"/>
              </a:lnSpc>
              <a:spcBef>
                <a:spcPts val="0"/>
              </a:spcBef>
              <a:spcAft>
                <a:spcPts val="0"/>
              </a:spcAft>
              <a:buClr>
                <a:srgbClr val="000000"/>
              </a:buClr>
              <a:buSzPts val="2000"/>
              <a:buFont typeface="Arial"/>
              <a:buAutoNum type="arabicPeriod"/>
            </a:pPr>
            <a:r>
              <a:rPr b="1" i="0" lang="en-US" sz="2000" u="none" cap="none" strike="noStrike">
                <a:solidFill>
                  <a:srgbClr val="000000"/>
                </a:solidFill>
                <a:latin typeface="Arial"/>
                <a:ea typeface="Arial"/>
                <a:cs typeface="Arial"/>
                <a:sym typeface="Arial"/>
              </a:rPr>
              <a:t>Tập hợp lực lượng (đối với DDoS):</a:t>
            </a:r>
            <a:r>
              <a:rPr b="0" i="0" lang="en-US" sz="2000" u="none" cap="none" strike="noStrike">
                <a:solidFill>
                  <a:srgbClr val="000000"/>
                </a:solidFill>
                <a:latin typeface="Arial"/>
                <a:ea typeface="Arial"/>
                <a:cs typeface="Arial"/>
                <a:sym typeface="Arial"/>
              </a:rPr>
              <a:t> Hacker chiếm quyền điều khiển hàng ngàn thiết bị IoT yếu kém (Camera, DVR...) tạo thành mạng máy tính ma (Botnet).</a:t>
            </a:r>
            <a:endParaRPr b="0" i="0" sz="2000" u="none" cap="none" strike="noStrike">
              <a:solidFill>
                <a:srgbClr val="000000"/>
              </a:solidFill>
              <a:latin typeface="Arial"/>
              <a:ea typeface="Arial"/>
              <a:cs typeface="Arial"/>
              <a:sym typeface="Arial"/>
            </a:endParaRPr>
          </a:p>
          <a:p>
            <a:pPr indent="-215900" lvl="0" marL="342900" marR="0" rtl="0" algn="l">
              <a:lnSpc>
                <a:spcPct val="11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342900" lvl="0" marL="342900" marR="0" rtl="0" algn="l">
              <a:lnSpc>
                <a:spcPct val="110000"/>
              </a:lnSpc>
              <a:spcBef>
                <a:spcPts val="0"/>
              </a:spcBef>
              <a:spcAft>
                <a:spcPts val="0"/>
              </a:spcAft>
              <a:buClr>
                <a:srgbClr val="000000"/>
              </a:buClr>
              <a:buSzPts val="2000"/>
              <a:buFont typeface="Arial"/>
              <a:buAutoNum type="arabicPeriod"/>
            </a:pPr>
            <a:r>
              <a:rPr b="1" i="0" lang="en-US" sz="2000" u="none" cap="none" strike="noStrike">
                <a:solidFill>
                  <a:srgbClr val="000000"/>
                </a:solidFill>
                <a:latin typeface="Arial"/>
                <a:ea typeface="Arial"/>
                <a:cs typeface="Arial"/>
                <a:sym typeface="Arial"/>
              </a:rPr>
              <a:t>Ra lệnh tấn công:</a:t>
            </a:r>
            <a:r>
              <a:rPr b="0" i="0" lang="en-US" sz="2000" u="none" cap="none" strike="noStrike">
                <a:solidFill>
                  <a:srgbClr val="000000"/>
                </a:solidFill>
                <a:latin typeface="Arial"/>
                <a:ea typeface="Arial"/>
                <a:cs typeface="Arial"/>
                <a:sym typeface="Arial"/>
              </a:rPr>
              <a:t> Hacker ra lệnh cho Botnet đồng loạt gửi dữ liệu về một mục tiêu duy nhất.</a:t>
            </a:r>
            <a:endParaRPr b="0" i="0" sz="2000" u="none" cap="none" strike="noStrike">
              <a:solidFill>
                <a:srgbClr val="000000"/>
              </a:solidFill>
              <a:latin typeface="Arial"/>
              <a:ea typeface="Arial"/>
              <a:cs typeface="Arial"/>
              <a:sym typeface="Arial"/>
            </a:endParaRPr>
          </a:p>
          <a:p>
            <a:pPr indent="-215900" lvl="0" marL="342900" marR="0" rtl="0" algn="l">
              <a:lnSpc>
                <a:spcPct val="11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342900" lvl="0" marL="342900" marR="0" rtl="0" algn="l">
              <a:lnSpc>
                <a:spcPct val="110000"/>
              </a:lnSpc>
              <a:spcBef>
                <a:spcPts val="0"/>
              </a:spcBef>
              <a:spcAft>
                <a:spcPts val="0"/>
              </a:spcAft>
              <a:buClr>
                <a:srgbClr val="000000"/>
              </a:buClr>
              <a:buSzPts val="2000"/>
              <a:buFont typeface="Arial"/>
              <a:buAutoNum type="arabicPeriod"/>
            </a:pPr>
            <a:r>
              <a:rPr b="1" i="0" lang="en-US" sz="2000" u="none" cap="none" strike="noStrike">
                <a:solidFill>
                  <a:srgbClr val="000000"/>
                </a:solidFill>
                <a:latin typeface="Arial"/>
                <a:ea typeface="Arial"/>
                <a:cs typeface="Arial"/>
                <a:sym typeface="Arial"/>
              </a:rPr>
              <a:t>Làm ngập lụt (Flooding):</a:t>
            </a:r>
            <a:endParaRPr b="0" i="0" sz="2000" u="none" cap="none" strike="noStrike">
              <a:solidFill>
                <a:srgbClr val="000000"/>
              </a:solidFill>
              <a:latin typeface="Arial"/>
              <a:ea typeface="Arial"/>
              <a:cs typeface="Arial"/>
              <a:sym typeface="Arial"/>
            </a:endParaRPr>
          </a:p>
          <a:p>
            <a:pPr indent="-342900" lvl="1" marL="800100" marR="0" rtl="0" algn="l">
              <a:lnSpc>
                <a:spcPct val="11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Arial"/>
                <a:ea typeface="Arial"/>
                <a:cs typeface="Arial"/>
                <a:sym typeface="Arial"/>
              </a:rPr>
              <a:t>TCP SYN Flood: Mở hàng loạt kết nối nhưng không bao giờ đóng, làm đầy bảng kết nối của Server.</a:t>
            </a:r>
            <a:endParaRPr b="0" i="0" sz="2000" u="none" cap="none" strike="noStrike">
              <a:solidFill>
                <a:srgbClr val="000000"/>
              </a:solidFill>
              <a:latin typeface="Arial"/>
              <a:ea typeface="Arial"/>
              <a:cs typeface="Arial"/>
              <a:sym typeface="Arial"/>
            </a:endParaRPr>
          </a:p>
          <a:p>
            <a:pPr indent="-342900" lvl="1" marL="800100" marR="0" rtl="0" algn="l">
              <a:lnSpc>
                <a:spcPct val="11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Arial"/>
                <a:ea typeface="Arial"/>
                <a:cs typeface="Arial"/>
                <a:sym typeface="Arial"/>
              </a:rPr>
              <a:t>MQTT Connect Flood: Gửi liên tục lệnh CONNECT đến Broker khiến nó quá tải xử lý xác thực.</a:t>
            </a:r>
            <a:endParaRPr b="0" i="0" sz="2000" u="none" cap="none" strike="noStrike">
              <a:solidFill>
                <a:srgbClr val="000000"/>
              </a:solidFill>
              <a:latin typeface="Arial"/>
              <a:ea typeface="Arial"/>
              <a:cs typeface="Arial"/>
              <a:sym typeface="Arial"/>
            </a:endParaRPr>
          </a:p>
        </p:txBody>
      </p:sp>
      <p:pic>
        <p:nvPicPr>
          <p:cNvPr descr="9" id="244" name="Google Shape;244;p24"/>
          <p:cNvPicPr preferRelativeResize="0"/>
          <p:nvPr/>
        </p:nvPicPr>
        <p:blipFill rotWithShape="1">
          <a:blip r:embed="rId3">
            <a:alphaModFix/>
          </a:blip>
          <a:srcRect b="0" l="0" r="0" t="0"/>
          <a:stretch/>
        </p:blipFill>
        <p:spPr>
          <a:xfrm>
            <a:off x="277495" y="833120"/>
            <a:ext cx="5748020" cy="382968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5"/>
          <p:cNvSpPr txBox="1"/>
          <p:nvPr>
            <p:ph type="title"/>
          </p:nvPr>
        </p:nvSpPr>
        <p:spPr>
          <a:xfrm>
            <a:off x="-267" y="152300"/>
            <a:ext cx="10184163" cy="68103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sz="3100">
                <a:solidFill>
                  <a:schemeClr val="lt1"/>
                </a:solidFill>
                <a:latin typeface="Times New Roman"/>
                <a:ea typeface="Times New Roman"/>
                <a:cs typeface="Times New Roman"/>
                <a:sym typeface="Times New Roman"/>
              </a:rPr>
              <a:t>Hậu quả</a:t>
            </a:r>
            <a:br>
              <a:rPr b="1" lang="en-US"/>
            </a:br>
            <a:endParaRPr b="1" sz="2400">
              <a:solidFill>
                <a:srgbClr val="002060"/>
              </a:solidFill>
              <a:latin typeface="Times New Roman"/>
              <a:ea typeface="Times New Roman"/>
              <a:cs typeface="Times New Roman"/>
              <a:sym typeface="Times New Roman"/>
            </a:endParaRPr>
          </a:p>
        </p:txBody>
      </p:sp>
      <p:sp>
        <p:nvSpPr>
          <p:cNvPr id="250" name="Google Shape;250;p25"/>
          <p:cNvSpPr txBox="1"/>
          <p:nvPr/>
        </p:nvSpPr>
        <p:spPr>
          <a:xfrm>
            <a:off x="374650" y="1126490"/>
            <a:ext cx="11480165" cy="394589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2400"/>
              <a:buFont typeface="Arial"/>
              <a:buChar char="•"/>
            </a:pPr>
            <a:r>
              <a:rPr b="0" i="0" lang="en-US" sz="2400" u="none" cap="none" strike="noStrike">
                <a:solidFill>
                  <a:schemeClr val="dk1"/>
                </a:solidFill>
                <a:latin typeface="Arial"/>
                <a:ea typeface="Arial"/>
                <a:cs typeface="Arial"/>
                <a:sym typeface="Arial"/>
              </a:rPr>
              <a:t>Mạng IoT ngừng hoạt động hoặc chậm đáng kể</a:t>
            </a:r>
            <a:endParaRPr b="0" i="0" sz="2400" u="none" cap="none" strike="noStrike">
              <a:solidFill>
                <a:schemeClr val="dk1"/>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Gián đoạn dịch vụ:</a:t>
            </a:r>
            <a:r>
              <a:rPr b="0" i="0" lang="en-US" sz="2400" u="none" cap="none" strike="noStrike">
                <a:solidFill>
                  <a:srgbClr val="000000"/>
                </a:solidFill>
                <a:latin typeface="Arial"/>
                <a:ea typeface="Arial"/>
                <a:cs typeface="Arial"/>
                <a:sym typeface="Arial"/>
              </a:rPr>
              <a:t> Người dùng không thể điều khiển thiết bị từ xa (bật đèn, xem camera).</a:t>
            </a:r>
            <a:endParaRPr b="0" i="0" sz="24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Mất dữ liệu quan trọng:</a:t>
            </a:r>
            <a:r>
              <a:rPr b="0" i="0" lang="en-US" sz="2400" u="none" cap="none" strike="noStrike">
                <a:solidFill>
                  <a:srgbClr val="000000"/>
                </a:solidFill>
                <a:latin typeface="Arial"/>
                <a:ea typeface="Arial"/>
                <a:cs typeface="Arial"/>
                <a:sym typeface="Arial"/>
              </a:rPr>
              <a:t> Trong thời gian bị tấn công, các cảnh báo khẩn cấp (cháy, đột nhập) từ cảm biến không thể gửi đến Server xử lý.</a:t>
            </a:r>
            <a:endParaRPr b="0" i="0" sz="24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Cạn kiệt năng lượng (Battery Exhaustion):</a:t>
            </a:r>
            <a:r>
              <a:rPr b="0" i="0" lang="en-US" sz="2400" u="none" cap="none" strike="noStrike">
                <a:solidFill>
                  <a:srgbClr val="000000"/>
                </a:solidFill>
                <a:latin typeface="Arial"/>
                <a:ea typeface="Arial"/>
                <a:cs typeface="Arial"/>
                <a:sym typeface="Arial"/>
              </a:rPr>
              <a:t> Các thiết bị chạy pin (như khóa cửa, cảm biến) liên tục thử kết nối lại (retry) khi Server bị sập, dẫn đến hết pin nhanh chóng (Sleep Deprivation Attack).</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6"/>
          <p:cNvSpPr txBox="1"/>
          <p:nvPr>
            <p:ph type="title"/>
          </p:nvPr>
        </p:nvSpPr>
        <p:spPr>
          <a:xfrm>
            <a:off x="-267" y="67845"/>
            <a:ext cx="10184163" cy="68103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100"/>
              <a:buFont typeface="Times New Roman"/>
              <a:buNone/>
            </a:pPr>
            <a:r>
              <a:rPr b="1" lang="en-US" sz="3100">
                <a:solidFill>
                  <a:schemeClr val="lt1"/>
                </a:solidFill>
                <a:latin typeface="Arial"/>
                <a:ea typeface="Arial"/>
                <a:cs typeface="Arial"/>
                <a:sym typeface="Arial"/>
              </a:rPr>
              <a:t>Biện pháp phòng ngừa</a:t>
            </a:r>
            <a:endParaRPr b="1" sz="3100">
              <a:solidFill>
                <a:schemeClr val="lt1"/>
              </a:solidFill>
              <a:latin typeface="Arial"/>
              <a:ea typeface="Arial"/>
              <a:cs typeface="Arial"/>
              <a:sym typeface="Arial"/>
            </a:endParaRPr>
          </a:p>
        </p:txBody>
      </p:sp>
      <p:sp>
        <p:nvSpPr>
          <p:cNvPr id="256" name="Google Shape;256;p26"/>
          <p:cNvSpPr txBox="1"/>
          <p:nvPr/>
        </p:nvSpPr>
        <p:spPr>
          <a:xfrm>
            <a:off x="99060" y="1221105"/>
            <a:ext cx="11511280" cy="452310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Giới hạn tốc độ (Rate Limiting):</a:t>
            </a:r>
            <a:r>
              <a:rPr b="0" i="0" lang="en-US" sz="2400" u="none" cap="none" strike="noStrike">
                <a:solidFill>
                  <a:srgbClr val="000000"/>
                </a:solidFill>
                <a:latin typeface="Arial"/>
                <a:ea typeface="Arial"/>
                <a:cs typeface="Arial"/>
                <a:sym typeface="Arial"/>
              </a:rPr>
              <a:t> Cấu hình Gateway/Broker chỉ cho phép một thiết bị gửi tối đa X gói tin/giây. Nếu vượt quá sẽ chặn tạm thời.</a:t>
            </a:r>
            <a:endParaRPr b="0" i="0" sz="24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Tường lửa &amp; IPS:</a:t>
            </a:r>
            <a:r>
              <a:rPr b="0" i="0" lang="en-US" sz="2400" u="none" cap="none" strike="noStrike">
                <a:solidFill>
                  <a:srgbClr val="000000"/>
                </a:solidFill>
                <a:latin typeface="Arial"/>
                <a:ea typeface="Arial"/>
                <a:cs typeface="Arial"/>
                <a:sym typeface="Arial"/>
              </a:rPr>
              <a:t> Sử dụng tường lửa để lọc các địa chỉ IP đáng ngờ hoặc chặn các gói tin không đúng định dạng.</a:t>
            </a:r>
            <a:endParaRPr b="0" i="0" sz="24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Hệ thống phân tán (Load Balancing):</a:t>
            </a:r>
            <a:r>
              <a:rPr b="0" i="0" lang="en-US" sz="2400" u="none" cap="none" strike="noStrike">
                <a:solidFill>
                  <a:srgbClr val="000000"/>
                </a:solidFill>
                <a:latin typeface="Arial"/>
                <a:ea typeface="Arial"/>
                <a:cs typeface="Arial"/>
                <a:sym typeface="Arial"/>
              </a:rPr>
              <a:t> Sử dụng cân bằng tải để phân chia lưu lượng ra nhiều Server khác nhau, tránh điểm chết duy nhất (Single Point of Failure).</a:t>
            </a:r>
            <a:endParaRPr b="0" i="0" sz="24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Cơ chế Back-off:</a:t>
            </a:r>
            <a:r>
              <a:rPr b="0" i="0" lang="en-US" sz="2400" u="none" cap="none" strike="noStrike">
                <a:solidFill>
                  <a:srgbClr val="000000"/>
                </a:solidFill>
                <a:latin typeface="Arial"/>
                <a:ea typeface="Arial"/>
                <a:cs typeface="Arial"/>
                <a:sym typeface="Arial"/>
              </a:rPr>
              <a:t> Lập trình cho thiết bị IoT: nếu mất kết nối, thời gian chờ thử lại phải tăng dần (ví dụ: 1s, 2s, 4s, 8s...) để tránh làm sập mạng thêm.</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7"/>
          <p:cNvSpPr txBox="1"/>
          <p:nvPr>
            <p:ph type="title"/>
          </p:nvPr>
        </p:nvSpPr>
        <p:spPr>
          <a:xfrm>
            <a:off x="-267" y="203735"/>
            <a:ext cx="10184163" cy="68103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336110"/>
              <a:buFont typeface="Times New Roman"/>
              <a:buNone/>
            </a:pPr>
            <a:r>
              <a:rPr b="1" lang="en-US">
                <a:solidFill>
                  <a:schemeClr val="lt1"/>
                </a:solidFill>
              </a:rPr>
              <a:t>GÂY NHIỄU SÓNG (JAMMING)</a:t>
            </a:r>
            <a:br>
              <a:rPr b="1" lang="en-US"/>
            </a:br>
            <a:endParaRPr b="1" sz="2400">
              <a:solidFill>
                <a:srgbClr val="002060"/>
              </a:solidFill>
              <a:latin typeface="Times New Roman"/>
              <a:ea typeface="Times New Roman"/>
              <a:cs typeface="Times New Roman"/>
              <a:sym typeface="Times New Roman"/>
            </a:endParaRPr>
          </a:p>
        </p:txBody>
      </p:sp>
      <p:sp>
        <p:nvSpPr>
          <p:cNvPr id="262" name="Google Shape;262;p27"/>
          <p:cNvSpPr txBox="1"/>
          <p:nvPr>
            <p:ph idx="1" type="body"/>
          </p:nvPr>
        </p:nvSpPr>
        <p:spPr>
          <a:xfrm>
            <a:off x="182245" y="884555"/>
            <a:ext cx="11485245" cy="508889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800"/>
              <a:buFont typeface="Arial"/>
              <a:buChar char="•"/>
            </a:pPr>
            <a:r>
              <a:rPr b="1" lang="en-US" sz="2445">
                <a:latin typeface="Arial"/>
                <a:ea typeface="Arial"/>
                <a:cs typeface="Arial"/>
                <a:sym typeface="Arial"/>
              </a:rPr>
              <a:t>Định nghĩa:</a:t>
            </a:r>
            <a:r>
              <a:rPr lang="en-US" sz="2445">
                <a:latin typeface="Arial"/>
                <a:ea typeface="Arial"/>
                <a:cs typeface="Arial"/>
                <a:sym typeface="Arial"/>
              </a:rPr>
              <a:t> Là hành vi cố tình phát ra tín hiệu vô tuyến mạnh để làm gián đoạn đường truyền không dây giữa các thiết bị IoT.</a:t>
            </a:r>
            <a:endParaRPr sz="2445">
              <a:latin typeface="Arial"/>
              <a:ea typeface="Arial"/>
              <a:cs typeface="Arial"/>
              <a:sym typeface="Arial"/>
            </a:endParaRPr>
          </a:p>
          <a:p>
            <a:pPr indent="-165100" lvl="0" marL="342900" rtl="0" algn="l">
              <a:lnSpc>
                <a:spcPct val="100000"/>
              </a:lnSpc>
              <a:spcBef>
                <a:spcPts val="0"/>
              </a:spcBef>
              <a:spcAft>
                <a:spcPts val="0"/>
              </a:spcAft>
              <a:buClr>
                <a:schemeClr val="dk1"/>
              </a:buClr>
              <a:buSzPts val="2800"/>
              <a:buFont typeface="Arial"/>
              <a:buNone/>
            </a:pPr>
            <a:r>
              <a:t/>
            </a:r>
            <a:endParaRPr sz="2445">
              <a:latin typeface="Arial"/>
              <a:ea typeface="Arial"/>
              <a:cs typeface="Arial"/>
              <a:sym typeface="Arial"/>
            </a:endParaRPr>
          </a:p>
          <a:p>
            <a:pPr indent="-342900" lvl="0" marL="342900" rtl="0" algn="l">
              <a:lnSpc>
                <a:spcPct val="100000"/>
              </a:lnSpc>
              <a:spcBef>
                <a:spcPts val="0"/>
              </a:spcBef>
              <a:spcAft>
                <a:spcPts val="0"/>
              </a:spcAft>
              <a:buClr>
                <a:schemeClr val="dk1"/>
              </a:buClr>
              <a:buSzPts val="2800"/>
              <a:buFont typeface="Arial"/>
              <a:buChar char="•"/>
            </a:pPr>
            <a:r>
              <a:rPr b="1" lang="en-US" sz="2445">
                <a:latin typeface="Arial"/>
                <a:ea typeface="Arial"/>
                <a:cs typeface="Arial"/>
                <a:sym typeface="Arial"/>
              </a:rPr>
              <a:t>Dạng tấn công:</a:t>
            </a:r>
            <a:r>
              <a:rPr lang="en-US" sz="2445">
                <a:latin typeface="Arial"/>
                <a:ea typeface="Arial"/>
                <a:cs typeface="Arial"/>
                <a:sym typeface="Arial"/>
              </a:rPr>
              <a:t> Tấn công lớp vật lý (Physical Layer Attack).Đây là một dạng Denial of Service (DoS) đặc thù cho mạng không dây.</a:t>
            </a:r>
            <a:endParaRPr sz="2445">
              <a:latin typeface="Arial"/>
              <a:ea typeface="Arial"/>
              <a:cs typeface="Arial"/>
              <a:sym typeface="Arial"/>
            </a:endParaRPr>
          </a:p>
          <a:p>
            <a:pPr indent="-165100" lvl="0" marL="342900" rtl="0" algn="l">
              <a:lnSpc>
                <a:spcPct val="100000"/>
              </a:lnSpc>
              <a:spcBef>
                <a:spcPts val="0"/>
              </a:spcBef>
              <a:spcAft>
                <a:spcPts val="0"/>
              </a:spcAft>
              <a:buClr>
                <a:schemeClr val="dk1"/>
              </a:buClr>
              <a:buSzPts val="2800"/>
              <a:buFont typeface="Arial"/>
              <a:buNone/>
            </a:pPr>
            <a:r>
              <a:t/>
            </a:r>
            <a:endParaRPr sz="2445">
              <a:latin typeface="Arial"/>
              <a:ea typeface="Arial"/>
              <a:cs typeface="Arial"/>
              <a:sym typeface="Arial"/>
            </a:endParaRPr>
          </a:p>
          <a:p>
            <a:pPr indent="-342900" lvl="0" marL="342900" rtl="0" algn="l">
              <a:lnSpc>
                <a:spcPct val="100000"/>
              </a:lnSpc>
              <a:spcBef>
                <a:spcPts val="0"/>
              </a:spcBef>
              <a:spcAft>
                <a:spcPts val="0"/>
              </a:spcAft>
              <a:buClr>
                <a:schemeClr val="dk1"/>
              </a:buClr>
              <a:buSzPts val="2800"/>
              <a:buFont typeface="Arial"/>
              <a:buChar char="•"/>
            </a:pPr>
            <a:r>
              <a:rPr b="1" lang="en-US" sz="2445">
                <a:latin typeface="Arial"/>
                <a:ea typeface="Arial"/>
                <a:cs typeface="Arial"/>
                <a:sym typeface="Arial"/>
              </a:rPr>
              <a:t>Điều kiện xảy ra:</a:t>
            </a:r>
            <a:endParaRPr b="1" sz="2445">
              <a:latin typeface="Arial"/>
              <a:ea typeface="Arial"/>
              <a:cs typeface="Arial"/>
              <a:sym typeface="Arial"/>
            </a:endParaRPr>
          </a:p>
          <a:p>
            <a:pPr indent="-165100" lvl="0" marL="342900" rtl="0" algn="l">
              <a:lnSpc>
                <a:spcPct val="100000"/>
              </a:lnSpc>
              <a:spcBef>
                <a:spcPts val="0"/>
              </a:spcBef>
              <a:spcAft>
                <a:spcPts val="0"/>
              </a:spcAft>
              <a:buClr>
                <a:schemeClr val="dk1"/>
              </a:buClr>
              <a:buSzPts val="2800"/>
              <a:buFont typeface="Arial"/>
              <a:buNone/>
            </a:pPr>
            <a:r>
              <a:t/>
            </a:r>
            <a:endParaRPr sz="2445">
              <a:latin typeface="Arial"/>
              <a:ea typeface="Arial"/>
              <a:cs typeface="Arial"/>
              <a:sym typeface="Arial"/>
            </a:endParaRPr>
          </a:p>
          <a:p>
            <a:pPr indent="-342900" lvl="1" marL="800100" rtl="0" algn="l">
              <a:lnSpc>
                <a:spcPct val="100000"/>
              </a:lnSpc>
              <a:spcBef>
                <a:spcPts val="0"/>
              </a:spcBef>
              <a:spcAft>
                <a:spcPts val="0"/>
              </a:spcAft>
              <a:buClr>
                <a:schemeClr val="dk1"/>
              </a:buClr>
              <a:buSzPts val="2800"/>
              <a:buFont typeface="Arial"/>
              <a:buChar char="•"/>
            </a:pPr>
            <a:r>
              <a:rPr lang="en-US">
                <a:latin typeface="Arial"/>
                <a:ea typeface="Arial"/>
                <a:cs typeface="Arial"/>
                <a:sym typeface="Arial"/>
              </a:rPr>
              <a:t>Các thiết bị sử dụng chung một dải tần số không được cấp phép (ISM Band) như 2.4GHz (Wifi, Zigbee, Bluetooth) hoặc 433MHz.</a:t>
            </a:r>
            <a:endParaRPr>
              <a:latin typeface="Arial"/>
              <a:ea typeface="Arial"/>
              <a:cs typeface="Arial"/>
              <a:sym typeface="Arial"/>
            </a:endParaRPr>
          </a:p>
          <a:p>
            <a:pPr indent="-165100" lvl="1" marL="800100" rtl="0" algn="l">
              <a:lnSpc>
                <a:spcPct val="100000"/>
              </a:lnSpc>
              <a:spcBef>
                <a:spcPts val="0"/>
              </a:spcBef>
              <a:spcAft>
                <a:spcPts val="0"/>
              </a:spcAft>
              <a:buClr>
                <a:schemeClr val="dk1"/>
              </a:buClr>
              <a:buSzPts val="2800"/>
              <a:buFont typeface="Arial"/>
              <a:buNone/>
            </a:pPr>
            <a:r>
              <a:t/>
            </a:r>
            <a:endParaRPr>
              <a:latin typeface="Arial"/>
              <a:ea typeface="Arial"/>
              <a:cs typeface="Arial"/>
              <a:sym typeface="Arial"/>
            </a:endParaRPr>
          </a:p>
          <a:p>
            <a:pPr indent="-342900" lvl="1" marL="800100" rtl="0" algn="l">
              <a:lnSpc>
                <a:spcPct val="100000"/>
              </a:lnSpc>
              <a:spcBef>
                <a:spcPts val="0"/>
              </a:spcBef>
              <a:spcAft>
                <a:spcPts val="0"/>
              </a:spcAft>
              <a:buClr>
                <a:schemeClr val="dk1"/>
              </a:buClr>
              <a:buSzPts val="2800"/>
              <a:buFont typeface="Arial"/>
              <a:buChar char="•"/>
            </a:pPr>
            <a:r>
              <a:rPr lang="en-US">
                <a:latin typeface="Arial"/>
                <a:ea typeface="Arial"/>
                <a:cs typeface="Arial"/>
                <a:sym typeface="Arial"/>
              </a:rPr>
              <a:t>Kẻ tấn công có thiết bị phát sóng cùng tần số.</a:t>
            </a:r>
            <a:endParaRPr>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8"/>
          <p:cNvSpPr txBox="1"/>
          <p:nvPr>
            <p:ph type="title"/>
          </p:nvPr>
        </p:nvSpPr>
        <p:spPr>
          <a:xfrm>
            <a:off x="-267" y="152300"/>
            <a:ext cx="10184163" cy="68103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sz="3100">
                <a:solidFill>
                  <a:schemeClr val="lt1"/>
                </a:solidFill>
                <a:latin typeface="Arial"/>
                <a:ea typeface="Arial"/>
                <a:cs typeface="Arial"/>
                <a:sym typeface="Arial"/>
              </a:rPr>
              <a:t>Cuộc tấn công diễn ra như thế nào</a:t>
            </a:r>
            <a:br>
              <a:rPr b="1" lang="en-US"/>
            </a:br>
            <a:endParaRPr b="1" sz="2400">
              <a:solidFill>
                <a:srgbClr val="002060"/>
              </a:solidFill>
              <a:latin typeface="Times New Roman"/>
              <a:ea typeface="Times New Roman"/>
              <a:cs typeface="Times New Roman"/>
              <a:sym typeface="Times New Roman"/>
            </a:endParaRPr>
          </a:p>
        </p:txBody>
      </p:sp>
      <p:sp>
        <p:nvSpPr>
          <p:cNvPr id="268" name="Google Shape;268;p28"/>
          <p:cNvSpPr txBox="1"/>
          <p:nvPr/>
        </p:nvSpPr>
        <p:spPr>
          <a:xfrm>
            <a:off x="6120130" y="1021715"/>
            <a:ext cx="5886450" cy="493141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0000"/>
              </a:lnSpc>
              <a:spcBef>
                <a:spcPts val="0"/>
              </a:spcBef>
              <a:spcAft>
                <a:spcPts val="0"/>
              </a:spcAft>
              <a:buClr>
                <a:srgbClr val="000000"/>
              </a:buClr>
              <a:buSzPts val="2000"/>
              <a:buFont typeface="Arial"/>
              <a:buAutoNum type="arabicPeriod"/>
            </a:pPr>
            <a:r>
              <a:rPr b="1" i="0" lang="en-US" sz="2000" u="none" cap="none" strike="noStrike">
                <a:solidFill>
                  <a:srgbClr val="000000"/>
                </a:solidFill>
                <a:latin typeface="Arial"/>
                <a:ea typeface="Arial"/>
                <a:cs typeface="Arial"/>
                <a:sym typeface="Arial"/>
              </a:rPr>
              <a:t>Xác định tần số:</a:t>
            </a:r>
            <a:r>
              <a:rPr b="0" i="0" lang="en-US" sz="2000" u="none" cap="none" strike="noStrike">
                <a:solidFill>
                  <a:srgbClr val="000000"/>
                </a:solidFill>
                <a:latin typeface="Arial"/>
                <a:ea typeface="Arial"/>
                <a:cs typeface="Arial"/>
                <a:sym typeface="Arial"/>
              </a:rPr>
              <a:t> Hacker xác định tần số hoạt động của hệ thống (</a:t>
            </a:r>
            <a:r>
              <a:rPr b="0" i="0" lang="en-US" sz="2000" u="none" cap="none" strike="noStrike">
                <a:solidFill>
                  <a:schemeClr val="dk1"/>
                </a:solidFill>
                <a:latin typeface="Arial"/>
                <a:ea typeface="Arial"/>
                <a:cs typeface="Arial"/>
                <a:sym typeface="Arial"/>
              </a:rPr>
              <a:t>Wi-Fi, ZigBee, LoRaWAN...</a:t>
            </a:r>
            <a:r>
              <a:rPr b="0"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a:p>
            <a:pPr indent="-215900" lvl="0" marL="342900" marR="0" rtl="0" algn="l">
              <a:lnSpc>
                <a:spcPct val="11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342900" lvl="0" marL="342900" marR="0" rtl="0" algn="l">
              <a:lnSpc>
                <a:spcPct val="110000"/>
              </a:lnSpc>
              <a:spcBef>
                <a:spcPts val="0"/>
              </a:spcBef>
              <a:spcAft>
                <a:spcPts val="0"/>
              </a:spcAft>
              <a:buClr>
                <a:srgbClr val="000000"/>
              </a:buClr>
              <a:buSzPts val="2000"/>
              <a:buFont typeface="Arial"/>
              <a:buAutoNum type="arabicPeriod"/>
            </a:pPr>
            <a:r>
              <a:rPr b="1" i="0" lang="en-US" sz="2000" u="none" cap="none" strike="noStrike">
                <a:solidFill>
                  <a:srgbClr val="000000"/>
                </a:solidFill>
                <a:latin typeface="Arial"/>
                <a:ea typeface="Arial"/>
                <a:cs typeface="Arial"/>
                <a:sym typeface="Arial"/>
              </a:rPr>
              <a:t>Phát nhiễu:</a:t>
            </a:r>
            <a:r>
              <a:rPr b="0" i="0" lang="en-US" sz="2000" u="none" cap="none" strike="noStrike">
                <a:solidFill>
                  <a:srgbClr val="000000"/>
                </a:solidFill>
                <a:latin typeface="Arial"/>
                <a:ea typeface="Arial"/>
                <a:cs typeface="Arial"/>
                <a:sym typeface="Arial"/>
              </a:rPr>
              <a:t> Sử dụng thiết bị gây nhiễu chuyên dụng hoặc bộ đàm sửa đổi để phát ra sóng vô tuyến liên tục (Continuous Wave) hoặc xung ngẫu nhiên (Random Pulse) với công suất cao vào tần số đó.</a:t>
            </a:r>
            <a:endParaRPr b="0" i="0" sz="2000" u="none" cap="none" strike="noStrike">
              <a:solidFill>
                <a:srgbClr val="000000"/>
              </a:solidFill>
              <a:latin typeface="Arial"/>
              <a:ea typeface="Arial"/>
              <a:cs typeface="Arial"/>
              <a:sym typeface="Arial"/>
            </a:endParaRPr>
          </a:p>
          <a:p>
            <a:pPr indent="-215900" lvl="0" marL="342900" marR="0" rtl="0" algn="l">
              <a:lnSpc>
                <a:spcPct val="11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342900" lvl="0" marL="342900" marR="0" rtl="0" algn="l">
              <a:lnSpc>
                <a:spcPct val="110000"/>
              </a:lnSpc>
              <a:spcBef>
                <a:spcPts val="0"/>
              </a:spcBef>
              <a:spcAft>
                <a:spcPts val="0"/>
              </a:spcAft>
              <a:buClr>
                <a:srgbClr val="000000"/>
              </a:buClr>
              <a:buSzPts val="2000"/>
              <a:buFont typeface="Arial"/>
              <a:buAutoNum type="arabicPeriod"/>
            </a:pPr>
            <a:r>
              <a:rPr b="1" i="0" lang="en-US" sz="2000" u="none" cap="none" strike="noStrike">
                <a:solidFill>
                  <a:srgbClr val="000000"/>
                </a:solidFill>
                <a:latin typeface="Arial"/>
                <a:ea typeface="Arial"/>
                <a:cs typeface="Arial"/>
                <a:sym typeface="Arial"/>
              </a:rPr>
              <a:t>Chèn ép tín hiệu:</a:t>
            </a:r>
            <a:r>
              <a:rPr b="0" i="0" lang="en-US" sz="2000" u="none" cap="none" strike="noStrike">
                <a:solidFill>
                  <a:srgbClr val="000000"/>
                </a:solidFill>
                <a:latin typeface="Arial"/>
                <a:ea typeface="Arial"/>
                <a:cs typeface="Arial"/>
                <a:sym typeface="Arial"/>
              </a:rPr>
              <a:t> Tỷ lệ Tín hiệu trên Nhiễu (SNR) giảm mạnh. Thiết bị thu không thể phân biệt đâu là dữ liệu thật, đâu là nhiễu nền -&gt; Mất kết nối.</a:t>
            </a:r>
            <a:endParaRPr b="0" i="0" sz="2000" u="none" cap="none" strike="noStrike">
              <a:solidFill>
                <a:srgbClr val="000000"/>
              </a:solidFill>
              <a:latin typeface="Arial"/>
              <a:ea typeface="Arial"/>
              <a:cs typeface="Arial"/>
              <a:sym typeface="Arial"/>
            </a:endParaRPr>
          </a:p>
        </p:txBody>
      </p:sp>
      <p:pic>
        <p:nvPicPr>
          <p:cNvPr descr="10" id="269" name="Google Shape;269;p28"/>
          <p:cNvPicPr preferRelativeResize="0"/>
          <p:nvPr/>
        </p:nvPicPr>
        <p:blipFill rotWithShape="1">
          <a:blip r:embed="rId3">
            <a:alphaModFix/>
          </a:blip>
          <a:srcRect b="0" l="0" r="0" t="0"/>
          <a:stretch/>
        </p:blipFill>
        <p:spPr>
          <a:xfrm>
            <a:off x="297180" y="1285240"/>
            <a:ext cx="5822950" cy="28956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9"/>
          <p:cNvSpPr txBox="1"/>
          <p:nvPr>
            <p:ph type="title"/>
          </p:nvPr>
        </p:nvSpPr>
        <p:spPr>
          <a:xfrm>
            <a:off x="-267" y="152300"/>
            <a:ext cx="10184163" cy="68103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sz="3100">
                <a:solidFill>
                  <a:schemeClr val="lt1"/>
                </a:solidFill>
                <a:latin typeface="Times New Roman"/>
                <a:ea typeface="Times New Roman"/>
                <a:cs typeface="Times New Roman"/>
                <a:sym typeface="Times New Roman"/>
              </a:rPr>
              <a:t>Hậu quả</a:t>
            </a:r>
            <a:br>
              <a:rPr b="1" lang="en-US"/>
            </a:br>
            <a:endParaRPr b="1" sz="2400">
              <a:solidFill>
                <a:srgbClr val="002060"/>
              </a:solidFill>
              <a:latin typeface="Times New Roman"/>
              <a:ea typeface="Times New Roman"/>
              <a:cs typeface="Times New Roman"/>
              <a:sym typeface="Times New Roman"/>
            </a:endParaRPr>
          </a:p>
        </p:txBody>
      </p:sp>
      <p:sp>
        <p:nvSpPr>
          <p:cNvPr id="275" name="Google Shape;275;p29"/>
          <p:cNvSpPr txBox="1"/>
          <p:nvPr/>
        </p:nvSpPr>
        <p:spPr>
          <a:xfrm>
            <a:off x="374650" y="1126490"/>
            <a:ext cx="11480165" cy="394589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Mất kết nối hoàn toàn: </a:t>
            </a:r>
            <a:r>
              <a:rPr b="0" i="0" lang="en-US" sz="2400" u="none" cap="none" strike="noStrike">
                <a:solidFill>
                  <a:srgbClr val="000000"/>
                </a:solidFill>
                <a:latin typeface="Arial"/>
                <a:ea typeface="Arial"/>
                <a:cs typeface="Arial"/>
                <a:sym typeface="Arial"/>
              </a:rPr>
              <a:t>Camera an ninh bị "mù", cảm biến cửa bị cô lập với trung tâm. Kẻ trộm thường dùng cách này để vô hiệu hóa báo động trước khi đột nhập.</a:t>
            </a:r>
            <a:endParaRPr b="0" i="0" sz="24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Tiêu tốn năng lượng:</a:t>
            </a:r>
            <a:r>
              <a:rPr b="0" i="0" lang="en-US" sz="2400" u="none" cap="none" strike="noStrike">
                <a:solidFill>
                  <a:srgbClr val="000000"/>
                </a:solidFill>
                <a:latin typeface="Arial"/>
                <a:ea typeface="Arial"/>
                <a:cs typeface="Arial"/>
                <a:sym typeface="Arial"/>
              </a:rPr>
              <a:t> Thiết bị IoT (như Zigbee sensor) sẽ cố gắng phát lại gói tin (Retransmission) liên tục do gửi lỗi, dẫn đến việc pin bị rút cạn trong vài giờ.</a:t>
            </a:r>
            <a:endParaRPr b="0" i="0" sz="24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Khó phát hiện:</a:t>
            </a:r>
            <a:r>
              <a:rPr b="0" i="0" lang="en-US" sz="2400" u="none" cap="none" strike="noStrike">
                <a:solidFill>
                  <a:srgbClr val="000000"/>
                </a:solidFill>
                <a:latin typeface="Arial"/>
                <a:ea typeface="Arial"/>
                <a:cs typeface="Arial"/>
                <a:sym typeface="Arial"/>
              </a:rPr>
              <a:t> Khác với cắt dây cáp, jamming không để lại dấu vết vật lý rõ ràng sau khi kẻ tấn công tắt thiết bị gây nhiễu.</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0"/>
          <p:cNvSpPr txBox="1"/>
          <p:nvPr>
            <p:ph type="title"/>
          </p:nvPr>
        </p:nvSpPr>
        <p:spPr>
          <a:xfrm>
            <a:off x="-267" y="67845"/>
            <a:ext cx="10184163" cy="68103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100"/>
              <a:buFont typeface="Times New Roman"/>
              <a:buNone/>
            </a:pPr>
            <a:r>
              <a:rPr b="1" lang="en-US" sz="3100">
                <a:solidFill>
                  <a:schemeClr val="lt1"/>
                </a:solidFill>
                <a:latin typeface="Arial"/>
                <a:ea typeface="Arial"/>
                <a:cs typeface="Arial"/>
                <a:sym typeface="Arial"/>
              </a:rPr>
              <a:t>Biện pháp phòng ngừa</a:t>
            </a:r>
            <a:endParaRPr b="1" sz="3100">
              <a:solidFill>
                <a:schemeClr val="lt1"/>
              </a:solidFill>
              <a:latin typeface="Arial"/>
              <a:ea typeface="Arial"/>
              <a:cs typeface="Arial"/>
              <a:sym typeface="Arial"/>
            </a:endParaRPr>
          </a:p>
        </p:txBody>
      </p:sp>
      <p:sp>
        <p:nvSpPr>
          <p:cNvPr id="281" name="Google Shape;281;p30"/>
          <p:cNvSpPr txBox="1"/>
          <p:nvPr/>
        </p:nvSpPr>
        <p:spPr>
          <a:xfrm>
            <a:off x="99060" y="1221105"/>
            <a:ext cx="11511280" cy="489267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Nhảy tần (Frequency Hopping - FHSS):</a:t>
            </a:r>
            <a:r>
              <a:rPr b="0" i="0" lang="en-US" sz="2400" u="none" cap="none" strike="noStrike">
                <a:solidFill>
                  <a:srgbClr val="000000"/>
                </a:solidFill>
                <a:latin typeface="Arial"/>
                <a:ea typeface="Arial"/>
                <a:cs typeface="Arial"/>
                <a:sym typeface="Arial"/>
              </a:rPr>
              <a:t> (Như trong Bluetooth) Thiết bị liên tục thay đổi tần số truyền theo một chuỗi giả ngẫu nhiên. Nếu một tần số bị nhiễu, nó sẽ nhảy sang tần số khác.</a:t>
            </a:r>
            <a:endParaRPr b="0" i="0" sz="24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Cơ chế "Nhịp tim" (Heartbeat/Keep-alive): </a:t>
            </a:r>
            <a:r>
              <a:rPr b="0" i="0" lang="en-US" sz="2400" u="none" cap="none" strike="noStrike">
                <a:solidFill>
                  <a:srgbClr val="000000"/>
                </a:solidFill>
                <a:latin typeface="Arial"/>
                <a:ea typeface="Arial"/>
                <a:cs typeface="Arial"/>
                <a:sym typeface="Arial"/>
              </a:rPr>
              <a:t>Gateway phải liên tục kiểm tra tín hiệu từ cảm biến. Nếu cảm biến "im lặng" quá thời gian quy định, Gateway phải kích hoạt báo động "Mất kết nối/Nghi ngờ bị phá sóng" ngay lập tức .</a:t>
            </a:r>
            <a:endParaRPr b="0" i="0" sz="24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Sử dụng băng tần ít phổ biến: </a:t>
            </a:r>
            <a:r>
              <a:rPr b="0" i="0" lang="en-US" sz="2400" u="none" cap="none" strike="noStrike">
                <a:solidFill>
                  <a:srgbClr val="000000"/>
                </a:solidFill>
                <a:latin typeface="Arial"/>
                <a:ea typeface="Arial"/>
                <a:cs typeface="Arial"/>
                <a:sym typeface="Arial"/>
              </a:rPr>
              <a:t>Dùng 5GHz (Wifi) hoặc Sub-GHz (LoRa) để tránh dải 2.4GHz quá đông đúc.</a:t>
            </a:r>
            <a:endParaRPr b="0" i="0" sz="24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Kết nối dự phòng có dây:</a:t>
            </a:r>
            <a:r>
              <a:rPr b="0" i="0" lang="en-US" sz="2400" u="none" cap="none" strike="noStrike">
                <a:solidFill>
                  <a:srgbClr val="000000"/>
                </a:solidFill>
                <a:latin typeface="Arial"/>
                <a:ea typeface="Arial"/>
                <a:cs typeface="Arial"/>
                <a:sym typeface="Arial"/>
              </a:rPr>
              <a:t> Đối với các thiết bị an ninh tối mật, luôn ưu tiên hoặc dự phòng bằng đường dây LAN/RS485.</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1"/>
          <p:cNvSpPr txBox="1"/>
          <p:nvPr>
            <p:ph idx="12" type="sldNum"/>
          </p:nvPr>
        </p:nvSpPr>
        <p:spPr>
          <a:xfrm>
            <a:off x="9338569" y="6414022"/>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Verdana"/>
              <a:buNone/>
            </a:pPr>
            <a:fld id="{00000000-1234-1234-1234-123412341234}" type="slidenum">
              <a:rPr b="0" i="0" lang="en-US" sz="1400" u="none" cap="none" strike="noStrike">
                <a:solidFill>
                  <a:schemeClr val="dk1"/>
                </a:solidFill>
                <a:latin typeface="Verdana"/>
                <a:ea typeface="Verdana"/>
                <a:cs typeface="Verdana"/>
                <a:sym typeface="Verdana"/>
              </a:rPr>
              <a:t>‹#›</a:t>
            </a:fld>
            <a:endParaRPr b="0" i="0" sz="1400" u="none" cap="none" strike="noStrike">
              <a:solidFill>
                <a:schemeClr val="dk1"/>
              </a:solidFill>
              <a:latin typeface="Verdana"/>
              <a:ea typeface="Verdana"/>
              <a:cs typeface="Verdana"/>
              <a:sym typeface="Verdana"/>
            </a:endParaRPr>
          </a:p>
        </p:txBody>
      </p:sp>
      <p:sp>
        <p:nvSpPr>
          <p:cNvPr id="288" name="Google Shape;288;p31"/>
          <p:cNvSpPr txBox="1"/>
          <p:nvPr>
            <p:ph type="title"/>
          </p:nvPr>
        </p:nvSpPr>
        <p:spPr>
          <a:xfrm>
            <a:off x="134244" y="153956"/>
            <a:ext cx="9918441" cy="609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Arial"/>
              <a:buNone/>
            </a:pPr>
            <a:r>
              <a:rPr b="1" lang="en-US" sz="4000">
                <a:solidFill>
                  <a:schemeClr val="lt1"/>
                </a:solidFill>
                <a:latin typeface="Arial"/>
                <a:ea typeface="Arial"/>
                <a:cs typeface="Arial"/>
                <a:sym typeface="Arial"/>
              </a:rPr>
              <a:t>Review – Nguyên tắc bảo mật cơ bản</a:t>
            </a:r>
            <a:endParaRPr b="1" sz="4000">
              <a:solidFill>
                <a:schemeClr val="lt1"/>
              </a:solidFill>
              <a:latin typeface="Arial"/>
              <a:ea typeface="Arial"/>
              <a:cs typeface="Arial"/>
              <a:sym typeface="Arial"/>
            </a:endParaRPr>
          </a:p>
        </p:txBody>
      </p:sp>
      <p:graphicFrame>
        <p:nvGraphicFramePr>
          <p:cNvPr id="289" name="Google Shape;289;p31"/>
          <p:cNvGraphicFramePr/>
          <p:nvPr/>
        </p:nvGraphicFramePr>
        <p:xfrm>
          <a:off x="534670" y="1031240"/>
          <a:ext cx="3000000" cy="3000000"/>
        </p:xfrm>
        <a:graphic>
          <a:graphicData uri="http://schemas.openxmlformats.org/drawingml/2006/table">
            <a:tbl>
              <a:tblPr bandRow="1" firstRow="1">
                <a:noFill/>
                <a:tableStyleId>{93BCA32F-9013-498E-886E-8B101F2C3CD9}</a:tableStyleId>
              </a:tblPr>
              <a:tblGrid>
                <a:gridCol w="2297425"/>
                <a:gridCol w="6869425"/>
                <a:gridCol w="1936750"/>
              </a:tblGrid>
              <a:tr h="400675">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Nguyên tắc</a:t>
                      </a:r>
                      <a:endParaRPr sz="1600" u="none" cap="none" strike="noStrike">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Định nghĩa</a:t>
                      </a:r>
                      <a:endParaRPr sz="1600" u="none" cap="none" strike="noStrike">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83625">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Tính bí mật</a:t>
                      </a:r>
                      <a:endParaRPr sz="16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(Confidentiality)</a:t>
                      </a:r>
                      <a:endParaRPr sz="1600" u="none" cap="none" strike="noStrike">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Đảm bảo thông tin không bị tiết lộ, xem trộm hoặc tiếp cận bởi các bên không được cấp phép (chỉ người có quyền mới đọc được).</a:t>
                      </a:r>
                      <a:endParaRPr sz="1600" u="none" cap="none" strike="noStrike">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921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Tính toàn vẹn</a:t>
                      </a:r>
                      <a:endParaRPr sz="16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(Integrity)</a:t>
                      </a:r>
                      <a:endParaRPr sz="1600" u="none" cap="none" strike="noStrike">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Đảm bảo dữ liệu không bị thay đổi, chỉnh sửa hoặc phá hủy trái phép trong quá trình truyền tải và lưu trữ (dữ liệu đến nơi y nguyên như lúc gửi).</a:t>
                      </a:r>
                      <a:endParaRPr sz="1600" u="none" cap="none" strike="noStrike">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91525">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Tính sẵn sàng</a:t>
                      </a:r>
                      <a:endParaRPr sz="16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(Availability)</a:t>
                      </a:r>
                      <a:endParaRPr sz="1600" u="none" cap="none" strike="noStrike">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Đảm bảo hệ thống, dịch vụ và dữ liệu luôn hoạt động ổn định và có thể truy cập được bất cứ khi nào người dùng hoặc thiết bị cần.</a:t>
                      </a:r>
                      <a:endParaRPr sz="1600" u="none" cap="none" strike="noStrike">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921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Xác thực</a:t>
                      </a:r>
                      <a:endParaRPr sz="16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(Authentication)</a:t>
                      </a:r>
                      <a:endParaRPr sz="1600" u="none" cap="none" strike="noStrike">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Quá trình xác minh danh tính của người dùng hoặc thiết bị để đảm bảo họ đúng là đối tượng mà họ khai báo (trả lời câu hỏi "Bạn là ai?").</a:t>
                      </a:r>
                      <a:endParaRPr sz="1600" u="none" cap="none" strike="noStrike">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0170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Phân quyền</a:t>
                      </a:r>
                      <a:endParaRPr sz="16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(Authorization)</a:t>
                      </a:r>
                      <a:endParaRPr sz="1600" u="none" cap="none" strike="noStrike">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Quy định và kiểm soát các quyền hạn cụ thể (như đọc, ghi, xóa...) cho đối tượng sau khi đã xác thực thành công (trả lời câu hỏi "Bạn được phép làm gì?").</a:t>
                      </a:r>
                      <a:endParaRPr sz="1600" u="none" cap="none" strike="noStrike">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921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Tính không thể chối bỏ</a:t>
                      </a:r>
                      <a:endParaRPr sz="16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(Non-repudiation)</a:t>
                      </a:r>
                      <a:endParaRPr sz="1600" u="none" cap="none" strike="noStrike">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Đảm bảo người gửi hoặc người thực hiện hành động không thể phủ nhận việc mình đã làm, cung cấp bằng chứng xác thực về nguồn gốc dữ liệu.</a:t>
                      </a:r>
                      <a:endParaRPr sz="1600" u="none" cap="none" strike="noStrike">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2"/>
          <p:cNvSpPr txBox="1"/>
          <p:nvPr>
            <p:ph type="title"/>
          </p:nvPr>
        </p:nvSpPr>
        <p:spPr>
          <a:xfrm>
            <a:off x="-132347" y="152300"/>
            <a:ext cx="10184163" cy="68103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sz="3100">
                <a:latin typeface="Times New Roman"/>
                <a:ea typeface="Times New Roman"/>
                <a:cs typeface="Times New Roman"/>
                <a:sym typeface="Times New Roman"/>
              </a:rPr>
              <a:t> </a:t>
            </a:r>
            <a:br>
              <a:rPr b="1" lang="en-US"/>
            </a:br>
            <a:endParaRPr b="1" sz="2400">
              <a:solidFill>
                <a:srgbClr val="002060"/>
              </a:solidFill>
              <a:latin typeface="Times New Roman"/>
              <a:ea typeface="Times New Roman"/>
              <a:cs typeface="Times New Roman"/>
              <a:sym typeface="Times New Roman"/>
            </a:endParaRPr>
          </a:p>
        </p:txBody>
      </p:sp>
      <p:sp>
        <p:nvSpPr>
          <p:cNvPr id="295" name="Google Shape;295;p32"/>
          <p:cNvSpPr txBox="1"/>
          <p:nvPr/>
        </p:nvSpPr>
        <p:spPr>
          <a:xfrm>
            <a:off x="454025" y="2517140"/>
            <a:ext cx="8780780" cy="132207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000000"/>
                </a:solidFill>
                <a:latin typeface="Arial"/>
                <a:ea typeface="Arial"/>
                <a:cs typeface="Arial"/>
                <a:sym typeface="Arial"/>
              </a:rPr>
              <a:t>Các giải pháp và kỹ thuật bảo mật trong truyền thông</a:t>
            </a:r>
            <a:endParaRPr b="1" i="0" sz="40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3"/>
          <p:cNvSpPr txBox="1"/>
          <p:nvPr>
            <p:ph type="title"/>
          </p:nvPr>
        </p:nvSpPr>
        <p:spPr>
          <a:xfrm>
            <a:off x="134244" y="153956"/>
            <a:ext cx="9918441" cy="609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Arial"/>
              <a:buNone/>
            </a:pPr>
            <a:r>
              <a:rPr b="1" lang="en-US" sz="4000">
                <a:solidFill>
                  <a:schemeClr val="lt1"/>
                </a:solidFill>
                <a:latin typeface="Arial"/>
                <a:ea typeface="Arial"/>
                <a:cs typeface="Arial"/>
                <a:sym typeface="Arial"/>
              </a:rPr>
              <a:t>Mã hóa - Đối xứng</a:t>
            </a:r>
            <a:endParaRPr b="1" sz="4000">
              <a:solidFill>
                <a:schemeClr val="lt1"/>
              </a:solidFill>
              <a:latin typeface="Arial"/>
              <a:ea typeface="Arial"/>
              <a:cs typeface="Arial"/>
              <a:sym typeface="Arial"/>
            </a:endParaRPr>
          </a:p>
        </p:txBody>
      </p:sp>
      <p:sp>
        <p:nvSpPr>
          <p:cNvPr id="301" name="Google Shape;301;p33"/>
          <p:cNvSpPr txBox="1"/>
          <p:nvPr/>
        </p:nvSpPr>
        <p:spPr>
          <a:xfrm>
            <a:off x="417875" y="836850"/>
            <a:ext cx="9634800" cy="53205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140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Đặc điểm:</a:t>
            </a:r>
            <a:endParaRPr b="1" i="0" sz="2000" u="none" cap="none" strike="noStrike">
              <a:solidFill>
                <a:schemeClr val="dk1"/>
              </a:solidFill>
              <a:latin typeface="Arial"/>
              <a:ea typeface="Arial"/>
              <a:cs typeface="Arial"/>
              <a:sym typeface="Arial"/>
            </a:endParaRPr>
          </a:p>
          <a:p>
            <a:pPr indent="-355600" lvl="0" marL="457200" marR="0" rtl="0" algn="l">
              <a:lnSpc>
                <a:spcPct val="115000"/>
              </a:lnSpc>
              <a:spcBef>
                <a:spcPts val="1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Dùng một khóa bí mật chung cho cả mã hóa và giải mã</a:t>
            </a:r>
            <a:endParaRPr b="0" i="0" sz="2000" u="none" cap="none" strike="noStrike">
              <a:solidFill>
                <a:schemeClr val="dk1"/>
              </a:solidFill>
              <a:latin typeface="Arial"/>
              <a:ea typeface="Arial"/>
              <a:cs typeface="Arial"/>
              <a:sym typeface="Arial"/>
            </a:endParaRPr>
          </a:p>
          <a:p>
            <a:pPr indent="-355600" lvl="0" marL="457200" marR="0" rtl="0" algn="l">
              <a:lnSpc>
                <a:spcPct val="115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Thuật toán phổ biến: AES (Advanced Encryption Standard)</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AES trong IoT:</a:t>
            </a:r>
            <a:endParaRPr b="1" i="0" sz="2000" u="none" cap="none" strike="noStrike">
              <a:solidFill>
                <a:schemeClr val="dk1"/>
              </a:solidFill>
              <a:latin typeface="Arial"/>
              <a:ea typeface="Arial"/>
              <a:cs typeface="Arial"/>
              <a:sym typeface="Arial"/>
            </a:endParaRPr>
          </a:p>
          <a:p>
            <a:pPr indent="-355600" lvl="0" marL="457200" marR="0" rtl="0" algn="l">
              <a:lnSpc>
                <a:spcPct val="115000"/>
              </a:lnSpc>
              <a:spcBef>
                <a:spcPts val="1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AES-128: phổ biến nhất trong IoT</a:t>
            </a:r>
            <a:endParaRPr b="0" i="0" sz="2000" u="none" cap="none" strike="noStrike">
              <a:solidFill>
                <a:schemeClr val="dk1"/>
              </a:solidFill>
              <a:latin typeface="Arial"/>
              <a:ea typeface="Arial"/>
              <a:cs typeface="Arial"/>
              <a:sym typeface="Arial"/>
            </a:endParaRPr>
          </a:p>
          <a:p>
            <a:pPr indent="-355600" lvl="0" marL="457200" marR="0" rtl="0" algn="l">
              <a:lnSpc>
                <a:spcPct val="115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AES-256: bảo mật cao hơn, tốn tài nguyên hơn</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 Ưu điểm:</a:t>
            </a:r>
            <a:endParaRPr b="1" i="0" sz="2000" u="none" cap="none" strike="noStrike">
              <a:solidFill>
                <a:schemeClr val="dk1"/>
              </a:solidFill>
              <a:latin typeface="Arial"/>
              <a:ea typeface="Arial"/>
              <a:cs typeface="Arial"/>
              <a:sym typeface="Arial"/>
            </a:endParaRPr>
          </a:p>
          <a:p>
            <a:pPr indent="-355600" lvl="0" marL="457200" marR="0" rtl="0" algn="l">
              <a:lnSpc>
                <a:spcPct val="115000"/>
              </a:lnSpc>
              <a:spcBef>
                <a:spcPts val="1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Tốc độ nhanh</a:t>
            </a:r>
            <a:endParaRPr b="0" i="0" sz="2000" u="none" cap="none" strike="noStrike">
              <a:solidFill>
                <a:schemeClr val="dk1"/>
              </a:solidFill>
              <a:latin typeface="Arial"/>
              <a:ea typeface="Arial"/>
              <a:cs typeface="Arial"/>
              <a:sym typeface="Arial"/>
            </a:endParaRPr>
          </a:p>
          <a:p>
            <a:pPr indent="-355600" lvl="0" marL="457200" marR="0" rtl="0" algn="l">
              <a:lnSpc>
                <a:spcPct val="115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Tiết kiệm CPU, RAM</a:t>
            </a:r>
            <a:endParaRPr b="0" i="0" sz="2000" u="none" cap="none" strike="noStrike">
              <a:solidFill>
                <a:schemeClr val="dk1"/>
              </a:solidFill>
              <a:latin typeface="Arial"/>
              <a:ea typeface="Arial"/>
              <a:cs typeface="Arial"/>
              <a:sym typeface="Arial"/>
            </a:endParaRPr>
          </a:p>
          <a:p>
            <a:pPr indent="-355600" lvl="0" marL="457200" marR="0" rtl="0" algn="l">
              <a:lnSpc>
                <a:spcPct val="115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Phù hợp thiết bị IoT hạn chế tài nguyên</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Nhược điểm: </a:t>
            </a:r>
            <a:r>
              <a:rPr b="0" i="0" lang="en-US" sz="2000" u="none" cap="none" strike="noStrike">
                <a:solidFill>
                  <a:schemeClr val="dk1"/>
                </a:solidFill>
                <a:latin typeface="Arial"/>
                <a:ea typeface="Arial"/>
                <a:cs typeface="Arial"/>
                <a:sym typeface="Arial"/>
              </a:rPr>
              <a:t>Vấn đề phân phối khóa an toàn</a:t>
            </a:r>
            <a:endParaRPr b="0" i="0" sz="2000" u="none" cap="none" strike="noStrike">
              <a:solidFill>
                <a:schemeClr val="dk1"/>
              </a:solidFill>
              <a:latin typeface="Arial"/>
              <a:ea typeface="Arial"/>
              <a:cs typeface="Arial"/>
              <a:sym typeface="Arial"/>
            </a:endParaRPr>
          </a:p>
          <a:p>
            <a:pPr indent="0" lvl="0" marL="0" marR="0" rtl="0" algn="l">
              <a:lnSpc>
                <a:spcPct val="150000"/>
              </a:lnSpc>
              <a:spcBef>
                <a:spcPts val="400"/>
              </a:spcBef>
              <a:spcAft>
                <a:spcPts val="0"/>
              </a:spcAft>
              <a:buClr>
                <a:srgbClr val="000000"/>
              </a:buClr>
              <a:buSzPts val="2000"/>
              <a:buFont typeface="Arial"/>
              <a:buNone/>
            </a:pPr>
            <a:r>
              <a:t/>
            </a:r>
            <a:endParaRPr b="1" i="0" sz="2000" u="none" cap="none" strike="noStrike">
              <a:solidFill>
                <a:schemeClr val="dk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4"/>
          <p:cNvSpPr txBox="1"/>
          <p:nvPr/>
        </p:nvSpPr>
        <p:spPr>
          <a:xfrm>
            <a:off x="528950" y="703575"/>
            <a:ext cx="9258300" cy="58029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140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Đặc điểm:</a:t>
            </a:r>
            <a:endParaRPr b="1" i="0" sz="20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Dùng cặp khóa: Public key, Private key</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Thuật toán phổ biến:</a:t>
            </a:r>
            <a:endParaRPr b="1" i="0" sz="2000" u="none" cap="none" strike="noStrike">
              <a:solidFill>
                <a:schemeClr val="dk1"/>
              </a:solidFill>
              <a:latin typeface="Arial"/>
              <a:ea typeface="Arial"/>
              <a:cs typeface="Arial"/>
              <a:sym typeface="Arial"/>
            </a:endParaRPr>
          </a:p>
          <a:p>
            <a:pPr indent="-355600" lvl="0" marL="457200" marR="0" rtl="0" algn="l">
              <a:lnSpc>
                <a:spcPct val="115000"/>
              </a:lnSpc>
              <a:spcBef>
                <a:spcPts val="14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RSA ( Rivest–Shamir–Adleman ): Dựa trên bài toán phân tích số lớn, khóa dài (2048–4096 bit)</a:t>
            </a:r>
            <a:endParaRPr b="0" i="0" sz="2000" u="none" cap="none" strike="noStrike">
              <a:solidFill>
                <a:schemeClr val="dk1"/>
              </a:solidFill>
              <a:latin typeface="Arial"/>
              <a:ea typeface="Arial"/>
              <a:cs typeface="Arial"/>
              <a:sym typeface="Arial"/>
            </a:endParaRPr>
          </a:p>
          <a:p>
            <a:pPr indent="-355600" lvl="0" marL="457200" marR="0" rtl="0" algn="l">
              <a:lnSpc>
                <a:spcPct val="115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ECC ( Elliptic Curve Cryptography ):</a:t>
            </a:r>
            <a:r>
              <a:rPr b="1" i="0" lang="en-US" sz="2000" u="none" cap="none" strike="noStrike">
                <a:solidFill>
                  <a:schemeClr val="dk1"/>
                </a:solidFill>
                <a:latin typeface="Arial"/>
                <a:ea typeface="Arial"/>
                <a:cs typeface="Arial"/>
                <a:sym typeface="Arial"/>
              </a:rPr>
              <a:t> </a:t>
            </a:r>
            <a:r>
              <a:rPr b="0" i="0" lang="en-US" sz="2000" u="none" cap="none" strike="noStrike">
                <a:solidFill>
                  <a:schemeClr val="dk1"/>
                </a:solidFill>
                <a:latin typeface="Arial"/>
                <a:ea typeface="Arial"/>
                <a:cs typeface="Arial"/>
                <a:sym typeface="Arial"/>
              </a:rPr>
              <a:t>Bảo mật tương đương RSA nhưng khóa ngắn hơn, rất phù hợp cho IoT</a:t>
            </a:r>
            <a:endParaRPr b="1" i="0" sz="20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 Ưu điểm:</a:t>
            </a:r>
            <a:endParaRPr b="1" i="0" sz="2000" u="none" cap="none" strike="noStrike">
              <a:solidFill>
                <a:schemeClr val="dk1"/>
              </a:solidFill>
              <a:latin typeface="Arial"/>
              <a:ea typeface="Arial"/>
              <a:cs typeface="Arial"/>
              <a:sym typeface="Arial"/>
            </a:endParaRPr>
          </a:p>
          <a:p>
            <a:pPr indent="-355600" lvl="0" marL="457200" marR="0" rtl="0" algn="l">
              <a:lnSpc>
                <a:spcPct val="115000"/>
              </a:lnSpc>
              <a:spcBef>
                <a:spcPts val="1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Phân phối khóa an toàn</a:t>
            </a:r>
            <a:endParaRPr b="0" i="0" sz="2000" u="none" cap="none" strike="noStrike">
              <a:solidFill>
                <a:schemeClr val="dk1"/>
              </a:solidFill>
              <a:latin typeface="Arial"/>
              <a:ea typeface="Arial"/>
              <a:cs typeface="Arial"/>
              <a:sym typeface="Arial"/>
            </a:endParaRPr>
          </a:p>
          <a:p>
            <a:pPr indent="-355600" lvl="0" marL="457200" marR="0" rtl="0" algn="l">
              <a:lnSpc>
                <a:spcPct val="115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Hỗ trợ xác thực mạnh</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Nhược điểm:</a:t>
            </a:r>
            <a:endParaRPr b="1" i="0" sz="2000" u="none" cap="none" strike="noStrike">
              <a:solidFill>
                <a:schemeClr val="dk1"/>
              </a:solidFill>
              <a:latin typeface="Arial"/>
              <a:ea typeface="Arial"/>
              <a:cs typeface="Arial"/>
              <a:sym typeface="Arial"/>
            </a:endParaRPr>
          </a:p>
          <a:p>
            <a:pPr indent="-355600" lvl="0" marL="457200" marR="0" rtl="0" algn="l">
              <a:lnSpc>
                <a:spcPct val="115000"/>
              </a:lnSpc>
              <a:spcBef>
                <a:spcPts val="1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Tốn tài nguyên</a:t>
            </a:r>
            <a:endParaRPr b="0" i="0" sz="2000" u="none" cap="none" strike="noStrike">
              <a:solidFill>
                <a:schemeClr val="dk1"/>
              </a:solidFill>
              <a:latin typeface="Arial"/>
              <a:ea typeface="Arial"/>
              <a:cs typeface="Arial"/>
              <a:sym typeface="Arial"/>
            </a:endParaRPr>
          </a:p>
          <a:p>
            <a:pPr indent="-355600" lvl="0" marL="457200" marR="0" rtl="0" algn="l">
              <a:lnSpc>
                <a:spcPct val="115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Chậm hơn AES</a:t>
            </a:r>
            <a:endParaRPr b="1" i="0" sz="2000" u="none" cap="none" strike="noStrike">
              <a:solidFill>
                <a:schemeClr val="dk1"/>
              </a:solidFill>
              <a:latin typeface="Arial"/>
              <a:ea typeface="Arial"/>
              <a:cs typeface="Arial"/>
              <a:sym typeface="Arial"/>
            </a:endParaRPr>
          </a:p>
        </p:txBody>
      </p:sp>
      <p:sp>
        <p:nvSpPr>
          <p:cNvPr id="307" name="Google Shape;307;p34"/>
          <p:cNvSpPr txBox="1"/>
          <p:nvPr/>
        </p:nvSpPr>
        <p:spPr>
          <a:xfrm>
            <a:off x="106045" y="58420"/>
            <a:ext cx="6096000" cy="64516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lt1"/>
              </a:buClr>
              <a:buSzPts val="3200"/>
              <a:buFont typeface="Arial"/>
              <a:buNone/>
            </a:pPr>
            <a:r>
              <a:rPr b="1" i="0" lang="en-US" sz="4000" u="none" cap="none" strike="noStrike">
                <a:solidFill>
                  <a:schemeClr val="lt1"/>
                </a:solidFill>
                <a:latin typeface="Arial"/>
                <a:ea typeface="Arial"/>
                <a:cs typeface="Arial"/>
                <a:sym typeface="Arial"/>
              </a:rPr>
              <a:t>Mã hóa - Bất đối xứng </a:t>
            </a:r>
            <a:endParaRPr b="1" i="0" sz="4000" u="none" cap="none" strike="noStrike">
              <a:solidFill>
                <a:schemeClr val="lt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5"/>
          <p:cNvSpPr txBox="1"/>
          <p:nvPr>
            <p:ph type="title"/>
          </p:nvPr>
        </p:nvSpPr>
        <p:spPr>
          <a:xfrm>
            <a:off x="0" y="2"/>
            <a:ext cx="9246000" cy="689400"/>
          </a:xfrm>
          <a:prstGeom prst="rect">
            <a:avLst/>
          </a:prstGeom>
          <a:noFill/>
          <a:ln>
            <a:noFill/>
          </a:ln>
        </p:spPr>
        <p:txBody>
          <a:bodyPr anchorCtr="0" anchor="ctr" bIns="45700" lIns="91425" spcFirstLastPara="1" rIns="91425" wrap="square" tIns="45700">
            <a:noAutofit/>
          </a:bodyPr>
          <a:lstStyle/>
          <a:p>
            <a:pPr indent="269875" lvl="0" marL="0" rtl="0" algn="just">
              <a:lnSpc>
                <a:spcPct val="120000"/>
              </a:lnSpc>
              <a:spcBef>
                <a:spcPts val="300"/>
              </a:spcBef>
              <a:spcAft>
                <a:spcPts val="300"/>
              </a:spcAft>
              <a:buClr>
                <a:schemeClr val="dk1"/>
              </a:buClr>
              <a:buSzPts val="1100"/>
              <a:buFont typeface="Arial"/>
              <a:buNone/>
            </a:pPr>
            <a:r>
              <a:rPr lang="en-US" sz="3600">
                <a:solidFill>
                  <a:schemeClr val="lt1"/>
                </a:solidFill>
                <a:latin typeface="Arial"/>
                <a:ea typeface="Arial"/>
                <a:cs typeface="Arial"/>
                <a:sym typeface="Arial"/>
              </a:rPr>
              <a:t>Giao thức bảo mật tầng Transport - TLS</a:t>
            </a:r>
            <a:endParaRPr sz="3600">
              <a:solidFill>
                <a:schemeClr val="lt1"/>
              </a:solidFill>
              <a:latin typeface="Arial"/>
              <a:ea typeface="Arial"/>
              <a:cs typeface="Arial"/>
              <a:sym typeface="Arial"/>
            </a:endParaRPr>
          </a:p>
        </p:txBody>
      </p:sp>
      <p:sp>
        <p:nvSpPr>
          <p:cNvPr id="313" name="Google Shape;313;p35"/>
          <p:cNvSpPr txBox="1"/>
          <p:nvPr>
            <p:ph idx="1" type="body"/>
          </p:nvPr>
        </p:nvSpPr>
        <p:spPr>
          <a:xfrm>
            <a:off x="82625" y="689400"/>
            <a:ext cx="11271300" cy="6042900"/>
          </a:xfrm>
          <a:prstGeom prst="rect">
            <a:avLst/>
          </a:prstGeom>
          <a:noFill/>
          <a:ln>
            <a:noFill/>
          </a:ln>
        </p:spPr>
        <p:txBody>
          <a:bodyPr anchorCtr="0" anchor="t" bIns="45700" lIns="91425" spcFirstLastPara="1" rIns="91425" wrap="square" tIns="45700">
            <a:normAutofit fontScale="92500" lnSpcReduction="20000"/>
          </a:bodyPr>
          <a:lstStyle/>
          <a:p>
            <a:pPr indent="-228600" lvl="0" marL="457200" rtl="0" algn="l">
              <a:lnSpc>
                <a:spcPct val="115000"/>
              </a:lnSpc>
              <a:spcBef>
                <a:spcPts val="1000"/>
              </a:spcBef>
              <a:spcAft>
                <a:spcPts val="0"/>
              </a:spcAft>
              <a:buClr>
                <a:schemeClr val="dk1"/>
              </a:buClr>
              <a:buSzPct val="77125"/>
              <a:buNone/>
            </a:pPr>
            <a:r>
              <a:rPr b="1" lang="en-US" sz="2333">
                <a:latin typeface="Arial"/>
                <a:ea typeface="Arial"/>
                <a:cs typeface="Arial"/>
                <a:sym typeface="Arial"/>
              </a:rPr>
              <a:t>Định nghĩa: Transport Layer Security</a:t>
            </a:r>
            <a:r>
              <a:rPr lang="en-US" sz="2333">
                <a:latin typeface="Arial"/>
                <a:ea typeface="Arial"/>
                <a:cs typeface="Arial"/>
                <a:sym typeface="Arial"/>
              </a:rPr>
              <a:t> là giao thức bảo mật hoạt động ở tầng Transport, dùng để mã hóa và bảo vệ dữ liệu truyền qua TCP, đảm bảo tính bảo mật – toàn vẹn – xác thực trong truyền thông mạng.</a:t>
            </a:r>
            <a:endParaRPr sz="2333">
              <a:latin typeface="Arial"/>
              <a:ea typeface="Arial"/>
              <a:cs typeface="Arial"/>
              <a:sym typeface="Arial"/>
            </a:endParaRPr>
          </a:p>
          <a:p>
            <a:pPr indent="-228600" lvl="0" marL="457200" rtl="0" algn="l">
              <a:lnSpc>
                <a:spcPct val="115000"/>
              </a:lnSpc>
              <a:spcBef>
                <a:spcPts val="1000"/>
              </a:spcBef>
              <a:spcAft>
                <a:spcPts val="0"/>
              </a:spcAft>
              <a:buClr>
                <a:schemeClr val="dk1"/>
              </a:buClr>
              <a:buSzPct val="77125"/>
              <a:buNone/>
            </a:pPr>
            <a:r>
              <a:rPr b="1" lang="en-US" sz="2333">
                <a:latin typeface="Arial"/>
                <a:ea typeface="Arial"/>
                <a:cs typeface="Arial"/>
                <a:sym typeface="Arial"/>
              </a:rPr>
              <a:t>Ưu Điểm:</a:t>
            </a:r>
            <a:r>
              <a:rPr lang="en-US" sz="2333">
                <a:latin typeface="Arial"/>
                <a:ea typeface="Arial"/>
                <a:cs typeface="Arial"/>
                <a:sym typeface="Arial"/>
              </a:rPr>
              <a:t> Bảo mật dữ liệu cảm biến, ngăn giả mạo thiết bị, bảo vệ thông tin người dùng.</a:t>
            </a:r>
            <a:endParaRPr sz="2333">
              <a:latin typeface="Arial"/>
              <a:ea typeface="Arial"/>
              <a:cs typeface="Arial"/>
              <a:sym typeface="Arial"/>
            </a:endParaRPr>
          </a:p>
          <a:p>
            <a:pPr indent="-228600" lvl="0" marL="457200" rtl="0" algn="l">
              <a:lnSpc>
                <a:spcPct val="115000"/>
              </a:lnSpc>
              <a:spcBef>
                <a:spcPts val="1000"/>
              </a:spcBef>
              <a:spcAft>
                <a:spcPts val="0"/>
              </a:spcAft>
              <a:buClr>
                <a:schemeClr val="dk1"/>
              </a:buClr>
              <a:buSzPct val="77125"/>
              <a:buNone/>
            </a:pPr>
            <a:r>
              <a:rPr b="1" lang="en-US" sz="2333">
                <a:latin typeface="Arial"/>
                <a:ea typeface="Arial"/>
                <a:cs typeface="Arial"/>
                <a:sym typeface="Arial"/>
              </a:rPr>
              <a:t>Hạn chế:</a:t>
            </a:r>
            <a:r>
              <a:rPr lang="en-US" sz="2333">
                <a:latin typeface="Arial"/>
                <a:ea typeface="Arial"/>
                <a:cs typeface="Arial"/>
                <a:sym typeface="Arial"/>
              </a:rPr>
              <a:t> Tốn RAM &amp; CPU, không phù hợp với thiết bị IoT siêu nhỏ.</a:t>
            </a:r>
            <a:endParaRPr sz="2333">
              <a:latin typeface="Arial"/>
              <a:ea typeface="Arial"/>
              <a:cs typeface="Arial"/>
              <a:sym typeface="Arial"/>
            </a:endParaRPr>
          </a:p>
          <a:p>
            <a:pPr indent="-228600" lvl="0" marL="457200" rtl="0" algn="l">
              <a:lnSpc>
                <a:spcPct val="115000"/>
              </a:lnSpc>
              <a:spcBef>
                <a:spcPts val="1000"/>
              </a:spcBef>
              <a:spcAft>
                <a:spcPts val="0"/>
              </a:spcAft>
              <a:buClr>
                <a:schemeClr val="dk1"/>
              </a:buClr>
              <a:buSzPct val="77125"/>
              <a:buNone/>
            </a:pPr>
            <a:r>
              <a:rPr b="1" lang="en-US" sz="2333">
                <a:latin typeface="Arial"/>
                <a:ea typeface="Arial"/>
                <a:cs typeface="Arial"/>
                <a:sym typeface="Arial"/>
              </a:rPr>
              <a:t>Cơ chế hoạt động:</a:t>
            </a:r>
            <a:endParaRPr b="1" sz="2333">
              <a:latin typeface="Arial"/>
              <a:ea typeface="Arial"/>
              <a:cs typeface="Arial"/>
              <a:sym typeface="Arial"/>
            </a:endParaRPr>
          </a:p>
          <a:p>
            <a:pPr indent="-228600" lvl="0" marL="457200" rtl="0" algn="l">
              <a:lnSpc>
                <a:spcPct val="115000"/>
              </a:lnSpc>
              <a:spcBef>
                <a:spcPts val="1000"/>
              </a:spcBef>
              <a:spcAft>
                <a:spcPts val="0"/>
              </a:spcAft>
              <a:buClr>
                <a:schemeClr val="dk1"/>
              </a:buClr>
              <a:buSzPct val="84675"/>
              <a:buNone/>
            </a:pPr>
            <a:r>
              <a:rPr lang="en-US" sz="2125">
                <a:latin typeface="Arial"/>
                <a:ea typeface="Arial"/>
                <a:cs typeface="Arial"/>
                <a:sym typeface="Arial"/>
              </a:rPr>
              <a:t>1. Client gửi yêu cầu kết nối TLS</a:t>
            </a:r>
            <a:endParaRPr sz="2125">
              <a:latin typeface="Arial"/>
              <a:ea typeface="Arial"/>
              <a:cs typeface="Arial"/>
              <a:sym typeface="Arial"/>
            </a:endParaRPr>
          </a:p>
          <a:p>
            <a:pPr indent="-228600" lvl="0" marL="457200" rtl="0" algn="l">
              <a:lnSpc>
                <a:spcPct val="115000"/>
              </a:lnSpc>
              <a:spcBef>
                <a:spcPts val="1000"/>
              </a:spcBef>
              <a:spcAft>
                <a:spcPts val="0"/>
              </a:spcAft>
              <a:buClr>
                <a:schemeClr val="dk1"/>
              </a:buClr>
              <a:buSzPct val="51746"/>
              <a:buFont typeface="Arial"/>
              <a:buNone/>
            </a:pPr>
            <a:r>
              <a:rPr lang="en-US" sz="2125">
                <a:latin typeface="Arial"/>
                <a:ea typeface="Arial"/>
                <a:cs typeface="Arial"/>
                <a:sym typeface="Arial"/>
              </a:rPr>
              <a:t>2. Server gửi Certificate(Giấy thông hành)</a:t>
            </a:r>
            <a:endParaRPr sz="2125">
              <a:latin typeface="Arial"/>
              <a:ea typeface="Arial"/>
              <a:cs typeface="Arial"/>
              <a:sym typeface="Arial"/>
            </a:endParaRPr>
          </a:p>
          <a:p>
            <a:pPr indent="-228600" lvl="0" marL="457200" rtl="0" algn="l">
              <a:lnSpc>
                <a:spcPct val="115000"/>
              </a:lnSpc>
              <a:spcBef>
                <a:spcPts val="1000"/>
              </a:spcBef>
              <a:spcAft>
                <a:spcPts val="0"/>
              </a:spcAft>
              <a:buClr>
                <a:schemeClr val="dk1"/>
              </a:buClr>
              <a:buSzPct val="51746"/>
              <a:buFont typeface="Arial"/>
              <a:buNone/>
            </a:pPr>
            <a:r>
              <a:rPr lang="en-US" sz="2125">
                <a:latin typeface="Arial"/>
                <a:ea typeface="Arial"/>
                <a:cs typeface="Arial"/>
                <a:sym typeface="Arial"/>
              </a:rPr>
              <a:t>3. Client kiểm tra Certificate</a:t>
            </a:r>
            <a:endParaRPr sz="2125">
              <a:latin typeface="Arial"/>
              <a:ea typeface="Arial"/>
              <a:cs typeface="Arial"/>
              <a:sym typeface="Arial"/>
            </a:endParaRPr>
          </a:p>
          <a:p>
            <a:pPr indent="-228600" lvl="0" marL="457200" rtl="0" algn="l">
              <a:lnSpc>
                <a:spcPct val="115000"/>
              </a:lnSpc>
              <a:spcBef>
                <a:spcPts val="1000"/>
              </a:spcBef>
              <a:spcAft>
                <a:spcPts val="0"/>
              </a:spcAft>
              <a:buClr>
                <a:schemeClr val="dk1"/>
              </a:buClr>
              <a:buSzPct val="51746"/>
              <a:buFont typeface="Arial"/>
              <a:buNone/>
            </a:pPr>
            <a:r>
              <a:rPr lang="en-US" sz="2125">
                <a:latin typeface="Arial"/>
                <a:ea typeface="Arial"/>
                <a:cs typeface="Arial"/>
                <a:sym typeface="Arial"/>
              </a:rPr>
              <a:t>4. Hai bên thỏa thuận khóa bí mật</a:t>
            </a:r>
            <a:endParaRPr sz="2125">
              <a:latin typeface="Arial"/>
              <a:ea typeface="Arial"/>
              <a:cs typeface="Arial"/>
              <a:sym typeface="Arial"/>
            </a:endParaRPr>
          </a:p>
          <a:p>
            <a:pPr indent="-228600" lvl="0" marL="457200" rtl="0" algn="l">
              <a:lnSpc>
                <a:spcPct val="115000"/>
              </a:lnSpc>
              <a:spcBef>
                <a:spcPts val="1000"/>
              </a:spcBef>
              <a:spcAft>
                <a:spcPts val="0"/>
              </a:spcAft>
              <a:buClr>
                <a:schemeClr val="dk1"/>
              </a:buClr>
              <a:buSzPct val="51746"/>
              <a:buNone/>
            </a:pPr>
            <a:r>
              <a:rPr lang="en-US" sz="2125">
                <a:latin typeface="Arial"/>
                <a:ea typeface="Arial"/>
                <a:cs typeface="Arial"/>
                <a:sym typeface="Arial"/>
              </a:rPr>
              <a:t>5. Bắt đầu truyền dữ liệu đã mã hóa</a:t>
            </a:r>
            <a:endParaRPr sz="2125">
              <a:latin typeface="Arial"/>
              <a:ea typeface="Arial"/>
              <a:cs typeface="Arial"/>
              <a:sym typeface="Arial"/>
            </a:endParaRPr>
          </a:p>
          <a:p>
            <a:pPr indent="0" lvl="0" marL="0" rtl="0" algn="l">
              <a:lnSpc>
                <a:spcPct val="115000"/>
              </a:lnSpc>
              <a:spcBef>
                <a:spcPts val="1000"/>
              </a:spcBef>
              <a:spcAft>
                <a:spcPts val="0"/>
              </a:spcAft>
              <a:buSzPct val="83409"/>
              <a:buNone/>
            </a:pPr>
            <a:r>
              <a:rPr b="1" lang="en-US" sz="2333">
                <a:latin typeface="Arial"/>
                <a:ea typeface="Arial"/>
                <a:cs typeface="Arial"/>
                <a:sym typeface="Arial"/>
              </a:rPr>
              <a:t>Ứng dụng:</a:t>
            </a:r>
            <a:r>
              <a:rPr lang="en-US" sz="2333">
                <a:latin typeface="Arial"/>
                <a:ea typeface="Arial"/>
                <a:cs typeface="Arial"/>
                <a:sym typeface="Arial"/>
              </a:rPr>
              <a:t> HTTPS, MQTTS, FTPS.</a:t>
            </a:r>
            <a:endParaRPr sz="1325">
              <a:latin typeface="Arial"/>
              <a:ea typeface="Arial"/>
              <a:cs typeface="Arial"/>
              <a:sym typeface="Arial"/>
            </a:endParaRPr>
          </a:p>
          <a:p>
            <a:pPr indent="-228600" lvl="0" marL="457200" rtl="0" algn="l">
              <a:lnSpc>
                <a:spcPct val="90000"/>
              </a:lnSpc>
              <a:spcBef>
                <a:spcPts val="1000"/>
              </a:spcBef>
              <a:spcAft>
                <a:spcPts val="0"/>
              </a:spcAft>
              <a:buClr>
                <a:schemeClr val="dk1"/>
              </a:buClr>
              <a:buSzPct val="900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ct val="900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ct val="90000"/>
              <a:buNone/>
            </a:pPr>
            <a:r>
              <a:t/>
            </a:r>
            <a:endParaRPr sz="2000">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6"/>
          <p:cNvSpPr txBox="1"/>
          <p:nvPr>
            <p:ph type="title"/>
          </p:nvPr>
        </p:nvSpPr>
        <p:spPr>
          <a:xfrm>
            <a:off x="0" y="2"/>
            <a:ext cx="9246000" cy="689400"/>
          </a:xfrm>
          <a:prstGeom prst="rect">
            <a:avLst/>
          </a:prstGeom>
          <a:noFill/>
          <a:ln>
            <a:noFill/>
          </a:ln>
        </p:spPr>
        <p:txBody>
          <a:bodyPr anchorCtr="0" anchor="ctr" bIns="45700" lIns="91425" spcFirstLastPara="1" rIns="91425" wrap="square" tIns="45700">
            <a:noAutofit/>
          </a:bodyPr>
          <a:lstStyle/>
          <a:p>
            <a:pPr indent="269875" lvl="0" marL="0" rtl="0" algn="just">
              <a:lnSpc>
                <a:spcPct val="120000"/>
              </a:lnSpc>
              <a:spcBef>
                <a:spcPts val="300"/>
              </a:spcBef>
              <a:spcAft>
                <a:spcPts val="300"/>
              </a:spcAft>
              <a:buClr>
                <a:schemeClr val="dk1"/>
              </a:buClr>
              <a:buSzPts val="1100"/>
              <a:buNone/>
            </a:pPr>
            <a:r>
              <a:rPr lang="en-US" sz="3600">
                <a:solidFill>
                  <a:schemeClr val="lt1"/>
                </a:solidFill>
                <a:latin typeface="Arial"/>
                <a:ea typeface="Arial"/>
                <a:cs typeface="Arial"/>
                <a:sym typeface="Arial"/>
              </a:rPr>
              <a:t>Giao thức bảo mật tầng Transport - DTLS</a:t>
            </a:r>
            <a:endParaRPr sz="3600">
              <a:solidFill>
                <a:schemeClr val="lt1"/>
              </a:solidFill>
              <a:latin typeface="Arial"/>
              <a:ea typeface="Arial"/>
              <a:cs typeface="Arial"/>
              <a:sym typeface="Arial"/>
            </a:endParaRPr>
          </a:p>
        </p:txBody>
      </p:sp>
      <p:sp>
        <p:nvSpPr>
          <p:cNvPr id="319" name="Google Shape;319;p36"/>
          <p:cNvSpPr txBox="1"/>
          <p:nvPr>
            <p:ph idx="1" type="body"/>
          </p:nvPr>
        </p:nvSpPr>
        <p:spPr>
          <a:xfrm>
            <a:off x="82625" y="689400"/>
            <a:ext cx="11271300" cy="6042900"/>
          </a:xfrm>
          <a:prstGeom prst="rect">
            <a:avLst/>
          </a:prstGeom>
          <a:noFill/>
          <a:ln>
            <a:noFill/>
          </a:ln>
        </p:spPr>
        <p:txBody>
          <a:bodyPr anchorCtr="0" anchor="t" bIns="45700" lIns="91425" spcFirstLastPara="1" rIns="91425" wrap="square" tIns="45700">
            <a:normAutofit fontScale="92500" lnSpcReduction="20000"/>
          </a:bodyPr>
          <a:lstStyle/>
          <a:p>
            <a:pPr indent="-228600" lvl="0" marL="457200" rtl="0" algn="l">
              <a:lnSpc>
                <a:spcPct val="115000"/>
              </a:lnSpc>
              <a:spcBef>
                <a:spcPts val="1000"/>
              </a:spcBef>
              <a:spcAft>
                <a:spcPts val="0"/>
              </a:spcAft>
              <a:buClr>
                <a:schemeClr val="dk1"/>
              </a:buClr>
              <a:buSzPct val="77125"/>
              <a:buNone/>
            </a:pPr>
            <a:r>
              <a:rPr b="1" lang="en-US" sz="2333">
                <a:latin typeface="Arial"/>
                <a:ea typeface="Arial"/>
                <a:cs typeface="Arial"/>
                <a:sym typeface="Arial"/>
              </a:rPr>
              <a:t>Định nghĩa: </a:t>
            </a:r>
            <a:r>
              <a:rPr b="1" lang="en-US" sz="2000">
                <a:latin typeface="Arial"/>
                <a:ea typeface="Arial"/>
                <a:cs typeface="Arial"/>
                <a:sym typeface="Arial"/>
              </a:rPr>
              <a:t>Datagram Transport Layer Security</a:t>
            </a:r>
            <a:r>
              <a:rPr lang="en-US" sz="2000">
                <a:latin typeface="Arial"/>
                <a:ea typeface="Arial"/>
                <a:cs typeface="Arial"/>
                <a:sym typeface="Arial"/>
              </a:rPr>
              <a:t> là phiên bản của TLS được thiết kế để hoạt động trên UDP, dùng phổ biến trong CoAPS (CoAP Secure) và các hệ thống IoT thời gian thực.</a:t>
            </a:r>
            <a:endParaRPr sz="2000">
              <a:latin typeface="Arial"/>
              <a:ea typeface="Arial"/>
              <a:cs typeface="Arial"/>
              <a:sym typeface="Arial"/>
            </a:endParaRPr>
          </a:p>
          <a:p>
            <a:pPr indent="-228600" lvl="0" marL="457200" rtl="0" algn="l">
              <a:lnSpc>
                <a:spcPct val="115000"/>
              </a:lnSpc>
              <a:spcBef>
                <a:spcPts val="1000"/>
              </a:spcBef>
              <a:spcAft>
                <a:spcPts val="0"/>
              </a:spcAft>
              <a:buClr>
                <a:schemeClr val="dk1"/>
              </a:buClr>
              <a:buSzPct val="77125"/>
              <a:buNone/>
            </a:pPr>
            <a:r>
              <a:rPr b="1" lang="en-US" sz="2333">
                <a:latin typeface="Arial"/>
                <a:ea typeface="Arial"/>
                <a:cs typeface="Arial"/>
                <a:sym typeface="Arial"/>
              </a:rPr>
              <a:t>Ưu Điểm:</a:t>
            </a:r>
            <a:r>
              <a:rPr lang="en-US" sz="2333">
                <a:latin typeface="Arial"/>
                <a:ea typeface="Arial"/>
                <a:cs typeface="Arial"/>
                <a:sym typeface="Arial"/>
              </a:rPr>
              <a:t> </a:t>
            </a:r>
            <a:r>
              <a:rPr lang="en-US" sz="2150">
                <a:latin typeface="Arial"/>
                <a:ea typeface="Arial"/>
                <a:cs typeface="Arial"/>
                <a:sym typeface="Arial"/>
              </a:rPr>
              <a:t>Phù hợp thiết bị tài nguyên thấp, độ trễ thấp (UDP), bảo mật cao.</a:t>
            </a:r>
            <a:endParaRPr sz="2150">
              <a:latin typeface="Arial"/>
              <a:ea typeface="Arial"/>
              <a:cs typeface="Arial"/>
              <a:sym typeface="Arial"/>
            </a:endParaRPr>
          </a:p>
          <a:p>
            <a:pPr indent="-228600" lvl="0" marL="457200" rtl="0" algn="l">
              <a:lnSpc>
                <a:spcPct val="115000"/>
              </a:lnSpc>
              <a:spcBef>
                <a:spcPts val="1000"/>
              </a:spcBef>
              <a:spcAft>
                <a:spcPts val="0"/>
              </a:spcAft>
              <a:buClr>
                <a:schemeClr val="dk1"/>
              </a:buClr>
              <a:buSzPct val="77125"/>
              <a:buNone/>
            </a:pPr>
            <a:r>
              <a:rPr b="1" lang="en-US" sz="2333">
                <a:latin typeface="Arial"/>
                <a:ea typeface="Arial"/>
                <a:cs typeface="Arial"/>
                <a:sym typeface="Arial"/>
              </a:rPr>
              <a:t>Hạn chế:</a:t>
            </a:r>
            <a:r>
              <a:rPr lang="en-US" sz="2333">
                <a:latin typeface="Arial"/>
                <a:ea typeface="Arial"/>
                <a:cs typeface="Arial"/>
                <a:sym typeface="Arial"/>
              </a:rPr>
              <a:t> Quá trình bắt tay phức tạp, cài đặt khó hơn TLS, tốn năng lượng khi gửi lại dữ liệu.</a:t>
            </a:r>
            <a:endParaRPr sz="2333">
              <a:latin typeface="Arial"/>
              <a:ea typeface="Arial"/>
              <a:cs typeface="Arial"/>
              <a:sym typeface="Arial"/>
            </a:endParaRPr>
          </a:p>
          <a:p>
            <a:pPr indent="-228600" lvl="0" marL="457200" rtl="0" algn="l">
              <a:lnSpc>
                <a:spcPct val="115000"/>
              </a:lnSpc>
              <a:spcBef>
                <a:spcPts val="1000"/>
              </a:spcBef>
              <a:spcAft>
                <a:spcPts val="0"/>
              </a:spcAft>
              <a:buClr>
                <a:schemeClr val="dk1"/>
              </a:buClr>
              <a:buSzPct val="77125"/>
              <a:buNone/>
            </a:pPr>
            <a:r>
              <a:rPr b="1" lang="en-US" sz="2333">
                <a:latin typeface="Arial"/>
                <a:ea typeface="Arial"/>
                <a:cs typeface="Arial"/>
                <a:sym typeface="Arial"/>
              </a:rPr>
              <a:t>Cơ chế hoạt động:</a:t>
            </a:r>
            <a:endParaRPr b="1" sz="2333">
              <a:latin typeface="Arial"/>
              <a:ea typeface="Arial"/>
              <a:cs typeface="Arial"/>
              <a:sym typeface="Arial"/>
            </a:endParaRPr>
          </a:p>
          <a:p>
            <a:pPr indent="-228600" lvl="0" marL="457200" rtl="0" algn="l">
              <a:lnSpc>
                <a:spcPct val="115000"/>
              </a:lnSpc>
              <a:spcBef>
                <a:spcPts val="1000"/>
              </a:spcBef>
              <a:spcAft>
                <a:spcPts val="0"/>
              </a:spcAft>
              <a:buClr>
                <a:schemeClr val="dk1"/>
              </a:buClr>
              <a:buSzPct val="76595"/>
              <a:buNone/>
            </a:pPr>
            <a:r>
              <a:rPr lang="en-US" sz="2350">
                <a:latin typeface="Arial"/>
                <a:ea typeface="Arial"/>
                <a:cs typeface="Arial"/>
                <a:sym typeface="Arial"/>
              </a:rPr>
              <a:t>1. Client → Server: ClientHello</a:t>
            </a:r>
            <a:endParaRPr sz="2350">
              <a:latin typeface="Arial"/>
              <a:ea typeface="Arial"/>
              <a:cs typeface="Arial"/>
              <a:sym typeface="Arial"/>
            </a:endParaRPr>
          </a:p>
          <a:p>
            <a:pPr indent="-228600" lvl="0" marL="457200" rtl="0" algn="l">
              <a:lnSpc>
                <a:spcPct val="115000"/>
              </a:lnSpc>
              <a:spcBef>
                <a:spcPts val="1000"/>
              </a:spcBef>
              <a:spcAft>
                <a:spcPts val="0"/>
              </a:spcAft>
              <a:buClr>
                <a:schemeClr val="dk1"/>
              </a:buClr>
              <a:buSzPct val="46808"/>
              <a:buFont typeface="Arial"/>
              <a:buNone/>
            </a:pPr>
            <a:r>
              <a:rPr lang="en-US" sz="2350">
                <a:latin typeface="Arial"/>
                <a:ea typeface="Arial"/>
                <a:cs typeface="Arial"/>
                <a:sym typeface="Arial"/>
              </a:rPr>
              <a:t>2. Server → Client: ServerHello + Certificate</a:t>
            </a:r>
            <a:endParaRPr sz="2350">
              <a:latin typeface="Arial"/>
              <a:ea typeface="Arial"/>
              <a:cs typeface="Arial"/>
              <a:sym typeface="Arial"/>
            </a:endParaRPr>
          </a:p>
          <a:p>
            <a:pPr indent="-228600" lvl="0" marL="457200" rtl="0" algn="l">
              <a:lnSpc>
                <a:spcPct val="115000"/>
              </a:lnSpc>
              <a:spcBef>
                <a:spcPts val="1000"/>
              </a:spcBef>
              <a:spcAft>
                <a:spcPts val="0"/>
              </a:spcAft>
              <a:buClr>
                <a:schemeClr val="dk1"/>
              </a:buClr>
              <a:buSzPct val="46808"/>
              <a:buFont typeface="Arial"/>
              <a:buNone/>
            </a:pPr>
            <a:r>
              <a:rPr lang="en-US" sz="2350">
                <a:latin typeface="Arial"/>
                <a:ea typeface="Arial"/>
                <a:cs typeface="Arial"/>
                <a:sym typeface="Arial"/>
              </a:rPr>
              <a:t>3. Trao đổi khóa (RSA / ECDHE)</a:t>
            </a:r>
            <a:endParaRPr sz="2350">
              <a:latin typeface="Arial"/>
              <a:ea typeface="Arial"/>
              <a:cs typeface="Arial"/>
              <a:sym typeface="Arial"/>
            </a:endParaRPr>
          </a:p>
          <a:p>
            <a:pPr indent="-228600" lvl="0" marL="457200" rtl="0" algn="l">
              <a:lnSpc>
                <a:spcPct val="115000"/>
              </a:lnSpc>
              <a:spcBef>
                <a:spcPts val="1000"/>
              </a:spcBef>
              <a:spcAft>
                <a:spcPts val="0"/>
              </a:spcAft>
              <a:buClr>
                <a:schemeClr val="dk1"/>
              </a:buClr>
              <a:buSzPct val="46808"/>
              <a:buNone/>
            </a:pPr>
            <a:r>
              <a:rPr lang="en-US" sz="2350">
                <a:latin typeface="Arial"/>
                <a:ea typeface="Arial"/>
                <a:cs typeface="Arial"/>
                <a:sym typeface="Arial"/>
              </a:rPr>
              <a:t>4. Xác thực</a:t>
            </a:r>
            <a:endParaRPr sz="2350">
              <a:latin typeface="Arial"/>
              <a:ea typeface="Arial"/>
              <a:cs typeface="Arial"/>
              <a:sym typeface="Arial"/>
            </a:endParaRPr>
          </a:p>
          <a:p>
            <a:pPr indent="-228600" lvl="0" marL="457200" rtl="0" algn="l">
              <a:lnSpc>
                <a:spcPct val="115000"/>
              </a:lnSpc>
              <a:spcBef>
                <a:spcPts val="1000"/>
              </a:spcBef>
              <a:spcAft>
                <a:spcPts val="0"/>
              </a:spcAft>
              <a:buClr>
                <a:schemeClr val="dk1"/>
              </a:buClr>
              <a:buSzPct val="46808"/>
              <a:buNone/>
            </a:pPr>
            <a:r>
              <a:rPr lang="en-US" sz="2350">
                <a:latin typeface="Arial"/>
                <a:ea typeface="Arial"/>
                <a:cs typeface="Arial"/>
                <a:sym typeface="Arial"/>
              </a:rPr>
              <a:t>5. Truyền dữ liệu đã mã hóa</a:t>
            </a:r>
            <a:endParaRPr sz="2125">
              <a:latin typeface="Arial"/>
              <a:ea typeface="Arial"/>
              <a:cs typeface="Arial"/>
              <a:sym typeface="Arial"/>
            </a:endParaRPr>
          </a:p>
          <a:p>
            <a:pPr indent="0" lvl="0" marL="0" rtl="0" algn="l">
              <a:lnSpc>
                <a:spcPct val="115000"/>
              </a:lnSpc>
              <a:spcBef>
                <a:spcPts val="1000"/>
              </a:spcBef>
              <a:spcAft>
                <a:spcPts val="0"/>
              </a:spcAft>
              <a:buSzPct val="83409"/>
              <a:buNone/>
            </a:pPr>
            <a:r>
              <a:rPr b="1" lang="en-US" sz="2333">
                <a:latin typeface="Arial"/>
                <a:ea typeface="Arial"/>
                <a:cs typeface="Arial"/>
                <a:sym typeface="Arial"/>
              </a:rPr>
              <a:t>Ứng dụng:</a:t>
            </a:r>
            <a:r>
              <a:rPr lang="en-US" sz="2333">
                <a:latin typeface="Arial"/>
                <a:ea typeface="Arial"/>
                <a:cs typeface="Arial"/>
                <a:sym typeface="Arial"/>
              </a:rPr>
              <a:t> </a:t>
            </a:r>
            <a:r>
              <a:rPr lang="en-US">
                <a:latin typeface="Arial"/>
                <a:ea typeface="Arial"/>
                <a:cs typeface="Arial"/>
                <a:sym typeface="Arial"/>
              </a:rPr>
              <a:t>CoAPS, các giao thức IoT thời gian thực.</a:t>
            </a:r>
            <a:endParaRPr sz="1325">
              <a:latin typeface="Arial"/>
              <a:ea typeface="Arial"/>
              <a:cs typeface="Arial"/>
              <a:sym typeface="Arial"/>
            </a:endParaRPr>
          </a:p>
          <a:p>
            <a:pPr indent="-228600" lvl="0" marL="457200" rtl="0" algn="l">
              <a:lnSpc>
                <a:spcPct val="90000"/>
              </a:lnSpc>
              <a:spcBef>
                <a:spcPts val="1000"/>
              </a:spcBef>
              <a:spcAft>
                <a:spcPts val="0"/>
              </a:spcAft>
              <a:buClr>
                <a:schemeClr val="dk1"/>
              </a:buClr>
              <a:buSzPct val="900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ct val="900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ct val="90000"/>
              <a:buNone/>
            </a:pPr>
            <a:r>
              <a:t/>
            </a:r>
            <a:endParaRPr sz="2000">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7"/>
          <p:cNvSpPr txBox="1"/>
          <p:nvPr>
            <p:ph type="title"/>
          </p:nvPr>
        </p:nvSpPr>
        <p:spPr>
          <a:xfrm>
            <a:off x="0" y="2"/>
            <a:ext cx="9246000" cy="689400"/>
          </a:xfrm>
          <a:prstGeom prst="rect">
            <a:avLst/>
          </a:prstGeom>
          <a:noFill/>
          <a:ln>
            <a:noFill/>
          </a:ln>
        </p:spPr>
        <p:txBody>
          <a:bodyPr anchorCtr="0" anchor="ctr" bIns="45700" lIns="91425" spcFirstLastPara="1" rIns="91425" wrap="square" tIns="45700">
            <a:noAutofit/>
          </a:bodyPr>
          <a:lstStyle/>
          <a:p>
            <a:pPr indent="269875" lvl="0" marL="0" rtl="0" algn="just">
              <a:lnSpc>
                <a:spcPct val="120000"/>
              </a:lnSpc>
              <a:spcBef>
                <a:spcPts val="300"/>
              </a:spcBef>
              <a:spcAft>
                <a:spcPts val="300"/>
              </a:spcAft>
              <a:buClr>
                <a:schemeClr val="dk1"/>
              </a:buClr>
              <a:buSzPts val="1100"/>
              <a:buNone/>
            </a:pPr>
            <a:r>
              <a:rPr lang="en-US" sz="3600">
                <a:solidFill>
                  <a:schemeClr val="lt1"/>
                </a:solidFill>
                <a:latin typeface="Arial"/>
                <a:ea typeface="Arial"/>
                <a:cs typeface="Arial"/>
                <a:sym typeface="Arial"/>
              </a:rPr>
              <a:t>Bảo mật tầng mạng - IPSec</a:t>
            </a:r>
            <a:endParaRPr sz="3600">
              <a:solidFill>
                <a:schemeClr val="lt1"/>
              </a:solidFill>
              <a:latin typeface="Arial"/>
              <a:ea typeface="Arial"/>
              <a:cs typeface="Arial"/>
              <a:sym typeface="Arial"/>
            </a:endParaRPr>
          </a:p>
        </p:txBody>
      </p:sp>
      <p:sp>
        <p:nvSpPr>
          <p:cNvPr id="325" name="Google Shape;325;p37"/>
          <p:cNvSpPr txBox="1"/>
          <p:nvPr>
            <p:ph idx="1" type="body"/>
          </p:nvPr>
        </p:nvSpPr>
        <p:spPr>
          <a:xfrm>
            <a:off x="82625" y="689400"/>
            <a:ext cx="11271300" cy="6042900"/>
          </a:xfrm>
          <a:prstGeom prst="rect">
            <a:avLst/>
          </a:prstGeom>
          <a:noFill/>
          <a:ln>
            <a:noFill/>
          </a:ln>
        </p:spPr>
        <p:txBody>
          <a:bodyPr anchorCtr="0" anchor="t" bIns="45700" lIns="91425" spcFirstLastPara="1" rIns="91425" wrap="square" tIns="45700">
            <a:normAutofit lnSpcReduction="10000"/>
          </a:bodyPr>
          <a:lstStyle/>
          <a:p>
            <a:pPr indent="-365125" lvl="0" marL="457200" rtl="0" algn="l">
              <a:lnSpc>
                <a:spcPct val="150000"/>
              </a:lnSpc>
              <a:spcBef>
                <a:spcPts val="1000"/>
              </a:spcBef>
              <a:spcAft>
                <a:spcPts val="0"/>
              </a:spcAft>
              <a:buSzPts val="2150"/>
              <a:buFont typeface="Arial"/>
              <a:buChar char="-"/>
            </a:pPr>
            <a:r>
              <a:rPr b="1" lang="en-US" sz="2150">
                <a:latin typeface="Arial"/>
                <a:ea typeface="Arial"/>
                <a:cs typeface="Arial"/>
                <a:sym typeface="Arial"/>
              </a:rPr>
              <a:t>Internet Protocol Security</a:t>
            </a:r>
            <a:r>
              <a:rPr lang="en-US" sz="2150">
                <a:latin typeface="Arial"/>
                <a:ea typeface="Arial"/>
                <a:cs typeface="Arial"/>
                <a:sym typeface="Arial"/>
              </a:rPr>
              <a:t> là bộ giao thức bảo mật cho tầng mạng (IP)</a:t>
            </a:r>
            <a:endParaRPr sz="2150">
              <a:latin typeface="Arial"/>
              <a:ea typeface="Arial"/>
              <a:cs typeface="Arial"/>
              <a:sym typeface="Arial"/>
            </a:endParaRPr>
          </a:p>
          <a:p>
            <a:pPr indent="-228600" lvl="0" marL="457200" rtl="0" algn="l">
              <a:lnSpc>
                <a:spcPct val="150000"/>
              </a:lnSpc>
              <a:spcBef>
                <a:spcPts val="1000"/>
              </a:spcBef>
              <a:spcAft>
                <a:spcPts val="0"/>
              </a:spcAft>
              <a:buClr>
                <a:schemeClr val="dk1"/>
              </a:buClr>
              <a:buSzPts val="1800"/>
              <a:buNone/>
            </a:pPr>
            <a:r>
              <a:rPr b="1" lang="en-US" sz="2333">
                <a:latin typeface="Arial"/>
                <a:ea typeface="Arial"/>
                <a:cs typeface="Arial"/>
                <a:sym typeface="Arial"/>
              </a:rPr>
              <a:t>Chức năng:</a:t>
            </a:r>
            <a:r>
              <a:rPr lang="en-US" sz="2333">
                <a:latin typeface="Arial"/>
                <a:ea typeface="Arial"/>
                <a:cs typeface="Arial"/>
                <a:sym typeface="Arial"/>
              </a:rPr>
              <a:t> </a:t>
            </a:r>
            <a:endParaRPr sz="2333">
              <a:latin typeface="Arial"/>
              <a:ea typeface="Arial"/>
              <a:cs typeface="Arial"/>
              <a:sym typeface="Arial"/>
            </a:endParaRPr>
          </a:p>
          <a:p>
            <a:pPr indent="-355600" lvl="0" marL="457200" rtl="0" algn="l">
              <a:lnSpc>
                <a:spcPct val="150000"/>
              </a:lnSpc>
              <a:spcBef>
                <a:spcPts val="1000"/>
              </a:spcBef>
              <a:spcAft>
                <a:spcPts val="0"/>
              </a:spcAft>
              <a:buSzPts val="2000"/>
              <a:buFont typeface="Arial"/>
              <a:buChar char="-"/>
            </a:pPr>
            <a:r>
              <a:rPr b="1" lang="en-US" sz="2000">
                <a:latin typeface="Arial"/>
                <a:ea typeface="Arial"/>
                <a:cs typeface="Arial"/>
                <a:sym typeface="Arial"/>
              </a:rPr>
              <a:t>Confidentiality</a:t>
            </a:r>
            <a:r>
              <a:rPr lang="en-US" sz="2000">
                <a:latin typeface="Arial"/>
                <a:ea typeface="Arial"/>
                <a:cs typeface="Arial"/>
                <a:sym typeface="Arial"/>
              </a:rPr>
              <a:t>: mã hóa gói IP</a:t>
            </a:r>
            <a:endParaRPr sz="2000">
              <a:latin typeface="Arial"/>
              <a:ea typeface="Arial"/>
              <a:cs typeface="Arial"/>
              <a:sym typeface="Arial"/>
            </a:endParaRPr>
          </a:p>
          <a:p>
            <a:pPr indent="-355600" lvl="0" marL="457200" rtl="0" algn="l">
              <a:lnSpc>
                <a:spcPct val="150000"/>
              </a:lnSpc>
              <a:spcBef>
                <a:spcPts val="0"/>
              </a:spcBef>
              <a:spcAft>
                <a:spcPts val="0"/>
              </a:spcAft>
              <a:buSzPts val="2000"/>
              <a:buFont typeface="Arial"/>
              <a:buChar char="-"/>
            </a:pPr>
            <a:r>
              <a:rPr b="1" lang="en-US" sz="2000">
                <a:latin typeface="Arial"/>
                <a:ea typeface="Arial"/>
                <a:cs typeface="Arial"/>
                <a:sym typeface="Arial"/>
              </a:rPr>
              <a:t>Integrity</a:t>
            </a:r>
            <a:r>
              <a:rPr lang="en-US" sz="2000">
                <a:latin typeface="Arial"/>
                <a:ea typeface="Arial"/>
                <a:cs typeface="Arial"/>
                <a:sym typeface="Arial"/>
              </a:rPr>
              <a:t>: đảm bảo gói tin không bị sửa đổi</a:t>
            </a:r>
            <a:endParaRPr sz="2000">
              <a:latin typeface="Arial"/>
              <a:ea typeface="Arial"/>
              <a:cs typeface="Arial"/>
              <a:sym typeface="Arial"/>
            </a:endParaRPr>
          </a:p>
          <a:p>
            <a:pPr indent="-355600" lvl="0" marL="457200" rtl="0" algn="l">
              <a:lnSpc>
                <a:spcPct val="150000"/>
              </a:lnSpc>
              <a:spcBef>
                <a:spcPts val="0"/>
              </a:spcBef>
              <a:spcAft>
                <a:spcPts val="0"/>
              </a:spcAft>
              <a:buSzPts val="2000"/>
              <a:buFont typeface="Arial"/>
              <a:buChar char="-"/>
            </a:pPr>
            <a:r>
              <a:rPr b="1" lang="en-US" sz="2000">
                <a:latin typeface="Arial"/>
                <a:ea typeface="Arial"/>
                <a:cs typeface="Arial"/>
                <a:sym typeface="Arial"/>
              </a:rPr>
              <a:t>Authentication</a:t>
            </a:r>
            <a:r>
              <a:rPr lang="en-US" sz="2000">
                <a:latin typeface="Arial"/>
                <a:ea typeface="Arial"/>
                <a:cs typeface="Arial"/>
                <a:sym typeface="Arial"/>
              </a:rPr>
              <a:t>: xác thực nguồn gửi</a:t>
            </a:r>
            <a:endParaRPr sz="2125">
              <a:latin typeface="Arial"/>
              <a:ea typeface="Arial"/>
              <a:cs typeface="Arial"/>
              <a:sym typeface="Arial"/>
            </a:endParaRPr>
          </a:p>
          <a:p>
            <a:pPr indent="0" lvl="0" marL="0" rtl="0" algn="l">
              <a:lnSpc>
                <a:spcPct val="150000"/>
              </a:lnSpc>
              <a:spcBef>
                <a:spcPts val="1000"/>
              </a:spcBef>
              <a:spcAft>
                <a:spcPts val="0"/>
              </a:spcAft>
              <a:buSzPts val="1800"/>
              <a:buNone/>
            </a:pPr>
            <a:r>
              <a:rPr b="1" lang="en-US" sz="2333">
                <a:latin typeface="Arial"/>
                <a:ea typeface="Arial"/>
                <a:cs typeface="Arial"/>
                <a:sym typeface="Arial"/>
              </a:rPr>
              <a:t>   Vì sao ít dùng trong IoT:</a:t>
            </a:r>
            <a:r>
              <a:rPr lang="en-US" sz="2333">
                <a:latin typeface="Arial"/>
                <a:ea typeface="Arial"/>
                <a:cs typeface="Arial"/>
                <a:sym typeface="Arial"/>
              </a:rPr>
              <a:t> </a:t>
            </a:r>
            <a:endParaRPr sz="2333">
              <a:latin typeface="Arial"/>
              <a:ea typeface="Arial"/>
              <a:cs typeface="Arial"/>
              <a:sym typeface="Arial"/>
            </a:endParaRPr>
          </a:p>
          <a:p>
            <a:pPr indent="-355600" lvl="0" marL="457200" rtl="0" algn="l">
              <a:lnSpc>
                <a:spcPct val="150000"/>
              </a:lnSpc>
              <a:spcBef>
                <a:spcPts val="1000"/>
              </a:spcBef>
              <a:spcAft>
                <a:spcPts val="0"/>
              </a:spcAft>
              <a:buSzPts val="2000"/>
              <a:buFont typeface="Arial"/>
              <a:buChar char="-"/>
            </a:pPr>
            <a:r>
              <a:rPr lang="en-US" sz="2000">
                <a:latin typeface="Arial"/>
                <a:ea typeface="Arial"/>
                <a:cs typeface="Arial"/>
                <a:sym typeface="Arial"/>
              </a:rPr>
              <a:t>Tiêu thụ nhiều CPU &amp; RAM</a:t>
            </a:r>
            <a:endParaRPr sz="2000">
              <a:latin typeface="Arial"/>
              <a:ea typeface="Arial"/>
              <a:cs typeface="Arial"/>
              <a:sym typeface="Arial"/>
            </a:endParaRPr>
          </a:p>
          <a:p>
            <a:pPr indent="-355600" lvl="0" marL="457200" rtl="0" algn="l">
              <a:lnSpc>
                <a:spcPct val="150000"/>
              </a:lnSpc>
              <a:spcBef>
                <a:spcPts val="0"/>
              </a:spcBef>
              <a:spcAft>
                <a:spcPts val="0"/>
              </a:spcAft>
              <a:buSzPts val="2000"/>
              <a:buFont typeface="Arial"/>
              <a:buChar char="-"/>
            </a:pPr>
            <a:r>
              <a:rPr lang="en-US" sz="2000">
                <a:latin typeface="Arial"/>
                <a:ea typeface="Arial"/>
                <a:cs typeface="Arial"/>
                <a:sym typeface="Arial"/>
              </a:rPr>
              <a:t>Cấu hình phức tạp</a:t>
            </a:r>
            <a:endParaRPr sz="2000">
              <a:latin typeface="Arial"/>
              <a:ea typeface="Arial"/>
              <a:cs typeface="Arial"/>
              <a:sym typeface="Arial"/>
            </a:endParaRPr>
          </a:p>
          <a:p>
            <a:pPr indent="-355600" lvl="0" marL="457200" rtl="0" algn="l">
              <a:lnSpc>
                <a:spcPct val="150000"/>
              </a:lnSpc>
              <a:spcBef>
                <a:spcPts val="0"/>
              </a:spcBef>
              <a:spcAft>
                <a:spcPts val="0"/>
              </a:spcAft>
              <a:buSzPts val="2000"/>
              <a:buFont typeface="Arial"/>
              <a:buChar char="-"/>
            </a:pPr>
            <a:r>
              <a:rPr lang="en-US" sz="2000">
                <a:latin typeface="Arial"/>
                <a:ea typeface="Arial"/>
                <a:cs typeface="Arial"/>
                <a:sym typeface="Arial"/>
              </a:rPr>
              <a:t>Không phù hợp thiết bị hạn chế tài nguyên</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8"/>
          <p:cNvSpPr txBox="1"/>
          <p:nvPr>
            <p:ph type="title"/>
          </p:nvPr>
        </p:nvSpPr>
        <p:spPr>
          <a:xfrm>
            <a:off x="0" y="2"/>
            <a:ext cx="9246000" cy="689400"/>
          </a:xfrm>
          <a:prstGeom prst="rect">
            <a:avLst/>
          </a:prstGeom>
          <a:noFill/>
          <a:ln>
            <a:noFill/>
          </a:ln>
        </p:spPr>
        <p:txBody>
          <a:bodyPr anchorCtr="0" anchor="ctr" bIns="45700" lIns="91425" spcFirstLastPara="1" rIns="91425" wrap="square" tIns="45700">
            <a:noAutofit/>
          </a:bodyPr>
          <a:lstStyle/>
          <a:p>
            <a:pPr indent="269875" lvl="0" marL="0" rtl="0" algn="just">
              <a:lnSpc>
                <a:spcPct val="120000"/>
              </a:lnSpc>
              <a:spcBef>
                <a:spcPts val="300"/>
              </a:spcBef>
              <a:spcAft>
                <a:spcPts val="300"/>
              </a:spcAft>
              <a:buClr>
                <a:schemeClr val="dk1"/>
              </a:buClr>
              <a:buSzPts val="1100"/>
              <a:buNone/>
            </a:pPr>
            <a:r>
              <a:rPr lang="en-US" sz="3600">
                <a:solidFill>
                  <a:schemeClr val="lt1"/>
                </a:solidFill>
                <a:latin typeface="Arial"/>
                <a:ea typeface="Arial"/>
                <a:cs typeface="Arial"/>
                <a:sym typeface="Arial"/>
              </a:rPr>
              <a:t>Bảo mật tầng mạng - LoRaWAN </a:t>
            </a:r>
            <a:endParaRPr sz="3600">
              <a:solidFill>
                <a:schemeClr val="lt1"/>
              </a:solidFill>
              <a:latin typeface="Arial"/>
              <a:ea typeface="Arial"/>
              <a:cs typeface="Arial"/>
              <a:sym typeface="Arial"/>
            </a:endParaRPr>
          </a:p>
        </p:txBody>
      </p:sp>
      <p:sp>
        <p:nvSpPr>
          <p:cNvPr id="331" name="Google Shape;331;p38"/>
          <p:cNvSpPr txBox="1"/>
          <p:nvPr>
            <p:ph idx="1" type="body"/>
          </p:nvPr>
        </p:nvSpPr>
        <p:spPr>
          <a:xfrm>
            <a:off x="82625" y="689400"/>
            <a:ext cx="11271300" cy="6042900"/>
          </a:xfrm>
          <a:prstGeom prst="rect">
            <a:avLst/>
          </a:prstGeom>
          <a:noFill/>
          <a:ln>
            <a:noFill/>
          </a:ln>
        </p:spPr>
        <p:txBody>
          <a:bodyPr anchorCtr="0" anchor="t" bIns="45700" lIns="91425" spcFirstLastPara="1" rIns="91425" wrap="square" tIns="45700">
            <a:normAutofit/>
          </a:bodyPr>
          <a:lstStyle/>
          <a:p>
            <a:pPr indent="-355600" lvl="0" marL="457200" rtl="0" algn="l">
              <a:lnSpc>
                <a:spcPct val="150000"/>
              </a:lnSpc>
              <a:spcBef>
                <a:spcPts val="1000"/>
              </a:spcBef>
              <a:spcAft>
                <a:spcPts val="0"/>
              </a:spcAft>
              <a:buSzPts val="2000"/>
              <a:buFont typeface="Arial"/>
              <a:buChar char="-"/>
            </a:pPr>
            <a:r>
              <a:rPr lang="en-US" sz="2000">
                <a:latin typeface="Arial"/>
                <a:ea typeface="Arial"/>
                <a:cs typeface="Arial"/>
                <a:sym typeface="Arial"/>
              </a:rPr>
              <a:t>LoRaWAN không dùng TLS/IPSec mà có cơ chế bảo mật riêng ở tầng mạng &amp; ứng dụng.</a:t>
            </a:r>
            <a:endParaRPr sz="2000">
              <a:latin typeface="Arial"/>
              <a:ea typeface="Arial"/>
              <a:cs typeface="Arial"/>
              <a:sym typeface="Arial"/>
            </a:endParaRPr>
          </a:p>
          <a:p>
            <a:pPr indent="-228600" lvl="0" marL="457200" rtl="0" algn="l">
              <a:lnSpc>
                <a:spcPct val="150000"/>
              </a:lnSpc>
              <a:spcBef>
                <a:spcPts val="1000"/>
              </a:spcBef>
              <a:spcAft>
                <a:spcPts val="0"/>
              </a:spcAft>
              <a:buClr>
                <a:schemeClr val="dk1"/>
              </a:buClr>
              <a:buSzPts val="1800"/>
              <a:buNone/>
            </a:pPr>
            <a:r>
              <a:rPr b="1" lang="en-US" sz="2333">
                <a:latin typeface="Arial"/>
                <a:ea typeface="Arial"/>
                <a:cs typeface="Arial"/>
                <a:sym typeface="Arial"/>
              </a:rPr>
              <a:t>Chức năng:</a:t>
            </a:r>
            <a:r>
              <a:rPr lang="en-US" sz="2333">
                <a:latin typeface="Arial"/>
                <a:ea typeface="Arial"/>
                <a:cs typeface="Arial"/>
                <a:sym typeface="Arial"/>
              </a:rPr>
              <a:t> </a:t>
            </a:r>
            <a:endParaRPr sz="2333">
              <a:latin typeface="Arial"/>
              <a:ea typeface="Arial"/>
              <a:cs typeface="Arial"/>
              <a:sym typeface="Arial"/>
            </a:endParaRPr>
          </a:p>
          <a:p>
            <a:pPr indent="-355600" lvl="0" marL="457200" rtl="0" algn="l">
              <a:lnSpc>
                <a:spcPct val="150000"/>
              </a:lnSpc>
              <a:spcBef>
                <a:spcPts val="1000"/>
              </a:spcBef>
              <a:spcAft>
                <a:spcPts val="0"/>
              </a:spcAft>
              <a:buSzPts val="2000"/>
              <a:buFont typeface="Arial"/>
              <a:buChar char="-"/>
            </a:pPr>
            <a:r>
              <a:rPr b="1" lang="en-US" sz="2000">
                <a:latin typeface="Arial"/>
                <a:ea typeface="Arial"/>
                <a:cs typeface="Arial"/>
                <a:sym typeface="Arial"/>
              </a:rPr>
              <a:t>End-to-End Encryption</a:t>
            </a:r>
            <a:r>
              <a:rPr lang="en-US" sz="2000">
                <a:latin typeface="Arial"/>
                <a:ea typeface="Arial"/>
                <a:cs typeface="Arial"/>
                <a:sym typeface="Arial"/>
              </a:rPr>
              <a:t>: bảo mật nội dung</a:t>
            </a:r>
            <a:endParaRPr sz="2000">
              <a:latin typeface="Arial"/>
              <a:ea typeface="Arial"/>
              <a:cs typeface="Arial"/>
              <a:sym typeface="Arial"/>
            </a:endParaRPr>
          </a:p>
          <a:p>
            <a:pPr indent="-355600" lvl="0" marL="457200" rtl="0" algn="l">
              <a:lnSpc>
                <a:spcPct val="150000"/>
              </a:lnSpc>
              <a:spcBef>
                <a:spcPts val="0"/>
              </a:spcBef>
              <a:spcAft>
                <a:spcPts val="0"/>
              </a:spcAft>
              <a:buSzPts val="2000"/>
              <a:buFont typeface="Arial"/>
              <a:buChar char="-"/>
            </a:pPr>
            <a:r>
              <a:rPr b="1" lang="en-US" sz="2000">
                <a:latin typeface="Arial"/>
                <a:ea typeface="Arial"/>
                <a:cs typeface="Arial"/>
                <a:sym typeface="Arial"/>
              </a:rPr>
              <a:t>AES-128</a:t>
            </a:r>
            <a:r>
              <a:rPr lang="en-US" sz="2000">
                <a:latin typeface="Arial"/>
                <a:ea typeface="Arial"/>
                <a:cs typeface="Arial"/>
                <a:sym typeface="Arial"/>
              </a:rPr>
              <a:t>: chống giả mạo và sửa dữ liệu </a:t>
            </a:r>
            <a:endParaRPr sz="2000">
              <a:latin typeface="Arial"/>
              <a:ea typeface="Arial"/>
              <a:cs typeface="Arial"/>
              <a:sym typeface="Arial"/>
            </a:endParaRPr>
          </a:p>
          <a:p>
            <a:pPr indent="-355600" lvl="0" marL="457200" rtl="0" algn="l">
              <a:lnSpc>
                <a:spcPct val="150000"/>
              </a:lnSpc>
              <a:spcBef>
                <a:spcPts val="0"/>
              </a:spcBef>
              <a:spcAft>
                <a:spcPts val="0"/>
              </a:spcAft>
              <a:buSzPts val="2000"/>
              <a:buFont typeface="Arial"/>
              <a:buChar char="-"/>
            </a:pPr>
            <a:r>
              <a:rPr b="1" lang="en-US" sz="2000">
                <a:latin typeface="Arial"/>
                <a:ea typeface="Arial"/>
                <a:cs typeface="Arial"/>
                <a:sym typeface="Arial"/>
              </a:rPr>
              <a:t>Replay Attack</a:t>
            </a:r>
            <a:r>
              <a:rPr lang="en-US" sz="2000">
                <a:latin typeface="Arial"/>
                <a:ea typeface="Arial"/>
                <a:cs typeface="Arial"/>
                <a:sym typeface="Arial"/>
              </a:rPr>
              <a:t>: ngăn kẻ tấn công gửi lại gói tin cũ để đánh lừa hệ thống </a:t>
            </a:r>
            <a:endParaRPr sz="2125">
              <a:latin typeface="Arial"/>
              <a:ea typeface="Arial"/>
              <a:cs typeface="Arial"/>
              <a:sym typeface="Arial"/>
            </a:endParaRPr>
          </a:p>
          <a:p>
            <a:pPr indent="0" lvl="0" marL="0" rtl="0" algn="l">
              <a:lnSpc>
                <a:spcPct val="150000"/>
              </a:lnSpc>
              <a:spcBef>
                <a:spcPts val="1000"/>
              </a:spcBef>
              <a:spcAft>
                <a:spcPts val="0"/>
              </a:spcAft>
              <a:buSzPts val="1800"/>
              <a:buNone/>
            </a:pPr>
            <a:r>
              <a:rPr b="1" lang="en-US" sz="2333">
                <a:latin typeface="Arial"/>
                <a:ea typeface="Arial"/>
                <a:cs typeface="Arial"/>
                <a:sym typeface="Arial"/>
              </a:rPr>
              <a:t>  </a:t>
            </a:r>
            <a:r>
              <a:rPr lang="en-US" sz="2333">
                <a:latin typeface="Arial"/>
                <a:ea typeface="Arial"/>
                <a:cs typeface="Arial"/>
                <a:sym typeface="Arial"/>
              </a:rPr>
              <a:t>-</a:t>
            </a:r>
            <a:r>
              <a:rPr lang="en-US" sz="2000">
                <a:latin typeface="Arial"/>
                <a:ea typeface="Arial"/>
                <a:cs typeface="Arial"/>
                <a:sym typeface="Arial"/>
              </a:rPr>
              <a:t>&gt; Rất phù hợp cho IoT công suất thấp, tầm xa</a:t>
            </a:r>
            <a:endParaRPr sz="2000">
              <a:latin typeface="Arial"/>
              <a:ea typeface="Arial"/>
              <a:cs typeface="Arial"/>
              <a:sym typeface="Arial"/>
            </a:endParaRPr>
          </a:p>
          <a:p>
            <a:pPr indent="0" lvl="0" marL="0" rtl="0" algn="l">
              <a:lnSpc>
                <a:spcPct val="150000"/>
              </a:lnSpc>
              <a:spcBef>
                <a:spcPts val="1000"/>
              </a:spcBef>
              <a:spcAft>
                <a:spcPts val="0"/>
              </a:spcAft>
              <a:buSzPts val="1800"/>
              <a:buNone/>
            </a:pPr>
            <a:r>
              <a:rPr lang="en-US" sz="2000">
                <a:latin typeface="Arial"/>
                <a:ea typeface="Arial"/>
                <a:cs typeface="Arial"/>
                <a:sym typeface="Arial"/>
              </a:rPr>
              <a:t>  -&gt; Bảo mật tốt, tiêu thụ năng lượng thấp</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9"/>
          <p:cNvSpPr txBox="1"/>
          <p:nvPr>
            <p:ph type="title"/>
          </p:nvPr>
        </p:nvSpPr>
        <p:spPr>
          <a:xfrm>
            <a:off x="0" y="2"/>
            <a:ext cx="9246000" cy="689400"/>
          </a:xfrm>
          <a:prstGeom prst="rect">
            <a:avLst/>
          </a:prstGeom>
          <a:noFill/>
          <a:ln>
            <a:noFill/>
          </a:ln>
        </p:spPr>
        <p:txBody>
          <a:bodyPr anchorCtr="0" anchor="ctr" bIns="45700" lIns="91425" spcFirstLastPara="1" rIns="91425" wrap="square" tIns="45700">
            <a:noAutofit/>
          </a:bodyPr>
          <a:lstStyle/>
          <a:p>
            <a:pPr indent="269875" lvl="0" marL="0" rtl="0" algn="just">
              <a:lnSpc>
                <a:spcPct val="120000"/>
              </a:lnSpc>
              <a:spcBef>
                <a:spcPts val="300"/>
              </a:spcBef>
              <a:spcAft>
                <a:spcPts val="300"/>
              </a:spcAft>
              <a:buClr>
                <a:schemeClr val="dk1"/>
              </a:buClr>
              <a:buSzPts val="1100"/>
              <a:buNone/>
            </a:pPr>
            <a:r>
              <a:rPr lang="en-US" sz="3600">
                <a:solidFill>
                  <a:schemeClr val="lt1"/>
                </a:solidFill>
                <a:latin typeface="Arial"/>
                <a:ea typeface="Arial"/>
                <a:cs typeface="Arial"/>
                <a:sym typeface="Arial"/>
              </a:rPr>
              <a:t>Bảo mật tầng mạng - Cellular IoT </a:t>
            </a:r>
            <a:endParaRPr sz="3600">
              <a:solidFill>
                <a:schemeClr val="lt1"/>
              </a:solidFill>
              <a:latin typeface="Arial"/>
              <a:ea typeface="Arial"/>
              <a:cs typeface="Arial"/>
              <a:sym typeface="Arial"/>
            </a:endParaRPr>
          </a:p>
        </p:txBody>
      </p:sp>
      <p:sp>
        <p:nvSpPr>
          <p:cNvPr id="337" name="Google Shape;337;p39"/>
          <p:cNvSpPr txBox="1"/>
          <p:nvPr>
            <p:ph idx="1" type="body"/>
          </p:nvPr>
        </p:nvSpPr>
        <p:spPr>
          <a:xfrm>
            <a:off x="82625" y="689400"/>
            <a:ext cx="11271300" cy="60429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000"/>
              </a:spcBef>
              <a:spcAft>
                <a:spcPts val="0"/>
              </a:spcAft>
              <a:buSzPts val="1800"/>
              <a:buNone/>
            </a:pPr>
            <a:r>
              <a:rPr lang="en-US" sz="2000">
                <a:latin typeface="Arial"/>
                <a:ea typeface="Arial"/>
                <a:cs typeface="Arial"/>
                <a:sym typeface="Arial"/>
              </a:rPr>
              <a:t>Cellular IoT kế thừa bảo mật từ mạng di động 3GPP.</a:t>
            </a:r>
            <a:endParaRPr sz="2000">
              <a:latin typeface="Arial"/>
              <a:ea typeface="Arial"/>
              <a:cs typeface="Arial"/>
              <a:sym typeface="Arial"/>
            </a:endParaRPr>
          </a:p>
          <a:p>
            <a:pPr indent="0" lvl="0" marL="0" rtl="0" algn="l">
              <a:lnSpc>
                <a:spcPct val="115000"/>
              </a:lnSpc>
              <a:spcBef>
                <a:spcPts val="1400"/>
              </a:spcBef>
              <a:spcAft>
                <a:spcPts val="0"/>
              </a:spcAft>
              <a:buSzPts val="1800"/>
              <a:buNone/>
            </a:pPr>
            <a:r>
              <a:rPr b="1" lang="en-US" sz="2300">
                <a:latin typeface="Arial"/>
                <a:ea typeface="Arial"/>
                <a:cs typeface="Arial"/>
                <a:sym typeface="Arial"/>
              </a:rPr>
              <a:t>Ưu điểm:</a:t>
            </a:r>
            <a:endParaRPr b="1" sz="2300">
              <a:latin typeface="Arial"/>
              <a:ea typeface="Arial"/>
              <a:cs typeface="Arial"/>
              <a:sym typeface="Arial"/>
            </a:endParaRPr>
          </a:p>
          <a:p>
            <a:pPr indent="-355600" lvl="0" marL="457200" rtl="0" algn="l">
              <a:lnSpc>
                <a:spcPct val="115000"/>
              </a:lnSpc>
              <a:spcBef>
                <a:spcPts val="1200"/>
              </a:spcBef>
              <a:spcAft>
                <a:spcPts val="0"/>
              </a:spcAft>
              <a:buSzPts val="2000"/>
              <a:buFont typeface="Arial"/>
              <a:buChar char="-"/>
            </a:pPr>
            <a:r>
              <a:rPr lang="en-US" sz="2000">
                <a:latin typeface="Arial"/>
                <a:ea typeface="Arial"/>
                <a:cs typeface="Arial"/>
                <a:sym typeface="Arial"/>
              </a:rPr>
              <a:t>Xác thực mạnh ở tầng mạng</a:t>
            </a: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US" sz="2000">
                <a:latin typeface="Arial"/>
                <a:ea typeface="Arial"/>
                <a:cs typeface="Arial"/>
                <a:sym typeface="Arial"/>
              </a:rPr>
              <a:t>Quản lý thiết bị tốt</a:t>
            </a: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US" sz="2000">
                <a:latin typeface="Arial"/>
                <a:ea typeface="Arial"/>
                <a:cs typeface="Arial"/>
                <a:sym typeface="Arial"/>
              </a:rPr>
              <a:t>Phù hợp hệ thống quy mô lớn</a:t>
            </a:r>
            <a:endParaRPr sz="2000">
              <a:latin typeface="Arial"/>
              <a:ea typeface="Arial"/>
              <a:cs typeface="Arial"/>
              <a:sym typeface="Arial"/>
            </a:endParaRPr>
          </a:p>
          <a:p>
            <a:pPr indent="0" lvl="0" marL="0" rtl="0" algn="l">
              <a:lnSpc>
                <a:spcPct val="115000"/>
              </a:lnSpc>
              <a:spcBef>
                <a:spcPts val="1200"/>
              </a:spcBef>
              <a:spcAft>
                <a:spcPts val="0"/>
              </a:spcAft>
              <a:buSzPts val="1800"/>
              <a:buNone/>
            </a:pPr>
            <a:r>
              <a:rPr b="1" lang="en-US" sz="2300">
                <a:latin typeface="Arial"/>
                <a:ea typeface="Arial"/>
                <a:cs typeface="Arial"/>
                <a:sym typeface="Arial"/>
              </a:rPr>
              <a:t>Hạn chế:</a:t>
            </a:r>
            <a:endParaRPr b="1" sz="2300">
              <a:latin typeface="Arial"/>
              <a:ea typeface="Arial"/>
              <a:cs typeface="Arial"/>
              <a:sym typeface="Arial"/>
            </a:endParaRPr>
          </a:p>
          <a:p>
            <a:pPr indent="-355600" lvl="0" marL="457200" rtl="0" algn="l">
              <a:lnSpc>
                <a:spcPct val="115000"/>
              </a:lnSpc>
              <a:spcBef>
                <a:spcPts val="1200"/>
              </a:spcBef>
              <a:spcAft>
                <a:spcPts val="0"/>
              </a:spcAft>
              <a:buSzPts val="2000"/>
              <a:buFont typeface="Arial"/>
              <a:buChar char="-"/>
            </a:pPr>
            <a:r>
              <a:rPr lang="en-US" sz="2000">
                <a:latin typeface="Arial"/>
                <a:ea typeface="Arial"/>
                <a:cs typeface="Arial"/>
                <a:sym typeface="Arial"/>
              </a:rPr>
              <a:t>Phụ thuộc nhà mạng</a:t>
            </a: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US" sz="2000">
                <a:latin typeface="Arial"/>
                <a:ea typeface="Arial"/>
                <a:cs typeface="Arial"/>
                <a:sym typeface="Arial"/>
              </a:rPr>
              <a:t>Chi phí cao hơn LoRaWAN</a:t>
            </a: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US" sz="2000">
                <a:latin typeface="Arial"/>
                <a:ea typeface="Arial"/>
                <a:cs typeface="Arial"/>
                <a:sym typeface="Arial"/>
              </a:rPr>
              <a:t>Thiết bị tiêu thụ năng lượng cao hơn</a:t>
            </a:r>
            <a:endParaRPr sz="2000">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0"/>
          <p:cNvSpPr txBox="1"/>
          <p:nvPr>
            <p:ph type="title"/>
          </p:nvPr>
        </p:nvSpPr>
        <p:spPr>
          <a:xfrm>
            <a:off x="0" y="2"/>
            <a:ext cx="9246000" cy="689400"/>
          </a:xfrm>
          <a:prstGeom prst="rect">
            <a:avLst/>
          </a:prstGeom>
          <a:noFill/>
          <a:ln>
            <a:noFill/>
          </a:ln>
        </p:spPr>
        <p:txBody>
          <a:bodyPr anchorCtr="0" anchor="ctr" bIns="45700" lIns="91425" spcFirstLastPara="1" rIns="91425" wrap="square" tIns="45700">
            <a:noAutofit/>
          </a:bodyPr>
          <a:lstStyle/>
          <a:p>
            <a:pPr indent="269875" lvl="0" marL="0" rtl="0" algn="just">
              <a:lnSpc>
                <a:spcPct val="120000"/>
              </a:lnSpc>
              <a:spcBef>
                <a:spcPts val="300"/>
              </a:spcBef>
              <a:spcAft>
                <a:spcPts val="300"/>
              </a:spcAft>
              <a:buClr>
                <a:schemeClr val="dk1"/>
              </a:buClr>
              <a:buSzPts val="1100"/>
              <a:buNone/>
            </a:pPr>
            <a:r>
              <a:rPr lang="en-US" sz="3600">
                <a:solidFill>
                  <a:schemeClr val="lt1"/>
                </a:solidFill>
                <a:latin typeface="Arial"/>
                <a:ea typeface="Arial"/>
                <a:cs typeface="Arial"/>
                <a:sym typeface="Arial"/>
              </a:rPr>
              <a:t>Xác thực thiết bị - Pre-share keys </a:t>
            </a:r>
            <a:endParaRPr sz="3600">
              <a:solidFill>
                <a:schemeClr val="lt1"/>
              </a:solidFill>
              <a:latin typeface="Arial"/>
              <a:ea typeface="Arial"/>
              <a:cs typeface="Arial"/>
              <a:sym typeface="Arial"/>
            </a:endParaRPr>
          </a:p>
        </p:txBody>
      </p:sp>
      <p:sp>
        <p:nvSpPr>
          <p:cNvPr id="343" name="Google Shape;343;p40"/>
          <p:cNvSpPr txBox="1"/>
          <p:nvPr>
            <p:ph idx="1" type="body"/>
          </p:nvPr>
        </p:nvSpPr>
        <p:spPr>
          <a:xfrm>
            <a:off x="0" y="689400"/>
            <a:ext cx="11271300" cy="6042900"/>
          </a:xfrm>
          <a:prstGeom prst="rect">
            <a:avLst/>
          </a:prstGeom>
          <a:noFill/>
          <a:ln>
            <a:noFill/>
          </a:ln>
        </p:spPr>
        <p:txBody>
          <a:bodyPr anchorCtr="0" anchor="t" bIns="45700" lIns="91425" spcFirstLastPara="1" rIns="91425" wrap="square" tIns="45700">
            <a:normAutofit fontScale="62500" lnSpcReduction="10000"/>
          </a:bodyPr>
          <a:lstStyle/>
          <a:p>
            <a:pPr indent="0" lvl="0" marL="0" rtl="0" algn="l">
              <a:lnSpc>
                <a:spcPct val="115000"/>
              </a:lnSpc>
              <a:spcBef>
                <a:spcPts val="1200"/>
              </a:spcBef>
              <a:spcAft>
                <a:spcPts val="0"/>
              </a:spcAft>
              <a:buSzPct val="79999"/>
              <a:buNone/>
            </a:pPr>
            <a:r>
              <a:rPr b="1" lang="en-US" sz="3600">
                <a:latin typeface="Arial"/>
                <a:ea typeface="Arial"/>
                <a:cs typeface="Arial"/>
                <a:sym typeface="Arial"/>
              </a:rPr>
              <a:t>Định nghĩa: PSK</a:t>
            </a:r>
            <a:r>
              <a:rPr lang="en-US" sz="3600">
                <a:latin typeface="Arial"/>
                <a:ea typeface="Arial"/>
                <a:cs typeface="Arial"/>
                <a:sym typeface="Arial"/>
              </a:rPr>
              <a:t> là cơ chế xác thực dùng khóa bí mật được chia sẻ trước giữa thiết bị và server.</a:t>
            </a:r>
            <a:endParaRPr sz="3600">
              <a:latin typeface="Arial"/>
              <a:ea typeface="Arial"/>
              <a:cs typeface="Arial"/>
              <a:sym typeface="Arial"/>
            </a:endParaRPr>
          </a:p>
          <a:p>
            <a:pPr indent="0" lvl="0" marL="0" rtl="0" algn="l">
              <a:lnSpc>
                <a:spcPct val="115000"/>
              </a:lnSpc>
              <a:spcBef>
                <a:spcPts val="1400"/>
              </a:spcBef>
              <a:spcAft>
                <a:spcPts val="0"/>
              </a:spcAft>
              <a:buSzPct val="79999"/>
              <a:buNone/>
            </a:pPr>
            <a:r>
              <a:rPr b="1" lang="en-US" sz="3600">
                <a:latin typeface="Arial"/>
                <a:ea typeface="Arial"/>
                <a:cs typeface="Arial"/>
                <a:sym typeface="Arial"/>
              </a:rPr>
              <a:t>Đặc điểm:</a:t>
            </a:r>
            <a:endParaRPr b="1" sz="3600">
              <a:latin typeface="Arial"/>
              <a:ea typeface="Arial"/>
              <a:cs typeface="Arial"/>
              <a:sym typeface="Arial"/>
            </a:endParaRPr>
          </a:p>
          <a:p>
            <a:pPr indent="-371475" lvl="0" marL="457200" rtl="0" algn="l">
              <a:lnSpc>
                <a:spcPct val="115000"/>
              </a:lnSpc>
              <a:spcBef>
                <a:spcPts val="1200"/>
              </a:spcBef>
              <a:spcAft>
                <a:spcPts val="0"/>
              </a:spcAft>
              <a:buSzPct val="100000"/>
              <a:buFont typeface="Arial"/>
              <a:buChar char="-"/>
            </a:pPr>
            <a:r>
              <a:rPr lang="en-US" sz="3600">
                <a:latin typeface="Arial"/>
                <a:ea typeface="Arial"/>
                <a:cs typeface="Arial"/>
                <a:sym typeface="Arial"/>
              </a:rPr>
              <a:t>Hai bên cùng biết một khóa bí mật</a:t>
            </a:r>
            <a:endParaRPr sz="3600">
              <a:latin typeface="Arial"/>
              <a:ea typeface="Arial"/>
              <a:cs typeface="Arial"/>
              <a:sym typeface="Arial"/>
            </a:endParaRPr>
          </a:p>
          <a:p>
            <a:pPr indent="-371475" lvl="0" marL="457200" rtl="0" algn="l">
              <a:lnSpc>
                <a:spcPct val="115000"/>
              </a:lnSpc>
              <a:spcBef>
                <a:spcPts val="0"/>
              </a:spcBef>
              <a:spcAft>
                <a:spcPts val="0"/>
              </a:spcAft>
              <a:buSzPct val="100000"/>
              <a:buFont typeface="Arial"/>
              <a:buChar char="-"/>
            </a:pPr>
            <a:r>
              <a:rPr lang="en-US" sz="3600">
                <a:latin typeface="Arial"/>
                <a:ea typeface="Arial"/>
                <a:cs typeface="Arial"/>
                <a:sym typeface="Arial"/>
              </a:rPr>
              <a:t>Thường dùng trong TLS-PSK, DTLS-PSK, LoRaWAN </a:t>
            </a:r>
            <a:endParaRPr sz="3600">
              <a:latin typeface="Arial"/>
              <a:ea typeface="Arial"/>
              <a:cs typeface="Arial"/>
              <a:sym typeface="Arial"/>
            </a:endParaRPr>
          </a:p>
          <a:p>
            <a:pPr indent="0" lvl="0" marL="0" rtl="0" algn="l">
              <a:lnSpc>
                <a:spcPct val="115000"/>
              </a:lnSpc>
              <a:spcBef>
                <a:spcPts val="1200"/>
              </a:spcBef>
              <a:spcAft>
                <a:spcPts val="0"/>
              </a:spcAft>
              <a:buSzPct val="79999"/>
              <a:buNone/>
            </a:pPr>
            <a:r>
              <a:rPr b="1" lang="en-US" sz="3600">
                <a:latin typeface="Arial"/>
                <a:ea typeface="Arial"/>
                <a:cs typeface="Arial"/>
                <a:sym typeface="Arial"/>
              </a:rPr>
              <a:t>Ưu điểm:</a:t>
            </a:r>
            <a:endParaRPr b="1" sz="3600">
              <a:latin typeface="Arial"/>
              <a:ea typeface="Arial"/>
              <a:cs typeface="Arial"/>
              <a:sym typeface="Arial"/>
            </a:endParaRPr>
          </a:p>
          <a:p>
            <a:pPr indent="-371475" lvl="0" marL="457200" rtl="0" algn="l">
              <a:lnSpc>
                <a:spcPct val="115000"/>
              </a:lnSpc>
              <a:spcBef>
                <a:spcPts val="1200"/>
              </a:spcBef>
              <a:spcAft>
                <a:spcPts val="0"/>
              </a:spcAft>
              <a:buSzPct val="100000"/>
              <a:buFont typeface="Arial"/>
              <a:buChar char="-"/>
            </a:pPr>
            <a:r>
              <a:rPr lang="en-US" sz="3600">
                <a:latin typeface="Arial"/>
                <a:ea typeface="Arial"/>
                <a:cs typeface="Arial"/>
                <a:sym typeface="Arial"/>
              </a:rPr>
              <a:t>Đơn giản, dễ triển khai</a:t>
            </a:r>
            <a:endParaRPr sz="3600">
              <a:latin typeface="Arial"/>
              <a:ea typeface="Arial"/>
              <a:cs typeface="Arial"/>
              <a:sym typeface="Arial"/>
            </a:endParaRPr>
          </a:p>
          <a:p>
            <a:pPr indent="-371475" lvl="0" marL="457200" rtl="0" algn="l">
              <a:lnSpc>
                <a:spcPct val="115000"/>
              </a:lnSpc>
              <a:spcBef>
                <a:spcPts val="0"/>
              </a:spcBef>
              <a:spcAft>
                <a:spcPts val="0"/>
              </a:spcAft>
              <a:buSzPct val="100000"/>
              <a:buFont typeface="Arial"/>
              <a:buChar char="-"/>
            </a:pPr>
            <a:r>
              <a:rPr lang="en-US" sz="3600">
                <a:latin typeface="Arial"/>
                <a:ea typeface="Arial"/>
                <a:cs typeface="Arial"/>
                <a:sym typeface="Arial"/>
              </a:rPr>
              <a:t>Tốn ít tài nguyên (CPU, RAM)</a:t>
            </a:r>
            <a:endParaRPr sz="3600">
              <a:latin typeface="Arial"/>
              <a:ea typeface="Arial"/>
              <a:cs typeface="Arial"/>
              <a:sym typeface="Arial"/>
            </a:endParaRPr>
          </a:p>
          <a:p>
            <a:pPr indent="-371475" lvl="0" marL="457200" rtl="0" algn="l">
              <a:lnSpc>
                <a:spcPct val="115000"/>
              </a:lnSpc>
              <a:spcBef>
                <a:spcPts val="0"/>
              </a:spcBef>
              <a:spcAft>
                <a:spcPts val="0"/>
              </a:spcAft>
              <a:buSzPct val="100000"/>
              <a:buFont typeface="Arial"/>
              <a:buChar char="-"/>
            </a:pPr>
            <a:r>
              <a:rPr lang="en-US" sz="3600">
                <a:latin typeface="Arial"/>
                <a:ea typeface="Arial"/>
                <a:cs typeface="Arial"/>
                <a:sym typeface="Arial"/>
              </a:rPr>
              <a:t>Phù hợp thiết bị IoT nhỏ</a:t>
            </a:r>
            <a:endParaRPr sz="3600">
              <a:latin typeface="Arial"/>
              <a:ea typeface="Arial"/>
              <a:cs typeface="Arial"/>
              <a:sym typeface="Arial"/>
            </a:endParaRPr>
          </a:p>
          <a:p>
            <a:pPr indent="0" lvl="0" marL="0" rtl="0" algn="l">
              <a:lnSpc>
                <a:spcPct val="115000"/>
              </a:lnSpc>
              <a:spcBef>
                <a:spcPts val="1400"/>
              </a:spcBef>
              <a:spcAft>
                <a:spcPts val="0"/>
              </a:spcAft>
              <a:buSzPct val="79999"/>
              <a:buNone/>
            </a:pPr>
            <a:r>
              <a:rPr b="1" lang="en-US" sz="3600">
                <a:latin typeface="Arial"/>
                <a:ea typeface="Arial"/>
                <a:cs typeface="Arial"/>
                <a:sym typeface="Arial"/>
              </a:rPr>
              <a:t>Nhược điểm:</a:t>
            </a:r>
            <a:endParaRPr b="1" sz="3600">
              <a:latin typeface="Arial"/>
              <a:ea typeface="Arial"/>
              <a:cs typeface="Arial"/>
              <a:sym typeface="Arial"/>
            </a:endParaRPr>
          </a:p>
          <a:p>
            <a:pPr indent="-371475" lvl="0" marL="457200" rtl="0" algn="l">
              <a:lnSpc>
                <a:spcPct val="115000"/>
              </a:lnSpc>
              <a:spcBef>
                <a:spcPts val="1200"/>
              </a:spcBef>
              <a:spcAft>
                <a:spcPts val="0"/>
              </a:spcAft>
              <a:buSzPct val="100000"/>
              <a:buFont typeface="Arial"/>
              <a:buChar char="-"/>
            </a:pPr>
            <a:r>
              <a:rPr lang="en-US" sz="3600">
                <a:latin typeface="Arial"/>
                <a:ea typeface="Arial"/>
                <a:cs typeface="Arial"/>
                <a:sym typeface="Arial"/>
              </a:rPr>
              <a:t>Khó quản lý khi nhiều thiết bị</a:t>
            </a:r>
            <a:endParaRPr sz="3600">
              <a:latin typeface="Arial"/>
              <a:ea typeface="Arial"/>
              <a:cs typeface="Arial"/>
              <a:sym typeface="Arial"/>
            </a:endParaRPr>
          </a:p>
          <a:p>
            <a:pPr indent="-371475" lvl="0" marL="457200" rtl="0" algn="l">
              <a:lnSpc>
                <a:spcPct val="115000"/>
              </a:lnSpc>
              <a:spcBef>
                <a:spcPts val="0"/>
              </a:spcBef>
              <a:spcAft>
                <a:spcPts val="0"/>
              </a:spcAft>
              <a:buSzPct val="100000"/>
              <a:buFont typeface="Arial"/>
              <a:buChar char="-"/>
            </a:pPr>
            <a:r>
              <a:rPr lang="en-US" sz="3600">
                <a:latin typeface="Arial"/>
                <a:ea typeface="Arial"/>
                <a:cs typeface="Arial"/>
                <a:sym typeface="Arial"/>
              </a:rPr>
              <a:t>Lộ khóa → mất an toàn</a:t>
            </a:r>
            <a:endParaRPr sz="3200">
              <a:latin typeface="Arial"/>
              <a:ea typeface="Arial"/>
              <a:cs typeface="Arial"/>
              <a:sym typeface="Arial"/>
            </a:endParaRPr>
          </a:p>
          <a:p>
            <a:pPr indent="-371475" lvl="0" marL="457200" rtl="0" algn="l">
              <a:lnSpc>
                <a:spcPct val="115000"/>
              </a:lnSpc>
              <a:spcBef>
                <a:spcPts val="0"/>
              </a:spcBef>
              <a:spcAft>
                <a:spcPts val="0"/>
              </a:spcAft>
              <a:buSzPct val="100000"/>
              <a:buFont typeface="Arial"/>
              <a:buChar char="-"/>
            </a:pPr>
            <a:r>
              <a:rPr lang="en-US" sz="3600">
                <a:latin typeface="Arial"/>
                <a:ea typeface="Arial"/>
                <a:cs typeface="Arial"/>
                <a:sym typeface="Arial"/>
              </a:rPr>
              <a:t>Không linh hoạt</a:t>
            </a:r>
            <a:endParaRPr sz="3600">
              <a:latin typeface="Arial"/>
              <a:ea typeface="Arial"/>
              <a:cs typeface="Arial"/>
              <a:sym typeface="Arial"/>
            </a:endParaRPr>
          </a:p>
          <a:p>
            <a:pPr indent="-228600" lvl="0" marL="457200" rtl="0" algn="l">
              <a:lnSpc>
                <a:spcPct val="90000"/>
              </a:lnSpc>
              <a:spcBef>
                <a:spcPts val="1200"/>
              </a:spcBef>
              <a:spcAft>
                <a:spcPts val="0"/>
              </a:spcAft>
              <a:buClr>
                <a:schemeClr val="dk1"/>
              </a:buClr>
              <a:buSzPct val="90000"/>
              <a:buNone/>
            </a:pPr>
            <a:r>
              <a:t/>
            </a:r>
            <a:endParaRPr sz="2000">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1"/>
          <p:cNvSpPr txBox="1"/>
          <p:nvPr>
            <p:ph type="title"/>
          </p:nvPr>
        </p:nvSpPr>
        <p:spPr>
          <a:xfrm>
            <a:off x="0" y="2"/>
            <a:ext cx="9246000" cy="689400"/>
          </a:xfrm>
          <a:prstGeom prst="rect">
            <a:avLst/>
          </a:prstGeom>
          <a:noFill/>
          <a:ln>
            <a:noFill/>
          </a:ln>
        </p:spPr>
        <p:txBody>
          <a:bodyPr anchorCtr="0" anchor="ctr" bIns="45700" lIns="91425" spcFirstLastPara="1" rIns="91425" wrap="square" tIns="45700">
            <a:noAutofit/>
          </a:bodyPr>
          <a:lstStyle/>
          <a:p>
            <a:pPr indent="269875" lvl="0" marL="0" rtl="0" algn="just">
              <a:lnSpc>
                <a:spcPct val="120000"/>
              </a:lnSpc>
              <a:spcBef>
                <a:spcPts val="300"/>
              </a:spcBef>
              <a:spcAft>
                <a:spcPts val="300"/>
              </a:spcAft>
              <a:buClr>
                <a:schemeClr val="dk1"/>
              </a:buClr>
              <a:buSzPts val="1100"/>
              <a:buNone/>
            </a:pPr>
            <a:r>
              <a:rPr lang="en-US" sz="3600">
                <a:solidFill>
                  <a:schemeClr val="lt1"/>
                </a:solidFill>
                <a:latin typeface="Arial"/>
                <a:ea typeface="Arial"/>
                <a:cs typeface="Arial"/>
                <a:sym typeface="Arial"/>
              </a:rPr>
              <a:t>Xác thực thiết bị - Certificates (X.509)</a:t>
            </a:r>
            <a:endParaRPr sz="3600">
              <a:solidFill>
                <a:schemeClr val="lt1"/>
              </a:solidFill>
              <a:latin typeface="Arial"/>
              <a:ea typeface="Arial"/>
              <a:cs typeface="Arial"/>
              <a:sym typeface="Arial"/>
            </a:endParaRPr>
          </a:p>
        </p:txBody>
      </p:sp>
      <p:sp>
        <p:nvSpPr>
          <p:cNvPr id="349" name="Google Shape;349;p41"/>
          <p:cNvSpPr txBox="1"/>
          <p:nvPr>
            <p:ph idx="1" type="body"/>
          </p:nvPr>
        </p:nvSpPr>
        <p:spPr>
          <a:xfrm>
            <a:off x="0" y="689400"/>
            <a:ext cx="11271300" cy="60429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15000"/>
              </a:lnSpc>
              <a:spcBef>
                <a:spcPts val="1200"/>
              </a:spcBef>
              <a:spcAft>
                <a:spcPts val="0"/>
              </a:spcAft>
              <a:buSzPts val="1800"/>
              <a:buNone/>
            </a:pPr>
            <a:r>
              <a:rPr b="1" lang="en-US" sz="2350">
                <a:latin typeface="Arial"/>
                <a:ea typeface="Arial"/>
                <a:cs typeface="Arial"/>
                <a:sym typeface="Arial"/>
              </a:rPr>
              <a:t>Định nghĩa: </a:t>
            </a:r>
            <a:r>
              <a:rPr lang="en-US" sz="2350">
                <a:latin typeface="Arial"/>
                <a:ea typeface="Arial"/>
                <a:cs typeface="Arial"/>
                <a:sym typeface="Arial"/>
              </a:rPr>
              <a:t>X.509 Certificate dùng mật mã bất đối xứng để xác thực thiết bị.</a:t>
            </a:r>
            <a:endParaRPr sz="2350">
              <a:latin typeface="Arial"/>
              <a:ea typeface="Arial"/>
              <a:cs typeface="Arial"/>
              <a:sym typeface="Arial"/>
            </a:endParaRPr>
          </a:p>
          <a:p>
            <a:pPr indent="0" lvl="0" marL="0" rtl="0" algn="l">
              <a:lnSpc>
                <a:spcPct val="115000"/>
              </a:lnSpc>
              <a:spcBef>
                <a:spcPts val="1400"/>
              </a:spcBef>
              <a:spcAft>
                <a:spcPts val="0"/>
              </a:spcAft>
              <a:buSzPts val="1800"/>
              <a:buNone/>
            </a:pPr>
            <a:r>
              <a:rPr b="1" lang="en-US" sz="2350">
                <a:latin typeface="Arial"/>
                <a:ea typeface="Arial"/>
                <a:cs typeface="Arial"/>
                <a:sym typeface="Arial"/>
              </a:rPr>
              <a:t>Đặc điểm:</a:t>
            </a:r>
            <a:endParaRPr b="1" sz="2350">
              <a:latin typeface="Arial"/>
              <a:ea typeface="Arial"/>
              <a:cs typeface="Arial"/>
              <a:sym typeface="Arial"/>
            </a:endParaRPr>
          </a:p>
          <a:p>
            <a:pPr indent="-377825" lvl="0" marL="457200" rtl="0" algn="l">
              <a:lnSpc>
                <a:spcPct val="115000"/>
              </a:lnSpc>
              <a:spcBef>
                <a:spcPts val="1200"/>
              </a:spcBef>
              <a:spcAft>
                <a:spcPts val="0"/>
              </a:spcAft>
              <a:buSzPts val="2350"/>
              <a:buChar char="-"/>
            </a:pPr>
            <a:r>
              <a:rPr lang="en-US" sz="2350">
                <a:latin typeface="Arial"/>
                <a:ea typeface="Arial"/>
                <a:cs typeface="Arial"/>
                <a:sym typeface="Arial"/>
              </a:rPr>
              <a:t>Mỗi thiết bị có cặp khóa public/private</a:t>
            </a:r>
            <a:endParaRPr sz="2350">
              <a:latin typeface="Arial"/>
              <a:ea typeface="Arial"/>
              <a:cs typeface="Arial"/>
              <a:sym typeface="Arial"/>
            </a:endParaRPr>
          </a:p>
          <a:p>
            <a:pPr indent="-377825" lvl="0" marL="457200" rtl="0" algn="l">
              <a:lnSpc>
                <a:spcPct val="115000"/>
              </a:lnSpc>
              <a:spcBef>
                <a:spcPts val="0"/>
              </a:spcBef>
              <a:spcAft>
                <a:spcPts val="0"/>
              </a:spcAft>
              <a:buSzPts val="2350"/>
              <a:buChar char="-"/>
            </a:pPr>
            <a:r>
              <a:rPr lang="en-US" sz="2350">
                <a:latin typeface="Arial"/>
                <a:ea typeface="Arial"/>
                <a:cs typeface="Arial"/>
                <a:sym typeface="Arial"/>
              </a:rPr>
              <a:t>Server kiểm tra Certificate do CA cấp</a:t>
            </a:r>
            <a:endParaRPr sz="2350">
              <a:latin typeface="Arial"/>
              <a:ea typeface="Arial"/>
              <a:cs typeface="Arial"/>
              <a:sym typeface="Arial"/>
            </a:endParaRPr>
          </a:p>
          <a:p>
            <a:pPr indent="-377825" lvl="0" marL="457200" rtl="0" algn="l">
              <a:lnSpc>
                <a:spcPct val="115000"/>
              </a:lnSpc>
              <a:spcBef>
                <a:spcPts val="0"/>
              </a:spcBef>
              <a:spcAft>
                <a:spcPts val="0"/>
              </a:spcAft>
              <a:buSzPts val="2350"/>
              <a:buChar char="-"/>
            </a:pPr>
            <a:r>
              <a:rPr lang="en-US" sz="2350">
                <a:latin typeface="Arial"/>
                <a:ea typeface="Arial"/>
                <a:cs typeface="Arial"/>
                <a:sym typeface="Arial"/>
              </a:rPr>
              <a:t>Thường dùng trong TLS/HTTPS, MQTTS</a:t>
            </a:r>
            <a:endParaRPr sz="2350">
              <a:latin typeface="Arial"/>
              <a:ea typeface="Arial"/>
              <a:cs typeface="Arial"/>
              <a:sym typeface="Arial"/>
            </a:endParaRPr>
          </a:p>
          <a:p>
            <a:pPr indent="0" lvl="0" marL="0" rtl="0" algn="l">
              <a:lnSpc>
                <a:spcPct val="115000"/>
              </a:lnSpc>
              <a:spcBef>
                <a:spcPts val="1200"/>
              </a:spcBef>
              <a:spcAft>
                <a:spcPts val="0"/>
              </a:spcAft>
              <a:buSzPts val="1800"/>
              <a:buNone/>
            </a:pPr>
            <a:r>
              <a:rPr b="1" lang="en-US" sz="2350">
                <a:latin typeface="Arial"/>
                <a:ea typeface="Arial"/>
                <a:cs typeface="Arial"/>
                <a:sym typeface="Arial"/>
              </a:rPr>
              <a:t>Ưu điểm:</a:t>
            </a:r>
            <a:endParaRPr b="1" sz="2350">
              <a:latin typeface="Arial"/>
              <a:ea typeface="Arial"/>
              <a:cs typeface="Arial"/>
              <a:sym typeface="Arial"/>
            </a:endParaRPr>
          </a:p>
          <a:p>
            <a:pPr indent="-377825" lvl="0" marL="457200" rtl="0" algn="l">
              <a:lnSpc>
                <a:spcPct val="115000"/>
              </a:lnSpc>
              <a:spcBef>
                <a:spcPts val="1200"/>
              </a:spcBef>
              <a:spcAft>
                <a:spcPts val="0"/>
              </a:spcAft>
              <a:buSzPts val="2350"/>
              <a:buChar char="-"/>
            </a:pPr>
            <a:r>
              <a:rPr lang="en-US" sz="2350">
                <a:latin typeface="Arial"/>
                <a:ea typeface="Arial"/>
                <a:cs typeface="Arial"/>
                <a:sym typeface="Arial"/>
              </a:rPr>
              <a:t>Bảo mật cao</a:t>
            </a:r>
            <a:endParaRPr sz="2350">
              <a:latin typeface="Arial"/>
              <a:ea typeface="Arial"/>
              <a:cs typeface="Arial"/>
              <a:sym typeface="Arial"/>
            </a:endParaRPr>
          </a:p>
          <a:p>
            <a:pPr indent="-377825" lvl="0" marL="457200" rtl="0" algn="l">
              <a:lnSpc>
                <a:spcPct val="115000"/>
              </a:lnSpc>
              <a:spcBef>
                <a:spcPts val="0"/>
              </a:spcBef>
              <a:spcAft>
                <a:spcPts val="0"/>
              </a:spcAft>
              <a:buSzPts val="2350"/>
              <a:buChar char="-"/>
            </a:pPr>
            <a:r>
              <a:rPr lang="en-US" sz="2350">
                <a:latin typeface="Arial"/>
                <a:ea typeface="Arial"/>
                <a:cs typeface="Arial"/>
                <a:sym typeface="Arial"/>
              </a:rPr>
              <a:t>Quản lý tốt quy mô lớn</a:t>
            </a:r>
            <a:endParaRPr sz="2350">
              <a:latin typeface="Arial"/>
              <a:ea typeface="Arial"/>
              <a:cs typeface="Arial"/>
              <a:sym typeface="Arial"/>
            </a:endParaRPr>
          </a:p>
          <a:p>
            <a:pPr indent="-377825" lvl="0" marL="457200" rtl="0" algn="l">
              <a:lnSpc>
                <a:spcPct val="115000"/>
              </a:lnSpc>
              <a:spcBef>
                <a:spcPts val="0"/>
              </a:spcBef>
              <a:spcAft>
                <a:spcPts val="0"/>
              </a:spcAft>
              <a:buSzPts val="2350"/>
              <a:buFont typeface="Arial"/>
              <a:buChar char="-"/>
            </a:pPr>
            <a:r>
              <a:rPr lang="en-US" sz="2350">
                <a:latin typeface="Arial"/>
                <a:ea typeface="Arial"/>
                <a:cs typeface="Arial"/>
                <a:sym typeface="Arial"/>
              </a:rPr>
              <a:t>Không chia sẻ khóa bí mật</a:t>
            </a:r>
            <a:endParaRPr sz="2350">
              <a:latin typeface="Arial"/>
              <a:ea typeface="Arial"/>
              <a:cs typeface="Arial"/>
              <a:sym typeface="Arial"/>
            </a:endParaRPr>
          </a:p>
          <a:p>
            <a:pPr indent="0" lvl="0" marL="0" rtl="0" algn="l">
              <a:lnSpc>
                <a:spcPct val="115000"/>
              </a:lnSpc>
              <a:spcBef>
                <a:spcPts val="1400"/>
              </a:spcBef>
              <a:spcAft>
                <a:spcPts val="0"/>
              </a:spcAft>
              <a:buSzPts val="1800"/>
              <a:buNone/>
            </a:pPr>
            <a:r>
              <a:rPr b="1" lang="en-US" sz="2350">
                <a:latin typeface="Arial"/>
                <a:ea typeface="Arial"/>
                <a:cs typeface="Arial"/>
                <a:sym typeface="Arial"/>
              </a:rPr>
              <a:t>Nhược điểm:</a:t>
            </a:r>
            <a:endParaRPr b="1" sz="2350">
              <a:latin typeface="Arial"/>
              <a:ea typeface="Arial"/>
              <a:cs typeface="Arial"/>
              <a:sym typeface="Arial"/>
            </a:endParaRPr>
          </a:p>
          <a:p>
            <a:pPr indent="-377825" lvl="0" marL="457200" rtl="0" algn="l">
              <a:lnSpc>
                <a:spcPct val="115000"/>
              </a:lnSpc>
              <a:spcBef>
                <a:spcPts val="1200"/>
              </a:spcBef>
              <a:spcAft>
                <a:spcPts val="0"/>
              </a:spcAft>
              <a:buSzPts val="2350"/>
              <a:buChar char="-"/>
            </a:pPr>
            <a:r>
              <a:rPr lang="en-US" sz="2350">
                <a:latin typeface="Arial"/>
                <a:ea typeface="Arial"/>
                <a:cs typeface="Arial"/>
                <a:sym typeface="Arial"/>
              </a:rPr>
              <a:t>Tốn tài nguyên</a:t>
            </a:r>
            <a:endParaRPr sz="2350">
              <a:latin typeface="Arial"/>
              <a:ea typeface="Arial"/>
              <a:cs typeface="Arial"/>
              <a:sym typeface="Arial"/>
            </a:endParaRPr>
          </a:p>
          <a:p>
            <a:pPr indent="-377825" lvl="0" marL="457200" rtl="0" algn="l">
              <a:lnSpc>
                <a:spcPct val="115000"/>
              </a:lnSpc>
              <a:spcBef>
                <a:spcPts val="0"/>
              </a:spcBef>
              <a:spcAft>
                <a:spcPts val="0"/>
              </a:spcAft>
              <a:buSzPts val="2350"/>
              <a:buChar char="-"/>
            </a:pPr>
            <a:r>
              <a:rPr lang="en-US" sz="2350">
                <a:latin typeface="Arial"/>
                <a:ea typeface="Arial"/>
                <a:cs typeface="Arial"/>
                <a:sym typeface="Arial"/>
              </a:rPr>
              <a:t>Cài đặt phức tạp</a:t>
            </a:r>
            <a:endParaRPr sz="2350">
              <a:latin typeface="Arial"/>
              <a:ea typeface="Arial"/>
              <a:cs typeface="Arial"/>
              <a:sym typeface="Arial"/>
            </a:endParaRPr>
          </a:p>
          <a:p>
            <a:pPr indent="-377825" lvl="0" marL="457200" rtl="0" algn="l">
              <a:lnSpc>
                <a:spcPct val="115000"/>
              </a:lnSpc>
              <a:spcBef>
                <a:spcPts val="0"/>
              </a:spcBef>
              <a:spcAft>
                <a:spcPts val="0"/>
              </a:spcAft>
              <a:buSzPts val="2350"/>
              <a:buFont typeface="Arial"/>
              <a:buChar char="-"/>
            </a:pPr>
            <a:r>
              <a:rPr lang="en-US" sz="2350">
                <a:latin typeface="Arial"/>
                <a:ea typeface="Arial"/>
                <a:cs typeface="Arial"/>
                <a:sym typeface="Arial"/>
              </a:rPr>
              <a:t>Không phù hợp IoT siêu nhỏ</a:t>
            </a:r>
            <a:endParaRPr sz="2350">
              <a:latin typeface="Arial"/>
              <a:ea typeface="Arial"/>
              <a:cs typeface="Arial"/>
              <a:sym typeface="Arial"/>
            </a:endParaRPr>
          </a:p>
          <a:p>
            <a:pPr indent="-228600" lvl="0" marL="457200" rtl="0" algn="l">
              <a:lnSpc>
                <a:spcPct val="90000"/>
              </a:lnSpc>
              <a:spcBef>
                <a:spcPts val="1200"/>
              </a:spcBef>
              <a:spcAft>
                <a:spcPts val="0"/>
              </a:spcAft>
              <a:buClr>
                <a:schemeClr val="dk1"/>
              </a:buClr>
              <a:buSzPts val="1800"/>
              <a:buNone/>
            </a:pPr>
            <a:r>
              <a:t/>
            </a:r>
            <a:endParaRPr sz="2000">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2"/>
          <p:cNvSpPr txBox="1"/>
          <p:nvPr>
            <p:ph type="title"/>
          </p:nvPr>
        </p:nvSpPr>
        <p:spPr>
          <a:xfrm>
            <a:off x="0" y="2"/>
            <a:ext cx="9246000" cy="689400"/>
          </a:xfrm>
          <a:prstGeom prst="rect">
            <a:avLst/>
          </a:prstGeom>
          <a:noFill/>
          <a:ln>
            <a:noFill/>
          </a:ln>
        </p:spPr>
        <p:txBody>
          <a:bodyPr anchorCtr="0" anchor="ctr" bIns="45700" lIns="91425" spcFirstLastPara="1" rIns="91425" wrap="square" tIns="45700">
            <a:noAutofit/>
          </a:bodyPr>
          <a:lstStyle/>
          <a:p>
            <a:pPr indent="269875" lvl="0" marL="0" rtl="0" algn="just">
              <a:lnSpc>
                <a:spcPct val="120000"/>
              </a:lnSpc>
              <a:spcBef>
                <a:spcPts val="300"/>
              </a:spcBef>
              <a:spcAft>
                <a:spcPts val="300"/>
              </a:spcAft>
              <a:buClr>
                <a:schemeClr val="dk1"/>
              </a:buClr>
              <a:buSzPts val="1100"/>
              <a:buNone/>
            </a:pPr>
            <a:r>
              <a:rPr lang="en-US" sz="3600">
                <a:solidFill>
                  <a:schemeClr val="lt1"/>
                </a:solidFill>
                <a:latin typeface="Arial"/>
                <a:ea typeface="Arial"/>
                <a:cs typeface="Arial"/>
                <a:sym typeface="Arial"/>
              </a:rPr>
              <a:t>Xác thực thiết bị - Token-based</a:t>
            </a:r>
            <a:endParaRPr sz="3600">
              <a:solidFill>
                <a:schemeClr val="lt1"/>
              </a:solidFill>
              <a:latin typeface="Arial"/>
              <a:ea typeface="Arial"/>
              <a:cs typeface="Arial"/>
              <a:sym typeface="Arial"/>
            </a:endParaRPr>
          </a:p>
        </p:txBody>
      </p:sp>
      <p:sp>
        <p:nvSpPr>
          <p:cNvPr id="355" name="Google Shape;355;p42"/>
          <p:cNvSpPr txBox="1"/>
          <p:nvPr>
            <p:ph idx="1" type="body"/>
          </p:nvPr>
        </p:nvSpPr>
        <p:spPr>
          <a:xfrm>
            <a:off x="0" y="689400"/>
            <a:ext cx="11271300" cy="60429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SzPts val="1800"/>
              <a:buNone/>
            </a:pPr>
            <a:r>
              <a:rPr b="1" lang="en-US" sz="2000">
                <a:latin typeface="Arial"/>
                <a:ea typeface="Arial"/>
                <a:cs typeface="Arial"/>
                <a:sym typeface="Arial"/>
              </a:rPr>
              <a:t>Định nghĩa: </a:t>
            </a:r>
            <a:r>
              <a:rPr lang="en-US" sz="2000">
                <a:latin typeface="Arial"/>
                <a:ea typeface="Arial"/>
                <a:cs typeface="Arial"/>
                <a:sym typeface="Arial"/>
              </a:rPr>
              <a:t>Xác thực bằng token được cấp sau khi đăng nhập thành công</a:t>
            </a:r>
            <a:endParaRPr sz="2000">
              <a:latin typeface="Arial"/>
              <a:ea typeface="Arial"/>
              <a:cs typeface="Arial"/>
              <a:sym typeface="Arial"/>
            </a:endParaRPr>
          </a:p>
          <a:p>
            <a:pPr indent="0" lvl="0" marL="0" rtl="0" algn="l">
              <a:lnSpc>
                <a:spcPct val="115000"/>
              </a:lnSpc>
              <a:spcBef>
                <a:spcPts val="1400"/>
              </a:spcBef>
              <a:spcAft>
                <a:spcPts val="0"/>
              </a:spcAft>
              <a:buSzPts val="1800"/>
              <a:buNone/>
            </a:pPr>
            <a:r>
              <a:rPr b="1" lang="en-US" sz="2000">
                <a:latin typeface="Arial"/>
                <a:ea typeface="Arial"/>
                <a:cs typeface="Arial"/>
                <a:sym typeface="Arial"/>
              </a:rPr>
              <a:t>Đặc điểm:</a:t>
            </a:r>
            <a:endParaRPr b="1" sz="2000">
              <a:latin typeface="Arial"/>
              <a:ea typeface="Arial"/>
              <a:cs typeface="Arial"/>
              <a:sym typeface="Arial"/>
            </a:endParaRPr>
          </a:p>
          <a:p>
            <a:pPr indent="-355600" lvl="0" marL="457200" rtl="0" algn="l">
              <a:lnSpc>
                <a:spcPct val="115000"/>
              </a:lnSpc>
              <a:spcBef>
                <a:spcPts val="1200"/>
              </a:spcBef>
              <a:spcAft>
                <a:spcPts val="0"/>
              </a:spcAft>
              <a:buSzPts val="2000"/>
              <a:buChar char="-"/>
            </a:pPr>
            <a:r>
              <a:rPr lang="en-US" sz="2000">
                <a:latin typeface="Arial"/>
                <a:ea typeface="Arial"/>
                <a:cs typeface="Arial"/>
                <a:sym typeface="Arial"/>
              </a:rPr>
              <a:t>Token phổ biến: JWT (JSON Web Token)</a:t>
            </a: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Token có thời hạn</a:t>
            </a: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Dùng trong HTTP/HTTPS, MQTT</a:t>
            </a:r>
            <a:endParaRPr sz="2000">
              <a:latin typeface="Arial"/>
              <a:ea typeface="Arial"/>
              <a:cs typeface="Arial"/>
              <a:sym typeface="Arial"/>
            </a:endParaRPr>
          </a:p>
          <a:p>
            <a:pPr indent="0" lvl="0" marL="0" rtl="0" algn="l">
              <a:lnSpc>
                <a:spcPct val="115000"/>
              </a:lnSpc>
              <a:spcBef>
                <a:spcPts val="1200"/>
              </a:spcBef>
              <a:spcAft>
                <a:spcPts val="0"/>
              </a:spcAft>
              <a:buSzPts val="1800"/>
              <a:buNone/>
            </a:pPr>
            <a:r>
              <a:rPr b="1" lang="en-US" sz="2000">
                <a:latin typeface="Arial"/>
                <a:ea typeface="Arial"/>
                <a:cs typeface="Arial"/>
                <a:sym typeface="Arial"/>
              </a:rPr>
              <a:t>Ưu điểm:</a:t>
            </a:r>
            <a:endParaRPr b="1" sz="2000">
              <a:latin typeface="Arial"/>
              <a:ea typeface="Arial"/>
              <a:cs typeface="Arial"/>
              <a:sym typeface="Arial"/>
            </a:endParaRPr>
          </a:p>
          <a:p>
            <a:pPr indent="-355600" lvl="0" marL="457200" rtl="0" algn="l">
              <a:lnSpc>
                <a:spcPct val="115000"/>
              </a:lnSpc>
              <a:spcBef>
                <a:spcPts val="1200"/>
              </a:spcBef>
              <a:spcAft>
                <a:spcPts val="0"/>
              </a:spcAft>
              <a:buSzPts val="2000"/>
              <a:buChar char="-"/>
            </a:pPr>
            <a:r>
              <a:rPr lang="en-US" sz="2000">
                <a:latin typeface="Arial"/>
                <a:ea typeface="Arial"/>
                <a:cs typeface="Arial"/>
                <a:sym typeface="Arial"/>
              </a:rPr>
              <a:t>Linh hoạt</a:t>
            </a: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Dễ tích hợp hệ thống web / cloud</a:t>
            </a: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US" sz="2000">
                <a:latin typeface="Arial"/>
                <a:ea typeface="Arial"/>
                <a:cs typeface="Arial"/>
                <a:sym typeface="Arial"/>
              </a:rPr>
              <a:t>Phân quyền dễ (role, policy)</a:t>
            </a:r>
            <a:endParaRPr sz="2000">
              <a:latin typeface="Arial"/>
              <a:ea typeface="Arial"/>
              <a:cs typeface="Arial"/>
              <a:sym typeface="Arial"/>
            </a:endParaRPr>
          </a:p>
          <a:p>
            <a:pPr indent="0" lvl="0" marL="0" rtl="0" algn="l">
              <a:lnSpc>
                <a:spcPct val="115000"/>
              </a:lnSpc>
              <a:spcBef>
                <a:spcPts val="1400"/>
              </a:spcBef>
              <a:spcAft>
                <a:spcPts val="0"/>
              </a:spcAft>
              <a:buSzPts val="1800"/>
              <a:buNone/>
            </a:pPr>
            <a:r>
              <a:rPr b="1" lang="en-US" sz="2000">
                <a:latin typeface="Arial"/>
                <a:ea typeface="Arial"/>
                <a:cs typeface="Arial"/>
                <a:sym typeface="Arial"/>
              </a:rPr>
              <a:t>Nhược điểm:</a:t>
            </a:r>
            <a:endParaRPr b="1" sz="2000">
              <a:latin typeface="Arial"/>
              <a:ea typeface="Arial"/>
              <a:cs typeface="Arial"/>
              <a:sym typeface="Arial"/>
            </a:endParaRPr>
          </a:p>
          <a:p>
            <a:pPr indent="-355600" lvl="0" marL="457200" rtl="0" algn="l">
              <a:lnSpc>
                <a:spcPct val="115000"/>
              </a:lnSpc>
              <a:spcBef>
                <a:spcPts val="1200"/>
              </a:spcBef>
              <a:spcAft>
                <a:spcPts val="0"/>
              </a:spcAft>
              <a:buSzPts val="2000"/>
              <a:buChar char="-"/>
            </a:pPr>
            <a:r>
              <a:rPr lang="en-US" sz="2000">
                <a:latin typeface="Arial"/>
                <a:ea typeface="Arial"/>
                <a:cs typeface="Arial"/>
                <a:sym typeface="Arial"/>
              </a:rPr>
              <a:t>Cần bước xác thực ban đầu</a:t>
            </a: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US" sz="2000">
                <a:latin typeface="Arial"/>
                <a:ea typeface="Arial"/>
                <a:cs typeface="Arial"/>
                <a:sym typeface="Arial"/>
              </a:rPr>
              <a:t>Token bị lộ → nguy hiểm nếu chưa hết hạn</a:t>
            </a:r>
            <a:endParaRPr sz="2000">
              <a:latin typeface="Arial"/>
              <a:ea typeface="Arial"/>
              <a:cs typeface="Arial"/>
              <a:sym typeface="Arial"/>
            </a:endParaRPr>
          </a:p>
          <a:p>
            <a:pPr indent="-228600" lvl="0" marL="457200" rtl="0" algn="l">
              <a:lnSpc>
                <a:spcPct val="90000"/>
              </a:lnSpc>
              <a:spcBef>
                <a:spcPts val="1200"/>
              </a:spcBef>
              <a:spcAft>
                <a:spcPts val="0"/>
              </a:spcAft>
              <a:buClr>
                <a:schemeClr val="dk1"/>
              </a:buClr>
              <a:buSzPts val="1800"/>
              <a:buNone/>
            </a:pPr>
            <a:r>
              <a:t/>
            </a:r>
            <a:endParaRPr sz="2000">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3"/>
          <p:cNvSpPr txBox="1"/>
          <p:nvPr>
            <p:ph type="title"/>
          </p:nvPr>
        </p:nvSpPr>
        <p:spPr>
          <a:xfrm>
            <a:off x="0" y="2"/>
            <a:ext cx="9246000" cy="689400"/>
          </a:xfrm>
          <a:prstGeom prst="rect">
            <a:avLst/>
          </a:prstGeom>
          <a:noFill/>
          <a:ln>
            <a:noFill/>
          </a:ln>
        </p:spPr>
        <p:txBody>
          <a:bodyPr anchorCtr="0" anchor="ctr" bIns="45700" lIns="91425" spcFirstLastPara="1" rIns="91425" wrap="square" tIns="45700">
            <a:noAutofit/>
          </a:bodyPr>
          <a:lstStyle/>
          <a:p>
            <a:pPr indent="269875" lvl="0" marL="0" rtl="0" algn="just">
              <a:lnSpc>
                <a:spcPct val="120000"/>
              </a:lnSpc>
              <a:spcBef>
                <a:spcPts val="300"/>
              </a:spcBef>
              <a:spcAft>
                <a:spcPts val="300"/>
              </a:spcAft>
              <a:buClr>
                <a:schemeClr val="dk1"/>
              </a:buClr>
              <a:buSzPts val="1100"/>
              <a:buNone/>
            </a:pPr>
            <a:r>
              <a:rPr lang="en-US" sz="3600">
                <a:solidFill>
                  <a:schemeClr val="lt1"/>
                </a:solidFill>
                <a:latin typeface="Arial"/>
                <a:ea typeface="Arial"/>
                <a:cs typeface="Arial"/>
                <a:sym typeface="Arial"/>
              </a:rPr>
              <a:t>Quản lý khóa</a:t>
            </a:r>
            <a:endParaRPr sz="3600">
              <a:solidFill>
                <a:schemeClr val="lt1"/>
              </a:solidFill>
              <a:latin typeface="Arial"/>
              <a:ea typeface="Arial"/>
              <a:cs typeface="Arial"/>
              <a:sym typeface="Arial"/>
            </a:endParaRPr>
          </a:p>
        </p:txBody>
      </p:sp>
      <p:sp>
        <p:nvSpPr>
          <p:cNvPr id="361" name="Google Shape;361;p43"/>
          <p:cNvSpPr txBox="1"/>
          <p:nvPr>
            <p:ph idx="1" type="body"/>
          </p:nvPr>
        </p:nvSpPr>
        <p:spPr>
          <a:xfrm>
            <a:off x="0" y="689400"/>
            <a:ext cx="11271300" cy="60429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SzPts val="1800"/>
              <a:buNone/>
            </a:pPr>
            <a:r>
              <a:rPr b="1" lang="en-US" sz="2000">
                <a:latin typeface="Arial"/>
                <a:ea typeface="Arial"/>
                <a:cs typeface="Arial"/>
                <a:sym typeface="Arial"/>
              </a:rPr>
              <a:t>Định nghĩa: </a:t>
            </a:r>
            <a:r>
              <a:rPr lang="en-US" sz="2000">
                <a:latin typeface="Arial"/>
                <a:ea typeface="Arial"/>
                <a:cs typeface="Arial"/>
                <a:sym typeface="Arial"/>
              </a:rPr>
              <a:t>Quản lý khóa là tập hợp các cơ chế để tạo, phân phối, lưu trữ, sử dụng, thay đổi và thu hồi khóa mã hóa trong hệ thống IoT, nhằm đảm bảo an toàn trong suốt vòng đời thiết bị.</a:t>
            </a:r>
            <a:endParaRPr sz="2000">
              <a:latin typeface="Arial"/>
              <a:ea typeface="Arial"/>
              <a:cs typeface="Arial"/>
              <a:sym typeface="Arial"/>
            </a:endParaRPr>
          </a:p>
          <a:p>
            <a:pPr indent="0" lvl="0" marL="0" rtl="0" algn="l">
              <a:lnSpc>
                <a:spcPct val="115000"/>
              </a:lnSpc>
              <a:spcBef>
                <a:spcPts val="1400"/>
              </a:spcBef>
              <a:spcAft>
                <a:spcPts val="0"/>
              </a:spcAft>
              <a:buSzPts val="1800"/>
              <a:buNone/>
            </a:pPr>
            <a:r>
              <a:rPr b="1" lang="en-US" sz="2000">
                <a:latin typeface="Arial"/>
                <a:ea typeface="Arial"/>
                <a:cs typeface="Arial"/>
                <a:sym typeface="Arial"/>
              </a:rPr>
              <a:t>Vai trò:</a:t>
            </a:r>
            <a:endParaRPr b="1" sz="2000">
              <a:latin typeface="Arial"/>
              <a:ea typeface="Arial"/>
              <a:cs typeface="Arial"/>
              <a:sym typeface="Arial"/>
            </a:endParaRPr>
          </a:p>
          <a:p>
            <a:pPr indent="-355600" lvl="0" marL="457200" rtl="0" algn="l">
              <a:lnSpc>
                <a:spcPct val="115000"/>
              </a:lnSpc>
              <a:spcBef>
                <a:spcPts val="1200"/>
              </a:spcBef>
              <a:spcAft>
                <a:spcPts val="0"/>
              </a:spcAft>
              <a:buSzPts val="2000"/>
              <a:buChar char="-"/>
            </a:pPr>
            <a:r>
              <a:rPr lang="en-US" sz="2000">
                <a:latin typeface="Arial"/>
                <a:ea typeface="Arial"/>
                <a:cs typeface="Arial"/>
                <a:sym typeface="Arial"/>
              </a:rPr>
              <a:t>Đảm bảo Confidentiality (bảo mật dữ liệu)</a:t>
            </a: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Đảm bảo Integrity &amp; Authentication</a:t>
            </a: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Ngăn lộ khóa, giả mạo thiết bị</a:t>
            </a: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Duy trì an toàn khi hệ thống mở rộng quy mô</a:t>
            </a:r>
            <a:endParaRPr sz="2000">
              <a:latin typeface="Arial"/>
              <a:ea typeface="Arial"/>
              <a:cs typeface="Arial"/>
              <a:sym typeface="Arial"/>
            </a:endParaRPr>
          </a:p>
          <a:p>
            <a:pPr indent="0" lvl="0" marL="0" rtl="0" algn="l">
              <a:lnSpc>
                <a:spcPct val="115000"/>
              </a:lnSpc>
              <a:spcBef>
                <a:spcPts val="1200"/>
              </a:spcBef>
              <a:spcAft>
                <a:spcPts val="0"/>
              </a:spcAft>
              <a:buSzPts val="1800"/>
              <a:buNone/>
            </a:pPr>
            <a:r>
              <a:rPr b="1" lang="en-US" sz="2000">
                <a:latin typeface="Arial"/>
                <a:ea typeface="Arial"/>
                <a:cs typeface="Arial"/>
                <a:sym typeface="Arial"/>
              </a:rPr>
              <a:t>-</a:t>
            </a:r>
            <a:r>
              <a:rPr lang="en-US" sz="2000">
                <a:latin typeface="Arial"/>
                <a:ea typeface="Arial"/>
                <a:cs typeface="Arial"/>
                <a:sym typeface="Arial"/>
              </a:rPr>
              <a:t>&gt;</a:t>
            </a:r>
            <a:r>
              <a:rPr b="1" lang="en-US" sz="2000">
                <a:latin typeface="Arial"/>
                <a:ea typeface="Arial"/>
                <a:cs typeface="Arial"/>
                <a:sym typeface="Arial"/>
              </a:rPr>
              <a:t> </a:t>
            </a:r>
            <a:r>
              <a:rPr lang="en-US" sz="2000">
                <a:latin typeface="Arial"/>
                <a:ea typeface="Arial"/>
                <a:cs typeface="Arial"/>
                <a:sym typeface="Arial"/>
              </a:rPr>
              <a:t>Quản lý khóa trong IoT bao gồm tạo, phân phối, lưu trữ, sử dụng, thay đổi và thu hồi khóa mã hóa, đóng vai trò quan trọng trong đảm bảo bảo mật, xác thực và toàn vẹn dữ liệu trong suốt vòng đời thiết bị.</a:t>
            </a:r>
            <a:endParaRPr sz="2000">
              <a:latin typeface="Arial"/>
              <a:ea typeface="Arial"/>
              <a:cs typeface="Arial"/>
              <a:sym typeface="Arial"/>
            </a:endParaRPr>
          </a:p>
          <a:p>
            <a:pPr indent="-228600" lvl="0" marL="457200" rtl="0" algn="l">
              <a:lnSpc>
                <a:spcPct val="90000"/>
              </a:lnSpc>
              <a:spcBef>
                <a:spcPts val="1200"/>
              </a:spcBef>
              <a:spcAft>
                <a:spcPts val="0"/>
              </a:spcAft>
              <a:buClr>
                <a:schemeClr val="dk1"/>
              </a:buClr>
              <a:buSzPts val="1800"/>
              <a:buNone/>
            </a:pPr>
            <a:r>
              <a:t/>
            </a:r>
            <a:endParaRPr sz="2000">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4"/>
          <p:cNvSpPr txBox="1"/>
          <p:nvPr>
            <p:ph type="title"/>
          </p:nvPr>
        </p:nvSpPr>
        <p:spPr>
          <a:xfrm>
            <a:off x="179725" y="365125"/>
            <a:ext cx="11599200" cy="4893000"/>
          </a:xfrm>
          <a:prstGeom prst="rect">
            <a:avLst/>
          </a:prstGeom>
          <a:noFill/>
          <a:ln>
            <a:noFill/>
          </a:ln>
        </p:spPr>
        <p:txBody>
          <a:bodyPr anchorCtr="0" anchor="ctr" bIns="45700" lIns="91425" spcFirstLastPara="1" rIns="91425" wrap="square" tIns="45700">
            <a:normAutofit/>
          </a:bodyPr>
          <a:lstStyle/>
          <a:p>
            <a:pPr indent="0" lvl="0" marL="0" rtl="0" algn="just">
              <a:lnSpc>
                <a:spcPct val="120000"/>
              </a:lnSpc>
              <a:spcBef>
                <a:spcPts val="300"/>
              </a:spcBef>
              <a:spcAft>
                <a:spcPts val="300"/>
              </a:spcAft>
              <a:buClr>
                <a:schemeClr val="dk1"/>
              </a:buClr>
              <a:buSzPts val="1100"/>
              <a:buFont typeface="Arial"/>
              <a:buNone/>
            </a:pPr>
            <a:r>
              <a:rPr b="1" lang="en-US" sz="4000">
                <a:latin typeface="Arial"/>
                <a:ea typeface="Arial"/>
                <a:cs typeface="Arial"/>
                <a:sym typeface="Arial"/>
              </a:rPr>
              <a:t>Tầm quan trọng của "Security by Design": Tích hợp bảo mật vào mọi giai đoạn của vòng đời phát triển sản phẩm IoT.</a:t>
            </a:r>
            <a:endParaRPr b="1" sz="4000">
              <a:latin typeface="Arial"/>
              <a:ea typeface="Arial"/>
              <a:cs typeface="Arial"/>
              <a:sym typeface="Arial"/>
            </a:endParaRPr>
          </a:p>
        </p:txBody>
      </p:sp>
      <p:sp>
        <p:nvSpPr>
          <p:cNvPr id="367" name="Google Shape;367;p44"/>
          <p:cNvSpPr txBox="1"/>
          <p:nvPr>
            <p:ph idx="1" type="body"/>
          </p:nvPr>
        </p:nvSpPr>
        <p:spPr>
          <a:xfrm>
            <a:off x="838200" y="5485440"/>
            <a:ext cx="10515600" cy="691500"/>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1000"/>
              </a:spcBef>
              <a:spcAft>
                <a:spcPts val="0"/>
              </a:spcAft>
              <a:buClr>
                <a:schemeClr val="dk1"/>
              </a:buClr>
              <a:buSzPts val="1800"/>
              <a:buFont typeface="Arial"/>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5"/>
          <p:cNvSpPr txBox="1"/>
          <p:nvPr>
            <p:ph type="title"/>
          </p:nvPr>
        </p:nvSpPr>
        <p:spPr>
          <a:xfrm>
            <a:off x="0" y="0"/>
            <a:ext cx="9644400" cy="815100"/>
          </a:xfrm>
          <a:prstGeom prst="rect">
            <a:avLst/>
          </a:prstGeom>
          <a:noFill/>
          <a:ln>
            <a:noFill/>
          </a:ln>
        </p:spPr>
        <p:txBody>
          <a:bodyPr anchorCtr="0" anchor="ctr" bIns="45700" lIns="91425" spcFirstLastPara="1" rIns="91425" wrap="square" tIns="45700">
            <a:noAutofit/>
          </a:bodyPr>
          <a:lstStyle/>
          <a:p>
            <a:pPr indent="269875" lvl="0" marL="0" rtl="0" algn="just">
              <a:lnSpc>
                <a:spcPct val="120000"/>
              </a:lnSpc>
              <a:spcBef>
                <a:spcPts val="300"/>
              </a:spcBef>
              <a:spcAft>
                <a:spcPts val="300"/>
              </a:spcAft>
              <a:buClr>
                <a:schemeClr val="dk1"/>
              </a:buClr>
              <a:buSzPts val="1100"/>
              <a:buNone/>
            </a:pPr>
            <a:r>
              <a:rPr lang="en-US" sz="2800">
                <a:solidFill>
                  <a:schemeClr val="lt1"/>
                </a:solidFill>
                <a:latin typeface="Arial"/>
                <a:ea typeface="Arial"/>
                <a:cs typeface="Arial"/>
                <a:sym typeface="Arial"/>
              </a:rPr>
              <a:t>Vì sao Security by Design đặc biệt quan trọng với IoT?</a:t>
            </a:r>
            <a:endParaRPr sz="2800">
              <a:solidFill>
                <a:schemeClr val="lt1"/>
              </a:solidFill>
              <a:latin typeface="Arial"/>
              <a:ea typeface="Arial"/>
              <a:cs typeface="Arial"/>
              <a:sym typeface="Arial"/>
            </a:endParaRPr>
          </a:p>
        </p:txBody>
      </p:sp>
      <p:sp>
        <p:nvSpPr>
          <p:cNvPr id="373" name="Google Shape;373;p45"/>
          <p:cNvSpPr txBox="1"/>
          <p:nvPr>
            <p:ph idx="1" type="body"/>
          </p:nvPr>
        </p:nvSpPr>
        <p:spPr>
          <a:xfrm>
            <a:off x="0" y="815100"/>
            <a:ext cx="11271300" cy="6042900"/>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1200"/>
              </a:spcBef>
              <a:spcAft>
                <a:spcPts val="0"/>
              </a:spcAft>
              <a:buSzPts val="1800"/>
              <a:buNone/>
            </a:pPr>
            <a:r>
              <a:rPr b="1" lang="en-US" sz="2000">
                <a:latin typeface="Arial"/>
                <a:ea typeface="Arial"/>
                <a:cs typeface="Arial"/>
                <a:sym typeface="Arial"/>
              </a:rPr>
              <a:t>Định nghĩa: </a:t>
            </a:r>
            <a:r>
              <a:rPr lang="en-US" sz="2000">
                <a:latin typeface="Arial"/>
                <a:ea typeface="Arial"/>
                <a:cs typeface="Arial"/>
                <a:sym typeface="Arial"/>
              </a:rPr>
              <a:t>Security by Design là nguyên tắc tích hợp bảo mật ngay từ đầu và xuyên suốt mọi giai đoạn của vòng đời phát triển sản phẩm IoT, thay vì vá lỗi bảo mật sau khi hệ thống đã triển khai.</a:t>
            </a:r>
            <a:endParaRPr sz="2000">
              <a:latin typeface="Arial"/>
              <a:ea typeface="Arial"/>
              <a:cs typeface="Arial"/>
              <a:sym typeface="Arial"/>
            </a:endParaRPr>
          </a:p>
          <a:p>
            <a:pPr indent="0" lvl="0" marL="0" rtl="0" algn="l">
              <a:lnSpc>
                <a:spcPct val="150000"/>
              </a:lnSpc>
              <a:spcBef>
                <a:spcPts val="1800"/>
              </a:spcBef>
              <a:spcAft>
                <a:spcPts val="0"/>
              </a:spcAft>
              <a:buClr>
                <a:schemeClr val="dk1"/>
              </a:buClr>
              <a:buSzPts val="1100"/>
              <a:buFont typeface="Arial"/>
              <a:buNone/>
            </a:pPr>
            <a:r>
              <a:rPr b="1" lang="en-US" sz="2000">
                <a:latin typeface="Arial"/>
                <a:ea typeface="Arial"/>
                <a:cs typeface="Arial"/>
                <a:sym typeface="Arial"/>
              </a:rPr>
              <a:t>Vì sao Security by Design đặc biệt quan trọng với IoT?</a:t>
            </a:r>
            <a:endParaRPr b="1" sz="2000">
              <a:latin typeface="Arial"/>
              <a:ea typeface="Arial"/>
              <a:cs typeface="Arial"/>
              <a:sym typeface="Arial"/>
            </a:endParaRPr>
          </a:p>
          <a:p>
            <a:pPr indent="-355600" lvl="0" marL="457200" rtl="0" algn="l">
              <a:lnSpc>
                <a:spcPct val="150000"/>
              </a:lnSpc>
              <a:spcBef>
                <a:spcPts val="1200"/>
              </a:spcBef>
              <a:spcAft>
                <a:spcPts val="0"/>
              </a:spcAft>
              <a:buSzPts val="2000"/>
              <a:buFont typeface="Arial"/>
              <a:buChar char="-"/>
            </a:pPr>
            <a:r>
              <a:rPr lang="en-US" sz="2000">
                <a:latin typeface="Arial"/>
                <a:ea typeface="Arial"/>
                <a:cs typeface="Arial"/>
                <a:sym typeface="Arial"/>
              </a:rPr>
              <a:t>Thiết bị IoT thường:</a:t>
            </a:r>
            <a:endParaRPr sz="2000">
              <a:latin typeface="Arial"/>
              <a:ea typeface="Arial"/>
              <a:cs typeface="Arial"/>
              <a:sym typeface="Arial"/>
            </a:endParaRPr>
          </a:p>
          <a:p>
            <a:pPr indent="-355600" lvl="0" marL="914400" rtl="0" algn="l">
              <a:lnSpc>
                <a:spcPct val="150000"/>
              </a:lnSpc>
              <a:spcBef>
                <a:spcPts val="0"/>
              </a:spcBef>
              <a:spcAft>
                <a:spcPts val="0"/>
              </a:spcAft>
              <a:buSzPts val="2000"/>
              <a:buFont typeface="Arial"/>
              <a:buChar char="+"/>
            </a:pPr>
            <a:r>
              <a:rPr lang="en-US" sz="2000">
                <a:latin typeface="Arial"/>
                <a:ea typeface="Arial"/>
                <a:cs typeface="Arial"/>
                <a:sym typeface="Arial"/>
              </a:rPr>
              <a:t>Tài nguyên hạn chế</a:t>
            </a:r>
            <a:endParaRPr sz="2000">
              <a:latin typeface="Arial"/>
              <a:ea typeface="Arial"/>
              <a:cs typeface="Arial"/>
              <a:sym typeface="Arial"/>
            </a:endParaRPr>
          </a:p>
          <a:p>
            <a:pPr indent="-355600" lvl="0" marL="914400" rtl="0" algn="l">
              <a:lnSpc>
                <a:spcPct val="150000"/>
              </a:lnSpc>
              <a:spcBef>
                <a:spcPts val="0"/>
              </a:spcBef>
              <a:spcAft>
                <a:spcPts val="0"/>
              </a:spcAft>
              <a:buSzPts val="2000"/>
              <a:buFont typeface="Arial"/>
              <a:buChar char="+"/>
            </a:pPr>
            <a:r>
              <a:rPr lang="en-US" sz="2000">
                <a:latin typeface="Arial"/>
                <a:ea typeface="Arial"/>
                <a:cs typeface="Arial"/>
                <a:sym typeface="Arial"/>
              </a:rPr>
              <a:t>Hoạt động lâu dài</a:t>
            </a:r>
            <a:endParaRPr sz="2000">
              <a:latin typeface="Arial"/>
              <a:ea typeface="Arial"/>
              <a:cs typeface="Arial"/>
              <a:sym typeface="Arial"/>
            </a:endParaRPr>
          </a:p>
          <a:p>
            <a:pPr indent="-355600" lvl="0" marL="914400" rtl="0" algn="l">
              <a:lnSpc>
                <a:spcPct val="150000"/>
              </a:lnSpc>
              <a:spcBef>
                <a:spcPts val="0"/>
              </a:spcBef>
              <a:spcAft>
                <a:spcPts val="0"/>
              </a:spcAft>
              <a:buSzPts val="2000"/>
              <a:buFont typeface="Arial"/>
              <a:buChar char="+"/>
            </a:pPr>
            <a:r>
              <a:rPr lang="en-US" sz="2000">
                <a:latin typeface="Arial"/>
                <a:ea typeface="Arial"/>
                <a:cs typeface="Arial"/>
                <a:sym typeface="Arial"/>
              </a:rPr>
              <a:t>Khó cập nhật hoặc thu hồi</a:t>
            </a: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US" sz="2000">
                <a:latin typeface="Arial"/>
                <a:ea typeface="Arial"/>
                <a:cs typeface="Arial"/>
                <a:sym typeface="Arial"/>
              </a:rPr>
              <a:t>Nếu thiết kế không an toàn từ đầu → rủi ro tồn tại suốt vòng đời thiết bị</a:t>
            </a:r>
            <a:endParaRPr sz="2000">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6"/>
          <p:cNvSpPr txBox="1"/>
          <p:nvPr>
            <p:ph type="title"/>
          </p:nvPr>
        </p:nvSpPr>
        <p:spPr>
          <a:xfrm>
            <a:off x="0" y="0"/>
            <a:ext cx="9644400" cy="815100"/>
          </a:xfrm>
          <a:prstGeom prst="rect">
            <a:avLst/>
          </a:prstGeom>
          <a:noFill/>
          <a:ln>
            <a:noFill/>
          </a:ln>
        </p:spPr>
        <p:txBody>
          <a:bodyPr anchorCtr="0" anchor="ctr" bIns="45700" lIns="91425" spcFirstLastPara="1" rIns="91425" wrap="square" tIns="45700">
            <a:noAutofit/>
          </a:bodyPr>
          <a:lstStyle/>
          <a:p>
            <a:pPr indent="269875" lvl="0" marL="0" rtl="0" algn="just">
              <a:lnSpc>
                <a:spcPct val="120000"/>
              </a:lnSpc>
              <a:spcBef>
                <a:spcPts val="300"/>
              </a:spcBef>
              <a:spcAft>
                <a:spcPts val="300"/>
              </a:spcAft>
              <a:buClr>
                <a:schemeClr val="dk1"/>
              </a:buClr>
              <a:buSzPts val="1100"/>
              <a:buNone/>
            </a:pPr>
            <a:r>
              <a:rPr lang="en-US" sz="3600">
                <a:solidFill>
                  <a:schemeClr val="lt1"/>
                </a:solidFill>
                <a:latin typeface="Arial"/>
                <a:ea typeface="Arial"/>
                <a:cs typeface="Arial"/>
                <a:sym typeface="Arial"/>
              </a:rPr>
              <a:t>Security by Design trong vòng đời IoT</a:t>
            </a:r>
            <a:endParaRPr sz="3600">
              <a:solidFill>
                <a:schemeClr val="lt1"/>
              </a:solidFill>
              <a:latin typeface="Arial"/>
              <a:ea typeface="Arial"/>
              <a:cs typeface="Arial"/>
              <a:sym typeface="Arial"/>
            </a:endParaRPr>
          </a:p>
        </p:txBody>
      </p:sp>
      <p:sp>
        <p:nvSpPr>
          <p:cNvPr id="379" name="Google Shape;379;p46"/>
          <p:cNvSpPr txBox="1"/>
          <p:nvPr>
            <p:ph idx="1" type="body"/>
          </p:nvPr>
        </p:nvSpPr>
        <p:spPr>
          <a:xfrm>
            <a:off x="0" y="815100"/>
            <a:ext cx="11271300" cy="60429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50000"/>
              </a:lnSpc>
              <a:spcBef>
                <a:spcPts val="1200"/>
              </a:spcBef>
              <a:spcAft>
                <a:spcPts val="0"/>
              </a:spcAft>
              <a:buSzPts val="1800"/>
              <a:buNone/>
            </a:pPr>
            <a:r>
              <a:rPr b="1" lang="en-US" sz="3000">
                <a:latin typeface="Arial"/>
                <a:ea typeface="Arial"/>
                <a:cs typeface="Arial"/>
                <a:sym typeface="Arial"/>
              </a:rPr>
              <a:t>Gồm 6 giai đoạn:</a:t>
            </a:r>
            <a:endParaRPr b="1" sz="3000">
              <a:latin typeface="Arial"/>
              <a:ea typeface="Arial"/>
              <a:cs typeface="Arial"/>
              <a:sym typeface="Arial"/>
            </a:endParaRPr>
          </a:p>
          <a:p>
            <a:pPr indent="-419100" lvl="0" marL="457200" rtl="0" algn="l">
              <a:lnSpc>
                <a:spcPct val="150000"/>
              </a:lnSpc>
              <a:spcBef>
                <a:spcPts val="1200"/>
              </a:spcBef>
              <a:spcAft>
                <a:spcPts val="0"/>
              </a:spcAft>
              <a:buSzPts val="3000"/>
              <a:buAutoNum type="arabicPeriod"/>
            </a:pPr>
            <a:r>
              <a:rPr lang="en-US" sz="3000">
                <a:latin typeface="Arial"/>
                <a:ea typeface="Arial"/>
                <a:cs typeface="Arial"/>
                <a:sym typeface="Arial"/>
              </a:rPr>
              <a:t>Giai đoạn thiết kế</a:t>
            </a:r>
            <a:endParaRPr sz="3000">
              <a:latin typeface="Arial"/>
              <a:ea typeface="Arial"/>
              <a:cs typeface="Arial"/>
              <a:sym typeface="Arial"/>
            </a:endParaRPr>
          </a:p>
          <a:p>
            <a:pPr indent="-419100" lvl="0" marL="457200" rtl="0" algn="l">
              <a:lnSpc>
                <a:spcPct val="150000"/>
              </a:lnSpc>
              <a:spcBef>
                <a:spcPts val="0"/>
              </a:spcBef>
              <a:spcAft>
                <a:spcPts val="0"/>
              </a:spcAft>
              <a:buSzPts val="3000"/>
              <a:buAutoNum type="arabicPeriod"/>
            </a:pPr>
            <a:r>
              <a:rPr lang="en-US" sz="3000">
                <a:latin typeface="Arial"/>
                <a:ea typeface="Arial"/>
                <a:cs typeface="Arial"/>
                <a:sym typeface="Arial"/>
              </a:rPr>
              <a:t>Giai đoạn phát triển</a:t>
            </a:r>
            <a:endParaRPr sz="3000">
              <a:latin typeface="Arial"/>
              <a:ea typeface="Arial"/>
              <a:cs typeface="Arial"/>
              <a:sym typeface="Arial"/>
            </a:endParaRPr>
          </a:p>
          <a:p>
            <a:pPr indent="-419100" lvl="0" marL="457200" rtl="0" algn="l">
              <a:lnSpc>
                <a:spcPct val="150000"/>
              </a:lnSpc>
              <a:spcBef>
                <a:spcPts val="0"/>
              </a:spcBef>
              <a:spcAft>
                <a:spcPts val="0"/>
              </a:spcAft>
              <a:buSzPts val="3000"/>
              <a:buAutoNum type="arabicPeriod"/>
            </a:pPr>
            <a:r>
              <a:rPr lang="en-US" sz="3000">
                <a:latin typeface="Arial"/>
                <a:ea typeface="Arial"/>
                <a:cs typeface="Arial"/>
                <a:sym typeface="Arial"/>
              </a:rPr>
              <a:t>Giai đoạn sản xuất</a:t>
            </a:r>
            <a:endParaRPr sz="3000">
              <a:latin typeface="Arial"/>
              <a:ea typeface="Arial"/>
              <a:cs typeface="Arial"/>
              <a:sym typeface="Arial"/>
            </a:endParaRPr>
          </a:p>
          <a:p>
            <a:pPr indent="-419100" lvl="0" marL="457200" rtl="0" algn="l">
              <a:lnSpc>
                <a:spcPct val="150000"/>
              </a:lnSpc>
              <a:spcBef>
                <a:spcPts val="0"/>
              </a:spcBef>
              <a:spcAft>
                <a:spcPts val="0"/>
              </a:spcAft>
              <a:buSzPts val="3000"/>
              <a:buAutoNum type="arabicPeriod"/>
            </a:pPr>
            <a:r>
              <a:rPr lang="en-US" sz="3000">
                <a:latin typeface="Arial"/>
                <a:ea typeface="Arial"/>
                <a:cs typeface="Arial"/>
                <a:sym typeface="Arial"/>
              </a:rPr>
              <a:t>Giai đoạn triển khai</a:t>
            </a:r>
            <a:endParaRPr sz="3000">
              <a:latin typeface="Arial"/>
              <a:ea typeface="Arial"/>
              <a:cs typeface="Arial"/>
              <a:sym typeface="Arial"/>
            </a:endParaRPr>
          </a:p>
          <a:p>
            <a:pPr indent="-419100" lvl="0" marL="457200" rtl="0" algn="l">
              <a:lnSpc>
                <a:spcPct val="150000"/>
              </a:lnSpc>
              <a:spcBef>
                <a:spcPts val="0"/>
              </a:spcBef>
              <a:spcAft>
                <a:spcPts val="0"/>
              </a:spcAft>
              <a:buSzPts val="3000"/>
              <a:buAutoNum type="arabicPeriod"/>
            </a:pPr>
            <a:r>
              <a:rPr lang="en-US" sz="3000">
                <a:latin typeface="Arial"/>
                <a:ea typeface="Arial"/>
                <a:cs typeface="Arial"/>
                <a:sym typeface="Arial"/>
              </a:rPr>
              <a:t>Giai đoạn vận hành &amp; bảo trì</a:t>
            </a:r>
            <a:endParaRPr sz="3000">
              <a:latin typeface="Arial"/>
              <a:ea typeface="Arial"/>
              <a:cs typeface="Arial"/>
              <a:sym typeface="Arial"/>
            </a:endParaRPr>
          </a:p>
          <a:p>
            <a:pPr indent="-419100" lvl="0" marL="457200" rtl="0" algn="l">
              <a:lnSpc>
                <a:spcPct val="150000"/>
              </a:lnSpc>
              <a:spcBef>
                <a:spcPts val="0"/>
              </a:spcBef>
              <a:spcAft>
                <a:spcPts val="0"/>
              </a:spcAft>
              <a:buSzPts val="3000"/>
              <a:buAutoNum type="arabicPeriod"/>
            </a:pPr>
            <a:r>
              <a:rPr lang="en-US" sz="3000">
                <a:latin typeface="Arial"/>
                <a:ea typeface="Arial"/>
                <a:cs typeface="Arial"/>
                <a:sym typeface="Arial"/>
              </a:rPr>
              <a:t>Giai đoạn kết thúc vòng đời</a:t>
            </a:r>
            <a:endParaRPr sz="3000">
              <a:latin typeface="Arial"/>
              <a:ea typeface="Arial"/>
              <a:cs typeface="Arial"/>
              <a:sym typeface="Arial"/>
            </a:endParaRPr>
          </a:p>
          <a:p>
            <a:pPr indent="0" lvl="0" marL="0" rtl="0" algn="l">
              <a:lnSpc>
                <a:spcPct val="150000"/>
              </a:lnSpc>
              <a:spcBef>
                <a:spcPts val="1200"/>
              </a:spcBef>
              <a:spcAft>
                <a:spcPts val="0"/>
              </a:spcAft>
              <a:buSzPts val="1800"/>
              <a:buNone/>
            </a:pPr>
            <a:r>
              <a:t/>
            </a:r>
            <a:endParaRPr b="1" sz="2000">
              <a:latin typeface="Arial"/>
              <a:ea typeface="Arial"/>
              <a:cs typeface="Arial"/>
              <a:sym typeface="Arial"/>
            </a:endParaRPr>
          </a:p>
          <a:p>
            <a:pPr indent="0" lvl="0" marL="0" rtl="0" algn="l">
              <a:lnSpc>
                <a:spcPct val="115000"/>
              </a:lnSpc>
              <a:spcBef>
                <a:spcPts val="1200"/>
              </a:spcBef>
              <a:spcAft>
                <a:spcPts val="1200"/>
              </a:spcAft>
              <a:buSzPts val="1800"/>
              <a:buNone/>
            </a:pPr>
            <a:r>
              <a:t/>
            </a:r>
            <a:endParaRPr sz="2000">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7"/>
          <p:cNvSpPr txBox="1"/>
          <p:nvPr>
            <p:ph type="title"/>
          </p:nvPr>
        </p:nvSpPr>
        <p:spPr>
          <a:xfrm>
            <a:off x="0" y="0"/>
            <a:ext cx="9644400" cy="815100"/>
          </a:xfrm>
          <a:prstGeom prst="rect">
            <a:avLst/>
          </a:prstGeom>
          <a:noFill/>
          <a:ln>
            <a:noFill/>
          </a:ln>
        </p:spPr>
        <p:txBody>
          <a:bodyPr anchorCtr="0" anchor="ctr" bIns="45700" lIns="91425" spcFirstLastPara="1" rIns="91425" wrap="square" tIns="45700">
            <a:noAutofit/>
          </a:bodyPr>
          <a:lstStyle/>
          <a:p>
            <a:pPr indent="269875" lvl="0" marL="0" rtl="0" algn="just">
              <a:lnSpc>
                <a:spcPct val="120000"/>
              </a:lnSpc>
              <a:spcBef>
                <a:spcPts val="300"/>
              </a:spcBef>
              <a:spcAft>
                <a:spcPts val="300"/>
              </a:spcAft>
              <a:buClr>
                <a:schemeClr val="dk1"/>
              </a:buClr>
              <a:buSzPts val="1100"/>
              <a:buNone/>
            </a:pPr>
            <a:r>
              <a:rPr lang="en-US" sz="3200">
                <a:solidFill>
                  <a:schemeClr val="lt1"/>
                </a:solidFill>
                <a:latin typeface="Arial"/>
                <a:ea typeface="Arial"/>
                <a:cs typeface="Arial"/>
                <a:sym typeface="Arial"/>
              </a:rPr>
              <a:t>Hậu quả nếu không áp dụng Security by Design</a:t>
            </a:r>
            <a:endParaRPr sz="3200">
              <a:solidFill>
                <a:schemeClr val="lt1"/>
              </a:solidFill>
              <a:latin typeface="Arial"/>
              <a:ea typeface="Arial"/>
              <a:cs typeface="Arial"/>
              <a:sym typeface="Arial"/>
            </a:endParaRPr>
          </a:p>
        </p:txBody>
      </p:sp>
      <p:sp>
        <p:nvSpPr>
          <p:cNvPr id="385" name="Google Shape;385;p47"/>
          <p:cNvSpPr txBox="1"/>
          <p:nvPr>
            <p:ph idx="1" type="body"/>
          </p:nvPr>
        </p:nvSpPr>
        <p:spPr>
          <a:xfrm>
            <a:off x="0" y="815100"/>
            <a:ext cx="11271300" cy="6042900"/>
          </a:xfrm>
          <a:prstGeom prst="rect">
            <a:avLst/>
          </a:prstGeom>
          <a:noFill/>
          <a:ln>
            <a:noFill/>
          </a:ln>
        </p:spPr>
        <p:txBody>
          <a:bodyPr anchorCtr="0" anchor="t" bIns="45700" lIns="91425" spcFirstLastPara="1" rIns="91425" wrap="square" tIns="45700">
            <a:normAutofit/>
          </a:bodyPr>
          <a:lstStyle/>
          <a:p>
            <a:pPr indent="-406400" lvl="0" marL="457200" rtl="0" algn="l">
              <a:lnSpc>
                <a:spcPct val="150000"/>
              </a:lnSpc>
              <a:spcBef>
                <a:spcPts val="1200"/>
              </a:spcBef>
              <a:spcAft>
                <a:spcPts val="0"/>
              </a:spcAft>
              <a:buSzPts val="2800"/>
              <a:buChar char="-"/>
            </a:pPr>
            <a:r>
              <a:rPr lang="en-US">
                <a:latin typeface="Arial"/>
                <a:ea typeface="Arial"/>
                <a:cs typeface="Arial"/>
                <a:sym typeface="Arial"/>
              </a:rPr>
              <a:t>Thiết bị dễ bị chiếm quyền điều khiển</a:t>
            </a:r>
            <a:endParaRPr>
              <a:latin typeface="Arial"/>
              <a:ea typeface="Arial"/>
              <a:cs typeface="Arial"/>
              <a:sym typeface="Arial"/>
            </a:endParaRPr>
          </a:p>
          <a:p>
            <a:pPr indent="-406400" lvl="0" marL="457200" rtl="0" algn="l">
              <a:lnSpc>
                <a:spcPct val="150000"/>
              </a:lnSpc>
              <a:spcBef>
                <a:spcPts val="0"/>
              </a:spcBef>
              <a:spcAft>
                <a:spcPts val="0"/>
              </a:spcAft>
              <a:buSzPts val="2800"/>
              <a:buChar char="-"/>
            </a:pPr>
            <a:r>
              <a:rPr lang="en-US">
                <a:latin typeface="Arial"/>
                <a:ea typeface="Arial"/>
                <a:cs typeface="Arial"/>
                <a:sym typeface="Arial"/>
              </a:rPr>
              <a:t>Rò rỉ dữ liệu người dùng</a:t>
            </a:r>
            <a:endParaRPr>
              <a:latin typeface="Arial"/>
              <a:ea typeface="Arial"/>
              <a:cs typeface="Arial"/>
              <a:sym typeface="Arial"/>
            </a:endParaRPr>
          </a:p>
          <a:p>
            <a:pPr indent="-406400" lvl="0" marL="457200" rtl="0" algn="l">
              <a:lnSpc>
                <a:spcPct val="150000"/>
              </a:lnSpc>
              <a:spcBef>
                <a:spcPts val="0"/>
              </a:spcBef>
              <a:spcAft>
                <a:spcPts val="0"/>
              </a:spcAft>
              <a:buSzPts val="2800"/>
              <a:buChar char="-"/>
            </a:pPr>
            <a:r>
              <a:rPr lang="en-US">
                <a:latin typeface="Arial"/>
                <a:ea typeface="Arial"/>
                <a:cs typeface="Arial"/>
                <a:sym typeface="Arial"/>
              </a:rPr>
              <a:t>Chi phí khắc phục cao</a:t>
            </a:r>
            <a:endParaRPr>
              <a:latin typeface="Arial"/>
              <a:ea typeface="Arial"/>
              <a:cs typeface="Arial"/>
              <a:sym typeface="Arial"/>
            </a:endParaRPr>
          </a:p>
          <a:p>
            <a:pPr indent="-406400" lvl="0" marL="457200" rtl="0" algn="l">
              <a:lnSpc>
                <a:spcPct val="150000"/>
              </a:lnSpc>
              <a:spcBef>
                <a:spcPts val="0"/>
              </a:spcBef>
              <a:spcAft>
                <a:spcPts val="0"/>
              </a:spcAft>
              <a:buSzPts val="2800"/>
              <a:buChar char="-"/>
            </a:pPr>
            <a:r>
              <a:rPr lang="en-US">
                <a:latin typeface="Arial"/>
                <a:ea typeface="Arial"/>
                <a:cs typeface="Arial"/>
                <a:sym typeface="Arial"/>
              </a:rPr>
              <a:t>Mất uy tín hệ thống</a:t>
            </a:r>
            <a:endParaRPr>
              <a:latin typeface="Arial"/>
              <a:ea typeface="Arial"/>
              <a:cs typeface="Arial"/>
              <a:sym typeface="Arial"/>
            </a:endParaRPr>
          </a:p>
          <a:p>
            <a:pPr indent="0" lvl="0" marL="0" rtl="0" algn="l">
              <a:lnSpc>
                <a:spcPct val="150000"/>
              </a:lnSpc>
              <a:spcBef>
                <a:spcPts val="1200"/>
              </a:spcBef>
              <a:spcAft>
                <a:spcPts val="0"/>
              </a:spcAft>
              <a:buSzPts val="1800"/>
              <a:buNone/>
            </a:pPr>
            <a:r>
              <a:t/>
            </a:r>
            <a:endParaRPr b="1" sz="2000">
              <a:latin typeface="Arial"/>
              <a:ea typeface="Arial"/>
              <a:cs typeface="Arial"/>
              <a:sym typeface="Arial"/>
            </a:endParaRPr>
          </a:p>
          <a:p>
            <a:pPr indent="0" lvl="0" marL="0" rtl="0" algn="l">
              <a:lnSpc>
                <a:spcPct val="150000"/>
              </a:lnSpc>
              <a:spcBef>
                <a:spcPts val="1200"/>
              </a:spcBef>
              <a:spcAft>
                <a:spcPts val="0"/>
              </a:spcAft>
              <a:buSzPts val="1800"/>
              <a:buNone/>
            </a:pPr>
            <a:r>
              <a:t/>
            </a:r>
            <a:endParaRPr b="1" sz="2000">
              <a:latin typeface="Arial"/>
              <a:ea typeface="Arial"/>
              <a:cs typeface="Arial"/>
              <a:sym typeface="Arial"/>
            </a:endParaRPr>
          </a:p>
          <a:p>
            <a:pPr indent="0" lvl="0" marL="0" rtl="0" algn="l">
              <a:lnSpc>
                <a:spcPct val="115000"/>
              </a:lnSpc>
              <a:spcBef>
                <a:spcPts val="1200"/>
              </a:spcBef>
              <a:spcAft>
                <a:spcPts val="1200"/>
              </a:spcAft>
              <a:buSzPts val="1800"/>
              <a:buNone/>
            </a:pPr>
            <a:r>
              <a:t/>
            </a:r>
            <a:endParaRPr sz="2000">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8"/>
          <p:cNvSpPr txBox="1"/>
          <p:nvPr>
            <p:ph type="title"/>
          </p:nvPr>
        </p:nvSpPr>
        <p:spPr>
          <a:xfrm>
            <a:off x="0" y="0"/>
            <a:ext cx="9644400" cy="815100"/>
          </a:xfrm>
          <a:prstGeom prst="rect">
            <a:avLst/>
          </a:prstGeom>
          <a:noFill/>
          <a:ln>
            <a:noFill/>
          </a:ln>
        </p:spPr>
        <p:txBody>
          <a:bodyPr anchorCtr="0" anchor="ctr" bIns="45700" lIns="91425" spcFirstLastPara="1" rIns="91425" wrap="square" tIns="45700">
            <a:noAutofit/>
          </a:bodyPr>
          <a:lstStyle/>
          <a:p>
            <a:pPr indent="269875" lvl="0" marL="0" rtl="0" algn="just">
              <a:lnSpc>
                <a:spcPct val="120000"/>
              </a:lnSpc>
              <a:spcBef>
                <a:spcPts val="300"/>
              </a:spcBef>
              <a:spcAft>
                <a:spcPts val="300"/>
              </a:spcAft>
              <a:buClr>
                <a:schemeClr val="dk1"/>
              </a:buClr>
              <a:buSzPts val="1100"/>
              <a:buNone/>
            </a:pPr>
            <a:r>
              <a:rPr lang="en-US" sz="3200">
                <a:solidFill>
                  <a:schemeClr val="lt1"/>
                </a:solidFill>
                <a:latin typeface="Arial"/>
                <a:ea typeface="Arial"/>
                <a:cs typeface="Arial"/>
                <a:sym typeface="Arial"/>
              </a:rPr>
              <a:t>Ví dụ</a:t>
            </a:r>
            <a:endParaRPr sz="3200">
              <a:solidFill>
                <a:schemeClr val="lt1"/>
              </a:solidFill>
              <a:latin typeface="Arial"/>
              <a:ea typeface="Arial"/>
              <a:cs typeface="Arial"/>
              <a:sym typeface="Arial"/>
            </a:endParaRPr>
          </a:p>
        </p:txBody>
      </p:sp>
      <p:sp>
        <p:nvSpPr>
          <p:cNvPr id="391" name="Google Shape;391;p48"/>
          <p:cNvSpPr txBox="1"/>
          <p:nvPr>
            <p:ph idx="1" type="body"/>
          </p:nvPr>
        </p:nvSpPr>
        <p:spPr>
          <a:xfrm>
            <a:off x="0" y="815100"/>
            <a:ext cx="12192000" cy="6042900"/>
          </a:xfrm>
          <a:prstGeom prst="rect">
            <a:avLst/>
          </a:prstGeom>
          <a:noFill/>
          <a:ln>
            <a:noFill/>
          </a:ln>
        </p:spPr>
        <p:txBody>
          <a:bodyPr anchorCtr="0" anchor="t" bIns="45700" lIns="91425" spcFirstLastPara="1" rIns="91425" wrap="square" tIns="45700">
            <a:normAutofit fontScale="92500" lnSpcReduction="20000"/>
          </a:bodyPr>
          <a:lstStyle/>
          <a:p>
            <a:pPr indent="-398969" lvl="0" marL="457200" rtl="0" algn="just">
              <a:lnSpc>
                <a:spcPct val="150000"/>
              </a:lnSpc>
              <a:spcBef>
                <a:spcPts val="300"/>
              </a:spcBef>
              <a:spcAft>
                <a:spcPts val="0"/>
              </a:spcAft>
              <a:buSzPct val="100000"/>
              <a:buChar char="-"/>
            </a:pPr>
            <a:r>
              <a:rPr lang="en-US" sz="2900">
                <a:latin typeface="Arial"/>
                <a:ea typeface="Arial"/>
                <a:cs typeface="Arial"/>
                <a:sym typeface="Arial"/>
              </a:rPr>
              <a:t>Tấn công MitM đơn giản.</a:t>
            </a:r>
            <a:endParaRPr sz="2900">
              <a:latin typeface="Arial"/>
              <a:ea typeface="Arial"/>
              <a:cs typeface="Arial"/>
              <a:sym typeface="Arial"/>
            </a:endParaRPr>
          </a:p>
          <a:p>
            <a:pPr indent="-398969" lvl="0" marL="457200" rtl="0" algn="just">
              <a:lnSpc>
                <a:spcPct val="150000"/>
              </a:lnSpc>
              <a:spcBef>
                <a:spcPts val="300"/>
              </a:spcBef>
              <a:spcAft>
                <a:spcPts val="0"/>
              </a:spcAft>
              <a:buSzPct val="100000"/>
              <a:buChar char="-"/>
            </a:pPr>
            <a:r>
              <a:rPr lang="en-US" sz="2900">
                <a:latin typeface="Arial"/>
                <a:ea typeface="Arial"/>
                <a:cs typeface="Arial"/>
                <a:sym typeface="Arial"/>
              </a:rPr>
              <a:t>Xem thông tin chứng chỉ TLS/SSL của một trang web HTTPS bằng trình duyệt</a:t>
            </a:r>
            <a:endParaRPr sz="2900">
              <a:latin typeface="Arial"/>
              <a:ea typeface="Arial"/>
              <a:cs typeface="Arial"/>
              <a:sym typeface="Arial"/>
            </a:endParaRPr>
          </a:p>
          <a:p>
            <a:pPr indent="-398969" lvl="0" marL="457200" rtl="0" algn="just">
              <a:lnSpc>
                <a:spcPct val="150000"/>
              </a:lnSpc>
              <a:spcBef>
                <a:spcPts val="300"/>
              </a:spcBef>
              <a:spcAft>
                <a:spcPts val="0"/>
              </a:spcAft>
              <a:buSzPct val="100000"/>
              <a:buChar char="-"/>
            </a:pPr>
            <a:r>
              <a:rPr lang="en-US" sz="2900">
                <a:latin typeface="Arial"/>
                <a:ea typeface="Arial"/>
                <a:cs typeface="Arial"/>
                <a:sym typeface="Arial"/>
              </a:rPr>
              <a:t>Các vụ tấn công IoT nổi tiếng: </a:t>
            </a:r>
            <a:endParaRPr sz="2900">
              <a:latin typeface="Arial"/>
              <a:ea typeface="Arial"/>
              <a:cs typeface="Arial"/>
              <a:sym typeface="Arial"/>
            </a:endParaRPr>
          </a:p>
          <a:p>
            <a:pPr indent="-398969" lvl="0" marL="914400" rtl="0" algn="just">
              <a:lnSpc>
                <a:spcPct val="150000"/>
              </a:lnSpc>
              <a:spcBef>
                <a:spcPts val="300"/>
              </a:spcBef>
              <a:spcAft>
                <a:spcPts val="0"/>
              </a:spcAft>
              <a:buSzPct val="100000"/>
              <a:buFont typeface="Arial"/>
              <a:buChar char="+"/>
            </a:pPr>
            <a:r>
              <a:rPr lang="en-US" sz="2900">
                <a:latin typeface="Arial"/>
                <a:ea typeface="Arial"/>
                <a:cs typeface="Arial"/>
                <a:sym typeface="Arial"/>
              </a:rPr>
              <a:t>Mirai botnet: sử dụng camera IP và DVR để thực hiện các cuộc tấn công DDoS lớn, làm sập các trang web lớn như Netflix, Twitter, Reddit</a:t>
            </a:r>
            <a:endParaRPr sz="2900">
              <a:latin typeface="Arial"/>
              <a:ea typeface="Arial"/>
              <a:cs typeface="Arial"/>
              <a:sym typeface="Arial"/>
            </a:endParaRPr>
          </a:p>
          <a:p>
            <a:pPr indent="-398969" lvl="0" marL="914400" rtl="0" algn="just">
              <a:lnSpc>
                <a:spcPct val="150000"/>
              </a:lnSpc>
              <a:spcBef>
                <a:spcPts val="0"/>
              </a:spcBef>
              <a:spcAft>
                <a:spcPts val="0"/>
              </a:spcAft>
              <a:buSzPct val="100000"/>
              <a:buFont typeface="Arial"/>
              <a:buChar char="+"/>
            </a:pPr>
            <a:r>
              <a:rPr lang="en-US" sz="2900">
                <a:latin typeface="Arial"/>
                <a:ea typeface="Arial"/>
                <a:cs typeface="Arial"/>
                <a:sym typeface="Arial"/>
              </a:rPr>
              <a:t>Tấn công vào AWS: một cuộc tấn công phản xạ và khuếch đại sử dụng giao thức CLDAP, đạt đỉnh điểm ở mức 2.3 terabyte/giây (TB/s), được coi là một trong những cuộc tấn công DDoS lớn nhất lịch sử gây gián đoạn dịch vụ cho một khách hàng lớn của Amazon Web Services trong ba ngày</a:t>
            </a:r>
            <a:endParaRPr sz="2000">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9"/>
          <p:cNvSpPr txBox="1"/>
          <p:nvPr>
            <p:ph type="title"/>
          </p:nvPr>
        </p:nvSpPr>
        <p:spPr>
          <a:xfrm>
            <a:off x="179725" y="365125"/>
            <a:ext cx="11599200" cy="4893000"/>
          </a:xfrm>
          <a:prstGeom prst="rect">
            <a:avLst/>
          </a:prstGeom>
          <a:noFill/>
          <a:ln>
            <a:noFill/>
          </a:ln>
        </p:spPr>
        <p:txBody>
          <a:bodyPr anchorCtr="0" anchor="ctr" bIns="45700" lIns="91425" spcFirstLastPara="1" rIns="91425" wrap="square" tIns="45700">
            <a:normAutofit/>
          </a:bodyPr>
          <a:lstStyle/>
          <a:p>
            <a:pPr indent="457200" lvl="0" marL="457200" rtl="0" algn="l">
              <a:lnSpc>
                <a:spcPct val="120000"/>
              </a:lnSpc>
              <a:spcBef>
                <a:spcPts val="300"/>
              </a:spcBef>
              <a:spcAft>
                <a:spcPts val="300"/>
              </a:spcAft>
              <a:buClr>
                <a:schemeClr val="dk1"/>
              </a:buClr>
              <a:buSzPts val="1100"/>
              <a:buFont typeface="Arial"/>
              <a:buNone/>
            </a:pPr>
            <a:r>
              <a:rPr b="1" lang="en-US" sz="4000">
                <a:latin typeface="Arial"/>
                <a:ea typeface="Arial"/>
                <a:cs typeface="Arial"/>
                <a:sym typeface="Arial"/>
              </a:rPr>
              <a:t>Bài Tập Thực Hành </a:t>
            </a:r>
            <a:endParaRPr b="1" sz="4000">
              <a:latin typeface="Arial"/>
              <a:ea typeface="Arial"/>
              <a:cs typeface="Arial"/>
              <a:sym typeface="Arial"/>
            </a:endParaRPr>
          </a:p>
        </p:txBody>
      </p:sp>
      <p:sp>
        <p:nvSpPr>
          <p:cNvPr id="397" name="Google Shape;397;p49"/>
          <p:cNvSpPr txBox="1"/>
          <p:nvPr>
            <p:ph idx="1" type="body"/>
          </p:nvPr>
        </p:nvSpPr>
        <p:spPr>
          <a:xfrm>
            <a:off x="838200" y="5485440"/>
            <a:ext cx="10515600" cy="691500"/>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1000"/>
              </a:spcBef>
              <a:spcAft>
                <a:spcPts val="0"/>
              </a:spcAft>
              <a:buClr>
                <a:schemeClr val="dk1"/>
              </a:buClr>
              <a:buSzPts val="1800"/>
              <a:buFont typeface="Arial"/>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0"/>
          <p:cNvSpPr txBox="1"/>
          <p:nvPr>
            <p:ph type="title"/>
          </p:nvPr>
        </p:nvSpPr>
        <p:spPr>
          <a:xfrm>
            <a:off x="0" y="0"/>
            <a:ext cx="9644400" cy="815100"/>
          </a:xfrm>
          <a:prstGeom prst="rect">
            <a:avLst/>
          </a:prstGeom>
          <a:noFill/>
          <a:ln>
            <a:noFill/>
          </a:ln>
        </p:spPr>
        <p:txBody>
          <a:bodyPr anchorCtr="0" anchor="ctr" bIns="45700" lIns="91425" spcFirstLastPara="1" rIns="91425" wrap="square" tIns="45700">
            <a:noAutofit/>
          </a:bodyPr>
          <a:lstStyle/>
          <a:p>
            <a:pPr indent="269875" lvl="0" marL="0" rtl="0" algn="just">
              <a:lnSpc>
                <a:spcPct val="120000"/>
              </a:lnSpc>
              <a:spcBef>
                <a:spcPts val="300"/>
              </a:spcBef>
              <a:spcAft>
                <a:spcPts val="300"/>
              </a:spcAft>
              <a:buClr>
                <a:schemeClr val="dk1"/>
              </a:buClr>
              <a:buSzPts val="1100"/>
              <a:buNone/>
            </a:pPr>
            <a:r>
              <a:t/>
            </a:r>
            <a:endParaRPr sz="3200">
              <a:solidFill>
                <a:schemeClr val="lt1"/>
              </a:solidFill>
              <a:latin typeface="Arial"/>
              <a:ea typeface="Arial"/>
              <a:cs typeface="Arial"/>
              <a:sym typeface="Arial"/>
            </a:endParaRPr>
          </a:p>
        </p:txBody>
      </p:sp>
      <p:sp>
        <p:nvSpPr>
          <p:cNvPr id="403" name="Google Shape;403;p50"/>
          <p:cNvSpPr txBox="1"/>
          <p:nvPr>
            <p:ph idx="1" type="body"/>
          </p:nvPr>
        </p:nvSpPr>
        <p:spPr>
          <a:xfrm>
            <a:off x="0" y="815100"/>
            <a:ext cx="12192000" cy="6042900"/>
          </a:xfrm>
          <a:prstGeom prst="rect">
            <a:avLst/>
          </a:prstGeom>
          <a:noFill/>
          <a:ln>
            <a:noFill/>
          </a:ln>
        </p:spPr>
        <p:txBody>
          <a:bodyPr anchorCtr="0" anchor="t" bIns="45700" lIns="91425" spcFirstLastPara="1" rIns="91425" wrap="square" tIns="45700">
            <a:normAutofit/>
          </a:bodyPr>
          <a:lstStyle/>
          <a:p>
            <a:pPr indent="269875" lvl="0" marL="0" rtl="0" algn="just">
              <a:lnSpc>
                <a:spcPct val="150000"/>
              </a:lnSpc>
              <a:spcBef>
                <a:spcPts val="300"/>
              </a:spcBef>
              <a:spcAft>
                <a:spcPts val="0"/>
              </a:spcAft>
              <a:buClr>
                <a:schemeClr val="dk1"/>
              </a:buClr>
              <a:buSzPts val="1100"/>
              <a:buFont typeface="Arial"/>
              <a:buNone/>
            </a:pPr>
            <a:r>
              <a:rPr b="1" i="1" lang="en-US" sz="2500">
                <a:latin typeface="Times New Roman"/>
                <a:ea typeface="Times New Roman"/>
                <a:cs typeface="Times New Roman"/>
                <a:sym typeface="Times New Roman"/>
              </a:rPr>
              <a:t>Bài tập 1:</a:t>
            </a:r>
            <a:r>
              <a:rPr lang="en-US" sz="2500">
                <a:latin typeface="Times New Roman"/>
                <a:ea typeface="Times New Roman"/>
                <a:cs typeface="Times New Roman"/>
                <a:sym typeface="Times New Roman"/>
              </a:rPr>
              <a:t> Với mỗi giao thức truyền thông đã học (UART, SPI, I2C, Ethernet, BLE, Zigbee, Wifi, LoRaWAN, NB-IoT/LTE-M, MQTT, CoAP), hãy liệt kê các biện pháp bảo mật có thể áp dụng ở tầng giao thức đó hoặc tầng trên nó để bảo vệ dữ liệu truyền.</a:t>
            </a:r>
            <a:endParaRPr sz="2500">
              <a:latin typeface="Times New Roman"/>
              <a:ea typeface="Times New Roman"/>
              <a:cs typeface="Times New Roman"/>
              <a:sym typeface="Times New Roman"/>
            </a:endParaRPr>
          </a:p>
          <a:p>
            <a:pPr indent="269875" lvl="0" marL="0" rtl="0" algn="just">
              <a:lnSpc>
                <a:spcPct val="150000"/>
              </a:lnSpc>
              <a:spcBef>
                <a:spcPts val="300"/>
              </a:spcBef>
              <a:spcAft>
                <a:spcPts val="0"/>
              </a:spcAft>
              <a:buClr>
                <a:schemeClr val="dk1"/>
              </a:buClr>
              <a:buSzPts val="1100"/>
              <a:buFont typeface="Arial"/>
              <a:buNone/>
            </a:pPr>
            <a:r>
              <a:rPr b="1" i="1" lang="en-US" sz="2500">
                <a:latin typeface="Times New Roman"/>
                <a:ea typeface="Times New Roman"/>
                <a:cs typeface="Times New Roman"/>
                <a:sym typeface="Times New Roman"/>
              </a:rPr>
              <a:t>Bài tập 2:</a:t>
            </a:r>
            <a:r>
              <a:rPr lang="en-US" sz="2500">
                <a:latin typeface="Times New Roman"/>
                <a:ea typeface="Times New Roman"/>
                <a:cs typeface="Times New Roman"/>
                <a:sym typeface="Times New Roman"/>
              </a:rPr>
              <a:t> Phân biệt sự khác nhau giữa mã hóa đối xứng và bất đối xứng về tốc độ, quản lý khóa và ứng dụng phù hợp.</a:t>
            </a:r>
            <a:endParaRPr sz="2500">
              <a:latin typeface="Times New Roman"/>
              <a:ea typeface="Times New Roman"/>
              <a:cs typeface="Times New Roman"/>
              <a:sym typeface="Times New Roman"/>
            </a:endParaRPr>
          </a:p>
          <a:p>
            <a:pPr indent="269875" lvl="0" marL="0" rtl="0" algn="just">
              <a:lnSpc>
                <a:spcPct val="150000"/>
              </a:lnSpc>
              <a:spcBef>
                <a:spcPts val="300"/>
              </a:spcBef>
              <a:spcAft>
                <a:spcPts val="300"/>
              </a:spcAft>
              <a:buClr>
                <a:schemeClr val="dk1"/>
              </a:buClr>
              <a:buSzPts val="1100"/>
              <a:buFont typeface="Arial"/>
              <a:buNone/>
            </a:pPr>
            <a:r>
              <a:rPr b="1" i="1" lang="en-US" sz="2500">
                <a:latin typeface="Times New Roman"/>
                <a:ea typeface="Times New Roman"/>
                <a:cs typeface="Times New Roman"/>
                <a:sym typeface="Times New Roman"/>
              </a:rPr>
              <a:t>Bài tập 3:</a:t>
            </a:r>
            <a:r>
              <a:rPr lang="en-US" sz="2500">
                <a:latin typeface="Times New Roman"/>
                <a:ea typeface="Times New Roman"/>
                <a:cs typeface="Times New Roman"/>
                <a:sym typeface="Times New Roman"/>
              </a:rPr>
              <a:t> Phân tích các rủi ro bảo mật tiềm ẩn và đề xuất biện pháp khắc phục cho một hệ thống nhà thông minh đơn giản gồm: cảm biến cửa (Zigbee), camera an ninh (Wifi), bộ điều khiển trung tâm (hub kết nối Internet) và ứng dụng di động.</a:t>
            </a:r>
            <a:endParaRPr sz="2500">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pic>
        <p:nvPicPr>
          <p:cNvPr id="408" name="Google Shape;408;p51"/>
          <p:cNvPicPr preferRelativeResize="0"/>
          <p:nvPr/>
        </p:nvPicPr>
        <p:blipFill rotWithShape="1">
          <a:blip r:embed="rId3">
            <a:alphaModFix/>
          </a:blip>
          <a:srcRect b="0" l="0" r="0" t="0"/>
          <a:stretch/>
        </p:blipFill>
        <p:spPr>
          <a:xfrm rot="-1210447">
            <a:off x="7906072" y="1920649"/>
            <a:ext cx="6055433" cy="5389335"/>
          </a:xfrm>
          <a:prstGeom prst="rect">
            <a:avLst/>
          </a:prstGeom>
          <a:noFill/>
          <a:ln>
            <a:noFill/>
          </a:ln>
        </p:spPr>
      </p:pic>
      <p:pic>
        <p:nvPicPr>
          <p:cNvPr id="409" name="Google Shape;409;p51"/>
          <p:cNvPicPr preferRelativeResize="0"/>
          <p:nvPr/>
        </p:nvPicPr>
        <p:blipFill rotWithShape="1">
          <a:blip r:embed="rId3">
            <a:alphaModFix/>
          </a:blip>
          <a:srcRect b="0" l="0" r="0" t="0"/>
          <a:stretch/>
        </p:blipFill>
        <p:spPr>
          <a:xfrm rot="9589553">
            <a:off x="-862958" y="-813166"/>
            <a:ext cx="4400276" cy="3916246"/>
          </a:xfrm>
          <a:prstGeom prst="rect">
            <a:avLst/>
          </a:prstGeom>
          <a:noFill/>
          <a:ln>
            <a:noFill/>
          </a:ln>
        </p:spPr>
      </p:pic>
      <p:pic>
        <p:nvPicPr>
          <p:cNvPr id="410" name="Google Shape;410;p51"/>
          <p:cNvPicPr preferRelativeResize="0"/>
          <p:nvPr/>
        </p:nvPicPr>
        <p:blipFill rotWithShape="1">
          <a:blip r:embed="rId4">
            <a:alphaModFix/>
          </a:blip>
          <a:srcRect b="0" l="0" r="0" t="0"/>
          <a:stretch/>
        </p:blipFill>
        <p:spPr>
          <a:xfrm rot="731445">
            <a:off x="6659578" y="-1254977"/>
            <a:ext cx="6144075" cy="2119706"/>
          </a:xfrm>
          <a:prstGeom prst="rect">
            <a:avLst/>
          </a:prstGeom>
          <a:noFill/>
          <a:ln>
            <a:noFill/>
          </a:ln>
        </p:spPr>
      </p:pic>
      <p:pic>
        <p:nvPicPr>
          <p:cNvPr id="411" name="Google Shape;411;p51"/>
          <p:cNvPicPr preferRelativeResize="0"/>
          <p:nvPr/>
        </p:nvPicPr>
        <p:blipFill rotWithShape="1">
          <a:blip r:embed="rId4">
            <a:alphaModFix/>
          </a:blip>
          <a:srcRect b="0" l="0" r="0" t="0"/>
          <a:stretch/>
        </p:blipFill>
        <p:spPr>
          <a:xfrm rot="815270">
            <a:off x="-2888677" y="5305784"/>
            <a:ext cx="8998355" cy="3104432"/>
          </a:xfrm>
          <a:prstGeom prst="rect">
            <a:avLst/>
          </a:prstGeom>
          <a:noFill/>
          <a:ln>
            <a:noFill/>
          </a:ln>
        </p:spPr>
      </p:pic>
      <p:pic>
        <p:nvPicPr>
          <p:cNvPr id="412" name="Google Shape;412;p51"/>
          <p:cNvPicPr preferRelativeResize="0"/>
          <p:nvPr/>
        </p:nvPicPr>
        <p:blipFill rotWithShape="1">
          <a:blip r:embed="rId5">
            <a:alphaModFix/>
          </a:blip>
          <a:srcRect b="0" l="0" r="0" t="0"/>
          <a:stretch/>
        </p:blipFill>
        <p:spPr>
          <a:xfrm flipH="1" rot="-1132820">
            <a:off x="-31577" y="3935447"/>
            <a:ext cx="2234811" cy="2865142"/>
          </a:xfrm>
          <a:prstGeom prst="rect">
            <a:avLst/>
          </a:prstGeom>
          <a:noFill/>
          <a:ln>
            <a:noFill/>
          </a:ln>
        </p:spPr>
      </p:pic>
      <p:pic>
        <p:nvPicPr>
          <p:cNvPr id="413" name="Google Shape;413;p51"/>
          <p:cNvPicPr preferRelativeResize="0"/>
          <p:nvPr/>
        </p:nvPicPr>
        <p:blipFill rotWithShape="1">
          <a:blip r:embed="rId5">
            <a:alphaModFix/>
          </a:blip>
          <a:srcRect b="0" l="0" r="0" t="0"/>
          <a:stretch/>
        </p:blipFill>
        <p:spPr>
          <a:xfrm flipH="1" rot="9667180">
            <a:off x="10239849" y="-18438"/>
            <a:ext cx="1387876" cy="1779329"/>
          </a:xfrm>
          <a:prstGeom prst="rect">
            <a:avLst/>
          </a:prstGeom>
          <a:noFill/>
          <a:ln>
            <a:noFill/>
          </a:ln>
        </p:spPr>
      </p:pic>
      <p:pic>
        <p:nvPicPr>
          <p:cNvPr id="414" name="Google Shape;414;p51"/>
          <p:cNvPicPr preferRelativeResize="0"/>
          <p:nvPr/>
        </p:nvPicPr>
        <p:blipFill rotWithShape="1">
          <a:blip r:embed="rId6">
            <a:alphaModFix/>
          </a:blip>
          <a:srcRect b="0" l="0" r="0" t="0"/>
          <a:stretch/>
        </p:blipFill>
        <p:spPr>
          <a:xfrm>
            <a:off x="3738688" y="871227"/>
            <a:ext cx="852613" cy="888139"/>
          </a:xfrm>
          <a:prstGeom prst="rect">
            <a:avLst/>
          </a:prstGeom>
          <a:noFill/>
          <a:ln>
            <a:noFill/>
          </a:ln>
        </p:spPr>
      </p:pic>
      <p:pic>
        <p:nvPicPr>
          <p:cNvPr id="415" name="Google Shape;415;p51"/>
          <p:cNvPicPr preferRelativeResize="0"/>
          <p:nvPr/>
        </p:nvPicPr>
        <p:blipFill rotWithShape="1">
          <a:blip r:embed="rId6">
            <a:alphaModFix/>
          </a:blip>
          <a:srcRect b="0" l="0" r="0" t="0"/>
          <a:stretch/>
        </p:blipFill>
        <p:spPr>
          <a:xfrm flipH="1">
            <a:off x="8911689" y="2142728"/>
            <a:ext cx="661548" cy="689113"/>
          </a:xfrm>
          <a:prstGeom prst="rect">
            <a:avLst/>
          </a:prstGeom>
          <a:noFill/>
          <a:ln>
            <a:noFill/>
          </a:ln>
        </p:spPr>
      </p:pic>
      <p:sp>
        <p:nvSpPr>
          <p:cNvPr id="416" name="Google Shape;416;p51"/>
          <p:cNvSpPr txBox="1"/>
          <p:nvPr/>
        </p:nvSpPr>
        <p:spPr>
          <a:xfrm>
            <a:off x="2479571" y="2599928"/>
            <a:ext cx="7232858" cy="2479525"/>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Clr>
                <a:srgbClr val="000000"/>
              </a:buClr>
              <a:buSzPts val="11900"/>
              <a:buFont typeface="Arial"/>
              <a:buNone/>
            </a:pPr>
            <a:r>
              <a:rPr b="0" i="0" lang="en-US" sz="11900" u="none" cap="none" strike="noStrike">
                <a:solidFill>
                  <a:srgbClr val="659D78"/>
                </a:solidFill>
                <a:latin typeface="Arial"/>
                <a:ea typeface="Arial"/>
                <a:cs typeface="Arial"/>
                <a:sym typeface="Arial"/>
              </a:rPr>
              <a:t>Thank You</a:t>
            </a:r>
            <a:endParaRPr b="0" i="0" sz="11900" u="none" cap="none" strike="noStrike">
              <a:solidFill>
                <a:srgbClr val="659D78"/>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