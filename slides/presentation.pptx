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96">
          <p15:clr>
            <a:srgbClr val="A4A3A4"/>
          </p15:clr>
        </p15:guide>
        <p15:guide id="2" pos="3840">
          <p15:clr>
            <a:srgbClr val="A4A3A4"/>
          </p15:clr>
        </p15:guide>
      </p15:sldGuideLst>
    </p:ext>
    <p:ext uri="GoogleSlidesCustomDataVersion2">
      <go:slidesCustomData xmlns:go="http://customooxmlschemas.google.com/" r:id="rId58" roundtripDataSignature="AMtx7mh0TxHugZV7z9b1o6k6FNE9ZIYCw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3BCA32F-9013-498E-886E-8B101F2C3CD9}">
  <a:tblStyle styleId="{93BCA32F-9013-498E-886E-8B101F2C3CD9}"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FCECE7"/>
          </a:solidFill>
        </a:fill>
      </a:tcStyle>
    </a:wholeTbl>
    <a:band1H>
      <a:tcTxStyle b="off" i="off"/>
      <a:tcStyle>
        <a:fill>
          <a:solidFill>
            <a:srgbClr val="F8D6CC"/>
          </a:solidFill>
        </a:fill>
      </a:tcStyle>
    </a:band1H>
    <a:band2H>
      <a:tcTxStyle b="off" i="off"/>
    </a:band2H>
    <a:band1V>
      <a:tcTxStyle b="off" i="off"/>
      <a:tcStyle>
        <a:fill>
          <a:solidFill>
            <a:srgbClr val="F8D6CC"/>
          </a:solidFill>
        </a:fill>
      </a:tcStyle>
    </a:band1V>
    <a:band2V>
      <a:tcTxStyle b="off" i="off"/>
    </a:band2V>
    <a:lastCol>
      <a:tcTxStyle b="on" i="off">
        <a:font>
          <a:latin typeface="Calibri"/>
          <a:ea typeface="Calibri"/>
          <a:cs typeface="Calibri"/>
        </a:font>
        <a:schemeClr val="lt1"/>
      </a:tcTxStyle>
      <a:tcStyle>
        <a:fill>
          <a:solidFill>
            <a:schemeClr val="accent2"/>
          </a:solidFill>
        </a:fill>
      </a:tcStyle>
    </a:lastCol>
    <a:firstCol>
      <a:tcTxStyle b="on" i="off">
        <a:font>
          <a:latin typeface="Calibri"/>
          <a:ea typeface="Calibri"/>
          <a:cs typeface="Calibri"/>
        </a:font>
        <a:schemeClr val="lt1"/>
      </a:tcTxStyle>
      <a:tcStyle>
        <a:fill>
          <a:solidFill>
            <a:schemeClr val="accent2"/>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2"/>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2"/>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96" orient="horz"/>
        <p:guide pos="384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5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Kính thưa Thầy giáo PGS.TS. Nguyễn Văn Hậu và toàn thể Hội đồng chấm bảo vệ! Hôm nay, nhóm sinh viên chúng em gồm Chử Quốc Hào và Vũ Đình Hiếu xin phép được báo cáo đề tài Bài tập lớn môn Học máy cơ bản: 'Phân loại hai giống lúa gạo Cammeo và Osmancik bằng Cây quyết định và Rừng ngẫu nhiên'. Đề tài tập trung giải quyết bài toán tự động hóa kiểm định nông sản thông qua quy trình thực nghiệm nghiêm ngặt, tối ưu cây bằng Cost-Complexity Pruning và đóng gói thành Web Service hoàn chỉnh.</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Trong xuất khẩu lúa gạo, Cammeo và Osmancik có giá thành và thị trường khác biệt. Nếu phân loại bằng mắt, công nhân nhanh chóng mệt mỏi dẫn đến nhầm lẫn, gây lẫn tạp lô hàng. Hệ thống chụp ảnh trên băng chuyền kết hợp máy học giúp đo đạc các kích thước vi mô và ra quyết định chính xác chỉ trong vài mili-giây.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Về mặt toán học, bài toán được phát biểu là: Cho véc-tơ đầu vào x thuộc R^7 gồm đầy đủ 7 đặc trưng hình thái: Area, Perimeter, Major_Axis_Length, Minor_Axis_Length, Eccentricity, Convex_Area và Extent. Mô hình cần học hàm ánh xạ để dự đoán nhãn nhị phân y thuộc {Cammeo, Osmancik}. Dữ liệu gồm 3.810 mẫu hạt gạo chuẩn từ UCI. Quan sát biểu đồ phân tán 2D ở Hình 1b, hai giống lúa có sự phân tách tương đối nhưng vẫn tồn tại dải ranh giới giao thoa tự nhiên. Mục tiêu là mô hình phải vượt mốc ngẫu nhiên 57,22% và đạt độ chính xác trên 90% trên tập Test.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Phân tích ma trận tương quan ở Hình 2 cho thấy rõ hiện tượng đa cộng tuyến: nhóm 4 biến kích cỡ đều có r &gt;= 0.90, trong đó nhiều cặp r &gt;= 0.97. Ngoài ra, một rủi ro cực lớn trong thực hành học máy là Rò rỉ dữ liệu (Data Leakage): nếu chuẩn hóa dữ liệu trên toàn bộ tập trước khi chia, mô hình sẽ 'biết trước' thông tin tập Test. Cây quyết định tự do giải quyết được đa cộng tuyến nhưng lại dễ bị quá khớp. Do đó, nghiên cứu đặt trọng tâm vào cắt tỉa ccp_alpha để tìm ra cây tối giản.</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Để chống rò rỉ dữ liệu, nhóm phân chia phân tầng Stratified 60% Train, 20% Val và 20% Test, trong đó tập Test được niêm phong tuyệt đối. Chúng em cũng xây dựng Dummy Baseline luôn đoán nhãn đa số đạt sẵn 57,22% làm cột mốc sàn. Mọi thuật toán đề xuất bắt buộc phải chứng minh vượt xa cột mốc này qua 4 thí nghiệm thực chứng kế tiếp.</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Ở Thí nghiệm 1, khi tăng dần max_depth, đường màu xanh (Train) tăng vọt lên 100% khi depth đạt 16, nghĩa là cây đã học vẹt toàn bộ dữ liệu. Ngược lại, đường màu đỏ (Validation) chỉ đạt đỉnh 93,70% ở depth 1 và 2, sau đó giảm dần xuống đáy 89,10% ở depth 17 và dao động quanh 89,90% ở depth 20. Sự phân kỳ hơn 10% giữa Train và Val chứng minh cây tự do bị quá khớp nặng, khẳng định bắt buộc phải cắt tỉa mô hình.</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Tại Thí nghiệm 2, nhóm áp dụng kỹ thuật Cost-Complexity Pruning qua 5-Fold Cross Validation trên tập Train để tìm ra alpha tối ưu bằng 0.008024. Kết quả cực kỳ ấn tượng: từ một cây cồng kềnh gồm 187 lá, mô hình được rút gọn chỉ còn đúng 3 nút lá (tổng cộng 5 nút). Quan sát sơ đồ cây ở Hình 4, cây chỉ cần đúng 2 biến là Major_Axis_Length và Perimeter để ra quyết định, hoàn toàn không cần đến Eccentricity. Độ chính xác trên Validation vẫn đạt 93,70%, mang lại tính minh bạch tuyệt đối cho người vận hành.</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so sánh ở Thí nghiệm 3 tổng hợp đầy đủ các tiêu chí cốt lõi: Cả Cây quyết định đã tỉa và Rừng ngẫu nhiên đều vượt xa Baseline 57,22%. Về Accuracy, Cây đã tỉa đạt 93,70%, tương đương với Rừng 93,44%. Về chỉ số ROC-AUC, DT Đã tỉa đạt 0.9596 (làm tròn 0.96 trên Hình 5), còn Rừng ngẫu nhiên đạt 0.9741 (làm tròn 0.97). Bài toán thể hiện sự đánh đổi rõ ràng: Cây 3 lá cực kỳ phù hợp cho khâu kiểm toán và giải thích nghiệp vụ, còn Rừng ngẫu nhiên tối ưu về xác suất tin cậy để điều khiển van phân loại tự động.</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Ở bước nghiệm thu cuối cùng, mô hình Random Forest được đánh giá một lần duy nhất trên tập Test độc lập và đạt Accuracy 91,60%, ROC-AUC 0.9709. Độ chênh lệch giữa Val và Test chỉ 1,84%, chứng minh mô hình tổng quát hóa xuất sắc và quy trình không bị Data Leakage. Để hiểu rõ nguyên nhân sai số mà không vi phạm nguyên tắc niêm phong tập Test, nhóm mổ xẻ 50 ca đoán sai trên tập Validation. Kết quả ở Hình 6 khẳng định các mẫu sai màu đỏ tập trung tại vùng giao thoa tự nhiên Major_Axis_Length từ 180 đến 205 px (quanh ngưỡng phân chia 191 px). Điều đặc biệt là độ tự tin của mô hình tự động giảm từ 94% xuống 78% ở các ca này, mở ra cơ chế cảnh báo bất định.</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Nhóm đã đóng gói toàn bộ mô hình thành ứng dụng Web Flask hoàn chỉnh. Điểm nổi bật là kiến trúc tách biệt Offline Serving tải mô hình tĩnh 1 lần vào RAM giúp suy luận tức thì dưới 1 mili-giây. Hệ thống áp dụng cơ chế kiểm soát đầu vào 3 tầng nghiêm ngặt và đặc biệt là tính năng Cảnh báo bất định: khi xác suất rơi vào khoảng 0.40 đến 0.60, hệ thống tự động phát cảnh báo yêu cầu chuyên viên soi kính hiển vi thủ công, bảo vệ an toàn thương hiệu cho các lô hàng xuất khẩu.</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Tổng kết lại, đề tài đã đạt được 3 kết quả cốt lõi: Thứ nhất, cắt tỉa ccp_alpha giúp rút gọn 97% kích thước cây xuống còn 3 nút lá mà vẫn đạt 93,70% Accuracy; Thứ hai, Random Forest đạt ROC-AUC 0.97 và Test Accuracy 91,60%, vượt xa mốc Baseline 57,22%; Thứ ba, đóng gói thành công Web Service Flask với kiểm soát 3 tầng và cờ cảnh báo bất định. Về hướng phát triển, nhóm định hướng bổ sung đặc trưng màu sắc và kết cấu hạt để giải quyết triệt để 8% mẫu ở vùng ranh giới 180-205 px, kết nối camera công nghiệp thời gian thực và mở rộng sang các giống gạo Việt Nam như ST25.</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Kính thưa Thầy giáo PGS.TS. Nguyễn Văn Hậu và quý Thầy Cô trong Hội đồng! Bài tập lớn kết thúc học phần này không chỉ giúp chúng em nắm vững các kỹ thuật cốt lõi của Học máy cơ bản mà còn mang lại 3 bài học thực tiễn vô cùng giá trị: Quy trình chống rò rỉ dữ liệu quyết định độ tin cậy; Cây tối giản 3 lá minh chứng cho nguyên lý đơn giản là đỉnh cao; và một hệ thống AI có trách nhiệm phải biết cảnh báo vùng bất định. Nhóm chúng em xin trân trọng cảm ơn Thầy Hậu đã tận tình hướng dẫn. Chúng em xin sẵn sàng lắng nghe các câu hỏi phản biện và góp ý của Thầy để hoàn thiện hơn nữa đề tài ạ!</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53"/>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53"/>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5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5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5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21" name="Google Shape;21;p53"/>
          <p:cNvSpPr/>
          <p:nvPr/>
        </p:nvSpPr>
        <p:spPr>
          <a:xfrm rot="2700000">
            <a:off x="7985534" y="2232903"/>
            <a:ext cx="463379" cy="463379"/>
          </a:xfrm>
          <a:prstGeom prst="rect">
            <a:avLst/>
          </a:prstGeom>
          <a:solidFill>
            <a:srgbClr val="00B050"/>
          </a:soli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accent1"/>
              </a:solidFill>
              <a:latin typeface="Times New Roman"/>
              <a:ea typeface="Times New Roman"/>
              <a:cs typeface="Times New Roman"/>
              <a:sym typeface="Times New Roman"/>
            </a:endParaRPr>
          </a:p>
        </p:txBody>
      </p:sp>
      <p:sp>
        <p:nvSpPr>
          <p:cNvPr id="22" name="Google Shape;22;p53"/>
          <p:cNvSpPr/>
          <p:nvPr/>
        </p:nvSpPr>
        <p:spPr>
          <a:xfrm rot="2700000">
            <a:off x="8194908" y="2451725"/>
            <a:ext cx="2015208" cy="2015208"/>
          </a:xfrm>
          <a:prstGeom prst="rect">
            <a:avLst/>
          </a:prstGeom>
          <a:solidFill>
            <a:srgbClr val="00B050"/>
          </a:soli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accent1"/>
              </a:solidFill>
              <a:latin typeface="Times New Roman"/>
              <a:ea typeface="Times New Roman"/>
              <a:cs typeface="Times New Roman"/>
              <a:sym typeface="Times New Roman"/>
            </a:endParaRPr>
          </a:p>
        </p:txBody>
      </p:sp>
      <p:sp>
        <p:nvSpPr>
          <p:cNvPr id="23" name="Google Shape;23;p53"/>
          <p:cNvSpPr/>
          <p:nvPr/>
        </p:nvSpPr>
        <p:spPr>
          <a:xfrm rot="2700000">
            <a:off x="9458589" y="3489237"/>
            <a:ext cx="1842556" cy="1842556"/>
          </a:xfrm>
          <a:prstGeom prst="rect">
            <a:avLst/>
          </a:prstGeom>
          <a:solidFill>
            <a:srgbClr val="FFC000"/>
          </a:soli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accent1"/>
              </a:solidFill>
              <a:latin typeface="Times New Roman"/>
              <a:ea typeface="Times New Roman"/>
              <a:cs typeface="Times New Roman"/>
              <a:sym typeface="Times New Roman"/>
            </a:endParaRPr>
          </a:p>
        </p:txBody>
      </p:sp>
      <p:sp>
        <p:nvSpPr>
          <p:cNvPr id="24" name="Google Shape;24;p53"/>
          <p:cNvSpPr/>
          <p:nvPr/>
        </p:nvSpPr>
        <p:spPr>
          <a:xfrm rot="2700000">
            <a:off x="10124418" y="582097"/>
            <a:ext cx="5693806" cy="5693806"/>
          </a:xfrm>
          <a:prstGeom prst="rect">
            <a:avLst/>
          </a:prstGeom>
          <a:solidFill>
            <a:srgbClr val="00B050"/>
          </a:soli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Times New Roman"/>
              <a:ea typeface="Times New Roman"/>
              <a:cs typeface="Times New Roman"/>
              <a:sym typeface="Times New Roman"/>
            </a:endParaRPr>
          </a:p>
        </p:txBody>
      </p:sp>
      <p:sp>
        <p:nvSpPr>
          <p:cNvPr id="25" name="Google Shape;25;p53"/>
          <p:cNvSpPr/>
          <p:nvPr/>
        </p:nvSpPr>
        <p:spPr>
          <a:xfrm rot="2700000">
            <a:off x="8991121" y="2376888"/>
            <a:ext cx="2164882" cy="2164882"/>
          </a:xfrm>
          <a:prstGeom prst="rect">
            <a:avLst/>
          </a:prstGeom>
          <a:solidFill>
            <a:schemeClr val="lt1"/>
          </a:soli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accent1"/>
              </a:solidFill>
              <a:latin typeface="Times New Roman"/>
              <a:ea typeface="Times New Roman"/>
              <a:cs typeface="Times New Roman"/>
              <a:sym typeface="Times New Roman"/>
            </a:endParaRPr>
          </a:p>
        </p:txBody>
      </p:sp>
      <p:sp>
        <p:nvSpPr>
          <p:cNvPr id="26" name="Google Shape;26;p53"/>
          <p:cNvSpPr/>
          <p:nvPr/>
        </p:nvSpPr>
        <p:spPr>
          <a:xfrm rot="2700000">
            <a:off x="8365276" y="4676059"/>
            <a:ext cx="618605" cy="618605"/>
          </a:xfrm>
          <a:prstGeom prst="rect">
            <a:avLst/>
          </a:prstGeom>
          <a:gradFill>
            <a:gsLst>
              <a:gs pos="0">
                <a:srgbClr val="FFC647"/>
              </a:gs>
              <a:gs pos="50000">
                <a:srgbClr val="FFC600"/>
              </a:gs>
              <a:gs pos="100000">
                <a:srgbClr val="E3B400"/>
              </a:gs>
            </a:gsLst>
            <a:lin ang="5400000" scaled="0"/>
          </a:gradFill>
          <a:ln>
            <a:noFill/>
          </a:ln>
          <a:effectLst>
            <a:outerShdw blurRad="57150" rotWithShape="0" algn="ctr" dir="5400000" dist="19050">
              <a:srgbClr val="000000">
                <a:alpha val="61568"/>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accent1"/>
              </a:solidFill>
              <a:latin typeface="Times New Roman"/>
              <a:ea typeface="Times New Roman"/>
              <a:cs typeface="Times New Roman"/>
              <a:sym typeface="Times New Roman"/>
            </a:endParaRPr>
          </a:p>
        </p:txBody>
      </p:sp>
      <p:pic>
        <p:nvPicPr>
          <p:cNvPr id="27" name="Google Shape;27;p53"/>
          <p:cNvPicPr preferRelativeResize="0"/>
          <p:nvPr/>
        </p:nvPicPr>
        <p:blipFill rotWithShape="1">
          <a:blip r:embed="rId2">
            <a:alphaModFix/>
          </a:blip>
          <a:srcRect b="0" l="0" r="0" t="0"/>
          <a:stretch/>
        </p:blipFill>
        <p:spPr>
          <a:xfrm>
            <a:off x="373209" y="331948"/>
            <a:ext cx="7330782" cy="793087"/>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8" name="Shape 28"/>
        <p:cNvGrpSpPr/>
        <p:nvPr/>
      </p:nvGrpSpPr>
      <p:grpSpPr>
        <a:xfrm>
          <a:off x="0" y="0"/>
          <a:ext cx="0" cy="0"/>
          <a:chOff x="0" y="0"/>
          <a:chExt cx="0" cy="0"/>
        </a:xfrm>
      </p:grpSpPr>
      <p:sp>
        <p:nvSpPr>
          <p:cNvPr id="29" name="Google Shape;29;p5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5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 name="Google Shape;31;p5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5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5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34" name="Google Shape;34;p54"/>
          <p:cNvPicPr preferRelativeResize="0"/>
          <p:nvPr/>
        </p:nvPicPr>
        <p:blipFill rotWithShape="1">
          <a:blip r:embed="rId2">
            <a:alphaModFix/>
          </a:blip>
          <a:srcRect b="0" l="0" r="0" t="0"/>
          <a:stretch/>
        </p:blipFill>
        <p:spPr>
          <a:xfrm>
            <a:off x="1229" y="0"/>
            <a:ext cx="12189542" cy="6857999"/>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5" name="Shape 35"/>
        <p:cNvGrpSpPr/>
        <p:nvPr/>
      </p:nvGrpSpPr>
      <p:grpSpPr>
        <a:xfrm>
          <a:off x="0" y="0"/>
          <a:ext cx="0" cy="0"/>
          <a:chOff x="0" y="0"/>
          <a:chExt cx="0" cy="0"/>
        </a:xfrm>
      </p:grpSpPr>
      <p:sp>
        <p:nvSpPr>
          <p:cNvPr id="36" name="Google Shape;36;p5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5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9" name="Shape 39"/>
        <p:cNvGrpSpPr/>
        <p:nvPr/>
      </p:nvGrpSpPr>
      <p:grpSpPr>
        <a:xfrm>
          <a:off x="0" y="0"/>
          <a:ext cx="0" cy="0"/>
          <a:chOff x="0" y="0"/>
          <a:chExt cx="0" cy="0"/>
        </a:xfrm>
      </p:grpSpPr>
      <p:sp>
        <p:nvSpPr>
          <p:cNvPr id="40" name="Google Shape;40;p56"/>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56"/>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42" name="Google Shape;42;p5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3" name="Google Shape;43;p5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5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45" name="Shape 45"/>
        <p:cNvGrpSpPr/>
        <p:nvPr/>
      </p:nvGrpSpPr>
      <p:grpSpPr>
        <a:xfrm>
          <a:off x="0" y="0"/>
          <a:ext cx="0" cy="0"/>
          <a:chOff x="0" y="0"/>
          <a:chExt cx="0" cy="0"/>
        </a:xfrm>
      </p:grpSpPr>
      <p:sp>
        <p:nvSpPr>
          <p:cNvPr id="46" name="Google Shape;46;p5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57"/>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8" name="Google Shape;48;p57"/>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9" name="Google Shape;49;p5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5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5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52" name="Shape 52"/>
        <p:cNvGrpSpPr/>
        <p:nvPr/>
      </p:nvGrpSpPr>
      <p:grpSpPr>
        <a:xfrm>
          <a:off x="0" y="0"/>
          <a:ext cx="0" cy="0"/>
          <a:chOff x="0" y="0"/>
          <a:chExt cx="0" cy="0"/>
        </a:xfrm>
      </p:grpSpPr>
      <p:sp>
        <p:nvSpPr>
          <p:cNvPr id="53" name="Google Shape;53;p58"/>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58"/>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5" name="Google Shape;55;p58"/>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6" name="Google Shape;56;p58"/>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57" name="Google Shape;57;p58"/>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8" name="Google Shape;58;p5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5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5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1" name="Shape 61"/>
        <p:cNvGrpSpPr/>
        <p:nvPr/>
      </p:nvGrpSpPr>
      <p:grpSpPr>
        <a:xfrm>
          <a:off x="0" y="0"/>
          <a:ext cx="0" cy="0"/>
          <a:chOff x="0" y="0"/>
          <a:chExt cx="0" cy="0"/>
        </a:xfrm>
      </p:grpSpPr>
      <p:sp>
        <p:nvSpPr>
          <p:cNvPr id="62" name="Google Shape;62;p5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5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5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5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6" name="Shape 66"/>
        <p:cNvGrpSpPr/>
        <p:nvPr/>
      </p:nvGrpSpPr>
      <p:grpSpPr>
        <a:xfrm>
          <a:off x="0" y="0"/>
          <a:ext cx="0" cy="0"/>
          <a:chOff x="0" y="0"/>
          <a:chExt cx="0" cy="0"/>
        </a:xfrm>
      </p:grpSpPr>
      <p:sp>
        <p:nvSpPr>
          <p:cNvPr id="67" name="Google Shape;67;p6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60"/>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9" name="Google Shape;69;p60"/>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0" name="Google Shape;70;p6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6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6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3" name="Shape 73"/>
        <p:cNvGrpSpPr/>
        <p:nvPr/>
      </p:nvGrpSpPr>
      <p:grpSpPr>
        <a:xfrm>
          <a:off x="0" y="0"/>
          <a:ext cx="0" cy="0"/>
          <a:chOff x="0" y="0"/>
          <a:chExt cx="0" cy="0"/>
        </a:xfrm>
      </p:grpSpPr>
      <p:sp>
        <p:nvSpPr>
          <p:cNvPr id="74" name="Google Shape;74;p61"/>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61"/>
          <p:cNvSpPr/>
          <p:nvPr>
            <p:ph idx="2" type="pic"/>
          </p:nvPr>
        </p:nvSpPr>
        <p:spPr>
          <a:xfrm>
            <a:off x="5183188" y="987425"/>
            <a:ext cx="6172200" cy="4873625"/>
          </a:xfrm>
          <a:prstGeom prst="rect">
            <a:avLst/>
          </a:prstGeom>
          <a:noFill/>
          <a:ln>
            <a:noFill/>
          </a:ln>
        </p:spPr>
      </p:sp>
      <p:sp>
        <p:nvSpPr>
          <p:cNvPr id="76" name="Google Shape;76;p61"/>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77" name="Google Shape;77;p6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6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6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0" name="Shape 80"/>
        <p:cNvGrpSpPr/>
        <p:nvPr/>
      </p:nvGrpSpPr>
      <p:grpSpPr>
        <a:xfrm>
          <a:off x="0" y="0"/>
          <a:ext cx="0" cy="0"/>
          <a:chOff x="0" y="0"/>
          <a:chExt cx="0" cy="0"/>
        </a:xfrm>
      </p:grpSpPr>
      <p:sp>
        <p:nvSpPr>
          <p:cNvPr id="81" name="Google Shape;81;p6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62"/>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3" name="Google Shape;83;p6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6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6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6" name="Shape 86"/>
        <p:cNvGrpSpPr/>
        <p:nvPr/>
      </p:nvGrpSpPr>
      <p:grpSpPr>
        <a:xfrm>
          <a:off x="0" y="0"/>
          <a:ext cx="0" cy="0"/>
          <a:chOff x="0" y="0"/>
          <a:chExt cx="0" cy="0"/>
        </a:xfrm>
      </p:grpSpPr>
      <p:sp>
        <p:nvSpPr>
          <p:cNvPr id="87" name="Google Shape;87;p63"/>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63"/>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9" name="Google Shape;89;p6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6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6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5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5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12" name="Google Shape;12;p5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3" name="Google Shape;13;p5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4" name="Google Shape;14;p5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371600"/>
            <a:ext cx="10728655" cy="457200"/>
          </a:xfrm>
          <a:prstGeom prst="rect">
            <a:avLst/>
          </a:prstGeom>
          <a:noFill/>
        </p:spPr>
        <p:txBody>
          <a:bodyPr wrap="none">
            <a:spAutoFit/>
          </a:bodyPr>
          <a:lstStyle/>
          <a:p>
            <a:pPr>
              <a:defRPr sz="1500" b="1">
                <a:solidFill>
                  <a:srgbClr val="00A859"/>
                </a:solidFill>
              </a:defRPr>
            </a:pPr>
            <a:r>
              <a:t>MÔN HỌC: HỌC MÁY CƠ BẢN</a:t>
            </a:r>
          </a:p>
        </p:txBody>
      </p:sp>
      <p:sp>
        <p:nvSpPr>
          <p:cNvPr id="3" name="Rectangle 2"/>
          <p:cNvSpPr/>
          <p:nvPr/>
        </p:nvSpPr>
        <p:spPr>
          <a:xfrm>
            <a:off x="731520" y="1920240"/>
            <a:ext cx="10728655" cy="228600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57400"/>
            <a:ext cx="10180015" cy="2011680"/>
          </a:xfrm>
          <a:prstGeom prst="rect">
            <a:avLst/>
          </a:prstGeom>
          <a:noFill/>
        </p:spPr>
        <p:txBody>
          <a:bodyPr wrap="square">
            <a:spAutoFit/>
          </a:bodyPr>
          <a:lstStyle/>
          <a:p>
            <a:pPr algn="ctr">
              <a:defRPr sz="2400" b="1">
                <a:solidFill>
                  <a:srgbClr val="102A43"/>
                </a:solidFill>
              </a:defRPr>
            </a:pPr>
            <a:r>
              <a:t>PROJECT 17: PHÂN LOẠI HAI GIỐNG LÚA GẠO CAMMEO VÀ OSMANCIK</a:t>
            </a:r>
            <a:br/>
            <a:r>
              <a:t>BẰNG CÂY QUYẾT ĐỊNH VÀ RỪNG NGẪU NHIÊN</a:t>
            </a:r>
          </a:p>
          <a:p>
            <a:pPr algn="ctr">
              <a:spcBef>
                <a:spcPts val="800"/>
              </a:spcBef>
              <a:defRPr sz="1300" i="1">
                <a:solidFill>
                  <a:srgbClr val="64748B"/>
                </a:solidFill>
              </a:defRPr>
            </a:pPr>
            <a:r>
              <a:t>Nghiên cứu ứng dụng Cost-Complexity Pruning (ccp_alpha), Random Forest và triển khai Web Service</a:t>
            </a:r>
          </a:p>
        </p:txBody>
      </p:sp>
      <p:sp>
        <p:nvSpPr>
          <p:cNvPr id="5" name="Rectangle 4"/>
          <p:cNvSpPr/>
          <p:nvPr/>
        </p:nvSpPr>
        <p:spPr>
          <a:xfrm>
            <a:off x="731520" y="4389120"/>
            <a:ext cx="5212080" cy="17373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26280"/>
            <a:ext cx="4846320" cy="1463040"/>
          </a:xfrm>
          <a:prstGeom prst="rect">
            <a:avLst/>
          </a:prstGeom>
          <a:noFill/>
        </p:spPr>
        <p:txBody>
          <a:bodyPr wrap="none">
            <a:spAutoFit/>
          </a:bodyPr>
          <a:lstStyle/>
          <a:p>
            <a:pPr>
              <a:defRPr sz="1100" b="1">
                <a:solidFill>
                  <a:srgbClr val="00A859"/>
                </a:solidFill>
              </a:defRPr>
            </a:pPr>
            <a:r>
              <a:t>GIẢNG VIÊN HƯỚNG DẪN:</a:t>
            </a:r>
          </a:p>
          <a:p>
            <a:pPr>
              <a:spcBef>
                <a:spcPts val="300"/>
              </a:spcBef>
              <a:defRPr sz="1800" b="1">
                <a:solidFill>
                  <a:srgbClr val="102A43"/>
                </a:solidFill>
              </a:defRPr>
            </a:pPr>
            <a:r>
              <a:t>PGS. TS. Nguyễn Văn Hậu</a:t>
            </a:r>
          </a:p>
          <a:p>
            <a:pPr>
              <a:spcBef>
                <a:spcPts val="200"/>
              </a:spcBef>
              <a:defRPr sz="1050">
                <a:solidFill>
                  <a:srgbClr val="64748B"/>
                </a:solidFill>
              </a:defRPr>
            </a:pPr>
            <a:r>
              <a:t>Khoa Công nghệ thông tin — Trường ĐH Sư phạm Kỹ thuật Hưng Yên</a:t>
            </a:r>
          </a:p>
        </p:txBody>
      </p:sp>
      <p:sp>
        <p:nvSpPr>
          <p:cNvPr id="7" name="Rectangle 6"/>
          <p:cNvSpPr/>
          <p:nvPr/>
        </p:nvSpPr>
        <p:spPr>
          <a:xfrm>
            <a:off x="6248095" y="4389120"/>
            <a:ext cx="5212080" cy="17373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30975" y="4526280"/>
            <a:ext cx="4846320" cy="1463040"/>
          </a:xfrm>
          <a:prstGeom prst="rect">
            <a:avLst/>
          </a:prstGeom>
          <a:noFill/>
        </p:spPr>
        <p:txBody>
          <a:bodyPr wrap="none">
            <a:spAutoFit/>
          </a:bodyPr>
          <a:lstStyle/>
          <a:p>
            <a:pPr>
              <a:defRPr sz="1100" b="1">
                <a:solidFill>
                  <a:srgbClr val="00A859"/>
                </a:solidFill>
              </a:defRPr>
            </a:pPr>
            <a:r>
              <a:t>SINH VIÊN THỰC HIỆN:</a:t>
            </a:r>
          </a:p>
          <a:p>
            <a:pPr>
              <a:spcBef>
                <a:spcPts val="400"/>
              </a:spcBef>
              <a:defRPr sz="1400" b="1">
                <a:solidFill>
                  <a:srgbClr val="102A43"/>
                </a:solidFill>
              </a:defRPr>
            </a:pPr>
            <a:r>
              <a:t>1. Chử Quốc Hào  —  MSV: 10123112</a:t>
            </a:r>
          </a:p>
          <a:p>
            <a:pPr>
              <a:spcBef>
                <a:spcPts val="200"/>
              </a:spcBef>
              <a:defRPr sz="1400" b="1">
                <a:solidFill>
                  <a:srgbClr val="102A43"/>
                </a:solidFill>
              </a:defRPr>
            </a:pPr>
            <a:r>
              <a:t>2. Vũ Đình Hiếu     —  MSV: 10123131</a:t>
            </a:r>
          </a:p>
          <a:p>
            <a:pPr>
              <a:spcBef>
                <a:spcPts val="300"/>
              </a:spcBef>
              <a:defRPr sz="1050">
                <a:solidFill>
                  <a:srgbClr val="64748B"/>
                </a:solidFill>
              </a:defRPr>
            </a:pPr>
            <a:r>
              <a:t>Lớp: 10123O.1 — Khoa Công nghệ thông tin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Giám Định Thủ Công Làm Chậm Dây Chuyền Và Bộc Lộ Rủi Ro Lẫn Tạp</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2 / 12</a:t>
            </a:r>
          </a:p>
        </p:txBody>
      </p:sp>
      <p:sp>
        <p:nvSpPr>
          <p:cNvPr id="6" name="Rectangle 5"/>
          <p:cNvSpPr/>
          <p:nvPr/>
        </p:nvSpPr>
        <p:spPr>
          <a:xfrm>
            <a:off x="731520" y="1051560"/>
            <a:ext cx="5212080"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61288"/>
            <a:ext cx="4846320" cy="1335024"/>
          </a:xfrm>
          <a:prstGeom prst="rect">
            <a:avLst/>
          </a:prstGeom>
          <a:noFill/>
        </p:spPr>
        <p:txBody>
          <a:bodyPr wrap="square">
            <a:spAutoFit/>
          </a:bodyPr>
          <a:lstStyle/>
          <a:p>
            <a:pPr>
              <a:defRPr sz="1150" b="1">
                <a:solidFill>
                  <a:srgbClr val="00A859"/>
                </a:solidFill>
              </a:defRPr>
            </a:pPr>
            <a:r>
              <a:t>THƯƠNG PHẨM &amp; GIÁ TRỊ</a:t>
            </a:r>
          </a:p>
          <a:p>
            <a:pPr>
              <a:spcBef>
                <a:spcPts val="300"/>
              </a:spcBef>
              <a:defRPr b="1" sz="1050">
                <a:solidFill>
                  <a:srgbClr val="102A43"/>
                </a:solidFill>
              </a:defRPr>
            </a:pPr>
            <a:r>
              <a:t>• Cammeo (Hạt dài, giá cao) </a:t>
            </a:r>
            <a:r>
              <a:rPr b="0" sz="1000">
                <a:solidFill>
                  <a:srgbClr val="212529"/>
                </a:solidFill>
              </a:rPr>
              <a:t>Osmancik (Hạt tròn, phổ thông).</a:t>
            </a:r>
          </a:p>
          <a:p>
            <a:pPr>
              <a:spcBef>
                <a:spcPts val="300"/>
              </a:spcBef>
              <a:defRPr b="1" sz="1050">
                <a:solidFill>
                  <a:srgbClr val="102A43"/>
                </a:solidFill>
              </a:defRPr>
            </a:pPr>
            <a:r>
              <a:t>• Lẫn tạp giống: </a:t>
            </a:r>
            <a:r>
              <a:rPr b="0" sz="1000">
                <a:solidFill>
                  <a:srgbClr val="212529"/>
                </a:solidFill>
              </a:rPr>
              <a:t>Làm giảm phẩm cấp xuất khẩu, tổn hại uy tín thương hiệu.</a:t>
            </a:r>
          </a:p>
        </p:txBody>
      </p:sp>
      <p:sp>
        <p:nvSpPr>
          <p:cNvPr id="8" name="Rectangle 7"/>
          <p:cNvSpPr/>
          <p:nvPr/>
        </p:nvSpPr>
        <p:spPr>
          <a:xfrm>
            <a:off x="731520" y="2788920"/>
            <a:ext cx="5212080" cy="15544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98648"/>
            <a:ext cx="4846320" cy="1335024"/>
          </a:xfrm>
          <a:prstGeom prst="rect">
            <a:avLst/>
          </a:prstGeom>
          <a:noFill/>
        </p:spPr>
        <p:txBody>
          <a:bodyPr wrap="square">
            <a:spAutoFit/>
          </a:bodyPr>
          <a:lstStyle/>
          <a:p>
            <a:pPr>
              <a:defRPr sz="1150" b="1">
                <a:solidFill>
                  <a:srgbClr val="00A859"/>
                </a:solidFill>
              </a:defRPr>
            </a:pPr>
            <a:r>
              <a:t>HẠN CHẾ GIÁM ĐỊNH THỦ CÔNG</a:t>
            </a:r>
          </a:p>
          <a:p>
            <a:pPr>
              <a:spcBef>
                <a:spcPts val="300"/>
              </a:spcBef>
              <a:defRPr b="1" sz="1050">
                <a:solidFill>
                  <a:srgbClr val="102A43"/>
                </a:solidFill>
              </a:defRPr>
            </a:pPr>
            <a:r>
              <a:t>• Phân loại bằng mắt: </a:t>
            </a:r>
            <a:r>
              <a:rPr b="0" sz="1000">
                <a:solidFill>
                  <a:srgbClr val="212529"/>
                </a:solidFill>
              </a:rPr>
              <a:t>Chậm, mỏi mắt sau ca dài, mang tính chủ quan.</a:t>
            </a:r>
          </a:p>
          <a:p>
            <a:pPr>
              <a:spcBef>
                <a:spcPts val="300"/>
              </a:spcBef>
              <a:defRPr b="1" sz="1050">
                <a:solidFill>
                  <a:srgbClr val="102A43"/>
                </a:solidFill>
              </a:defRPr>
            </a:pPr>
            <a:r>
              <a:t>• Bất khả thi quy mô lớn: </a:t>
            </a:r>
            <a:r>
              <a:rPr b="0" sz="1000">
                <a:solidFill>
                  <a:srgbClr val="212529"/>
                </a:solidFill>
              </a:rPr>
              <a:t>Không đáp ứng được công suất hàng tấn/giờ trên băng chuyền.</a:t>
            </a:r>
          </a:p>
        </p:txBody>
      </p:sp>
      <p:sp>
        <p:nvSpPr>
          <p:cNvPr id="10" name="Rectangle 9"/>
          <p:cNvSpPr/>
          <p:nvPr/>
        </p:nvSpPr>
        <p:spPr>
          <a:xfrm>
            <a:off x="731520" y="4526280"/>
            <a:ext cx="5212080" cy="16002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636008"/>
            <a:ext cx="4846320" cy="1380744"/>
          </a:xfrm>
          <a:prstGeom prst="rect">
            <a:avLst/>
          </a:prstGeom>
          <a:noFill/>
        </p:spPr>
        <p:txBody>
          <a:bodyPr wrap="square">
            <a:spAutoFit/>
          </a:bodyPr>
          <a:lstStyle/>
          <a:p>
            <a:pPr>
              <a:defRPr sz="1150" b="1">
                <a:solidFill>
                  <a:srgbClr val="00A859"/>
                </a:solidFill>
              </a:defRPr>
            </a:pPr>
            <a:r>
              <a:t>GIẢI PHÁP THỊ GIÁC MÁY &amp; AI</a:t>
            </a:r>
          </a:p>
          <a:p>
            <a:pPr>
              <a:spcBef>
                <a:spcPts val="300"/>
              </a:spcBef>
              <a:defRPr b="1" sz="1050">
                <a:solidFill>
                  <a:srgbClr val="102A43"/>
                </a:solidFill>
              </a:defRPr>
            </a:pPr>
            <a:r>
              <a:t>• Hệ thống chụp ảnh: </a:t>
            </a:r>
            <a:r>
              <a:rPr b="0" sz="1000">
                <a:solidFill>
                  <a:srgbClr val="212529"/>
                </a:solidFill>
              </a:rPr>
              <a:t>Đo đạc tự động 7 chỉ số hình học vi mô của từng hạt gạo.</a:t>
            </a:r>
          </a:p>
          <a:p>
            <a:pPr>
              <a:spcBef>
                <a:spcPts val="300"/>
              </a:spcBef>
              <a:defRPr b="1" sz="1050">
                <a:solidFill>
                  <a:srgbClr val="102A43"/>
                </a:solidFill>
              </a:defRPr>
            </a:pPr>
            <a:r>
              <a:t>• Mô hình Máy học: </a:t>
            </a:r>
            <a:r>
              <a:rPr b="0" sz="1000">
                <a:solidFill>
                  <a:srgbClr val="212529"/>
                </a:solidFill>
              </a:rPr>
              <a:t>Phân loại tức thì (&lt; 1 ms), điều khiển van khí nén đạt độ chuẩn &gt; 90%.</a:t>
            </a:r>
          </a:p>
        </p:txBody>
      </p:sp>
      <p:pic>
        <p:nvPicPr>
          <p:cNvPr id="12" name="Picture 11" descr="01_distributions.png"/>
          <p:cNvPicPr>
            <a:picLocks noChangeAspect="1"/>
          </p:cNvPicPr>
          <p:nvPr/>
        </p:nvPicPr>
        <p:blipFill>
          <a:blip r:embed="rId2"/>
          <a:stretch>
            <a:fillRect/>
          </a:stretch>
        </p:blipFill>
        <p:spPr>
          <a:xfrm>
            <a:off x="6172200" y="1051560"/>
            <a:ext cx="5285232" cy="2616057"/>
          </a:xfrm>
          <a:prstGeom prst="rect">
            <a:avLst/>
          </a:prstGeom>
        </p:spPr>
      </p:pic>
      <p:sp>
        <p:nvSpPr>
          <p:cNvPr id="13" name="TextBox 12"/>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1: Phân bố 7 đặc trưng hình học giữa Cammeo (xanh) và Osmancik (cam)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Phát Biểu Bài Toán Phân Loại Nhị Phân Dựa Trên 7 Đặc Trưng Hình Học</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3 / 12</a:t>
            </a:r>
          </a:p>
        </p:txBody>
      </p:sp>
      <p:sp>
        <p:nvSpPr>
          <p:cNvPr id="6" name="Rectangle 5"/>
          <p:cNvSpPr/>
          <p:nvPr/>
        </p:nvSpPr>
        <p:spPr>
          <a:xfrm>
            <a:off x="731520" y="1051560"/>
            <a:ext cx="5212080" cy="150876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43000"/>
            <a:ext cx="4846320" cy="1325880"/>
          </a:xfrm>
          <a:prstGeom prst="rect">
            <a:avLst/>
          </a:prstGeom>
          <a:noFill/>
        </p:spPr>
        <p:txBody>
          <a:bodyPr wrap="square">
            <a:spAutoFit/>
          </a:bodyPr>
          <a:lstStyle/>
          <a:p>
            <a:pPr>
              <a:defRPr sz="1150" b="1">
                <a:solidFill>
                  <a:srgbClr val="00A859"/>
                </a:solidFill>
              </a:defRPr>
            </a:pPr>
            <a:r>
              <a:t>MÔ HÌNH HÓA TOÁN HỌC</a:t>
            </a:r>
          </a:p>
          <a:p>
            <a:pPr>
              <a:spcBef>
                <a:spcPts val="300"/>
              </a:spcBef>
              <a:defRPr b="1" sz="1100">
                <a:solidFill>
                  <a:srgbClr val="102A43"/>
                </a:solidFill>
              </a:defRPr>
            </a:pPr>
            <a:r>
              <a:t>• Đầu vào: Véc-tơ số thực 7 chiều:  x in R^7</a:t>
            </a:r>
          </a:p>
          <a:p>
            <a:pPr>
              <a:spcBef>
                <a:spcPts val="200"/>
              </a:spcBef>
              <a:defRPr b="1" sz="1100">
                <a:solidFill>
                  <a:srgbClr val="102A43"/>
                </a:solidFill>
              </a:defRPr>
            </a:pPr>
            <a:r>
              <a:t>• Đầu ra: Nhãn nhị phân:  y in {Cammeo, Osmancik}</a:t>
            </a:r>
          </a:p>
          <a:p>
            <a:pPr>
              <a:spcBef>
                <a:spcPts val="200"/>
              </a:spcBef>
              <a:defRPr sz="1000">
                <a:solidFill>
                  <a:srgbClr val="64748B"/>
                </a:solidFill>
              </a:defRPr>
            </a:pPr>
            <a:r>
              <a:t>• Hàm mục tiêu: Ước lượng xác suất P(y = Osmancik | x)</a:t>
            </a:r>
          </a:p>
        </p:txBody>
      </p:sp>
      <p:sp>
        <p:nvSpPr>
          <p:cNvPr id="8" name="Rectangle 7"/>
          <p:cNvSpPr/>
          <p:nvPr/>
        </p:nvSpPr>
        <p:spPr>
          <a:xfrm>
            <a:off x="731520" y="2697480"/>
            <a:ext cx="5212080" cy="16002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788920"/>
            <a:ext cx="4846320" cy="1417320"/>
          </a:xfrm>
          <a:prstGeom prst="rect">
            <a:avLst/>
          </a:prstGeom>
          <a:noFill/>
        </p:spPr>
        <p:txBody>
          <a:bodyPr wrap="square">
            <a:spAutoFit/>
          </a:bodyPr>
          <a:lstStyle/>
          <a:p>
            <a:pPr>
              <a:defRPr sz="1150" b="1">
                <a:solidFill>
                  <a:srgbClr val="00A859"/>
                </a:solidFill>
              </a:defRPr>
            </a:pPr>
            <a:r>
              <a:t>QUY MÔ DỮ LIỆU &amp; 7 ĐẶC TRƯNG HÌNH THÁI</a:t>
            </a:r>
          </a:p>
          <a:p>
            <a:pPr>
              <a:spcBef>
                <a:spcPts val="300"/>
              </a:spcBef>
              <a:defRPr sz="1000">
                <a:solidFill>
                  <a:srgbClr val="212529"/>
                </a:solidFill>
              </a:defRPr>
            </a:pPr>
            <a:r>
              <a:t>• 3.810 hạt chuẩn từ UCI: Osmancik 57,2% (2.180) | Cammeo 42,8% (1.630)</a:t>
            </a:r>
          </a:p>
          <a:p>
            <a:pPr>
              <a:spcBef>
                <a:spcPts val="300"/>
              </a:spcBef>
              <a:defRPr b="1" sz="1000">
                <a:solidFill>
                  <a:srgbClr val="102A43"/>
                </a:solidFill>
              </a:defRPr>
            </a:pPr>
            <a:r>
              <a:t>• Đầy đủ 7 đặc trưng:</a:t>
            </a:r>
          </a:p>
          <a:p>
            <a:pPr>
              <a:defRPr sz="1000">
                <a:solidFill>
                  <a:srgbClr val="212529"/>
                </a:solidFill>
              </a:defRPr>
            </a:pPr>
            <a:r>
              <a:t>  Area, Perimeter, Major_Axis_Length, Minor_Axis_Length, Eccentricity, Convex_Area, Extent.</a:t>
            </a:r>
          </a:p>
        </p:txBody>
      </p:sp>
      <p:sp>
        <p:nvSpPr>
          <p:cNvPr id="10" name="Rounded Rectangle 9"/>
          <p:cNvSpPr/>
          <p:nvPr/>
        </p:nvSpPr>
        <p:spPr>
          <a:xfrm>
            <a:off x="731520" y="4434840"/>
            <a:ext cx="2514600" cy="1691640"/>
          </a:xfrm>
          <a:prstGeom prst="round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507992"/>
            <a:ext cx="2514600" cy="1545336"/>
          </a:xfrm>
          <a:prstGeom prst="rect">
            <a:avLst/>
          </a:prstGeom>
          <a:noFill/>
        </p:spPr>
        <p:txBody>
          <a:bodyPr wrap="square" lIns="0" rIns="0" tIns="0" bIns="0">
            <a:spAutoFit/>
          </a:bodyPr>
          <a:lstStyle/>
          <a:p>
            <a:pPr algn="ctr">
              <a:defRPr sz="2200" b="1">
                <a:solidFill>
                  <a:srgbClr val="B91C1C"/>
                </a:solidFill>
              </a:defRPr>
            </a:pPr>
            <a:r>
              <a:t>57,22%</a:t>
            </a:r>
          </a:p>
          <a:p>
            <a:pPr algn="ctr">
              <a:spcBef>
                <a:spcPts val="200"/>
              </a:spcBef>
              <a:defRPr sz="1000" b="1">
                <a:solidFill>
                  <a:srgbClr val="102A43"/>
                </a:solidFill>
              </a:defRPr>
            </a:pPr>
            <a:r>
              <a:t>BASELINE TỐI THIỂU</a:t>
            </a:r>
            <a:br/>
            <a:r>
              <a:t>(Dummy: Most Frequent)</a:t>
            </a:r>
          </a:p>
        </p:txBody>
      </p:sp>
      <p:sp>
        <p:nvSpPr>
          <p:cNvPr id="12" name="Rounded Rectangle 11"/>
          <p:cNvSpPr/>
          <p:nvPr/>
        </p:nvSpPr>
        <p:spPr>
          <a:xfrm>
            <a:off x="3429000" y="4434840"/>
            <a:ext cx="2514600" cy="1691640"/>
          </a:xfrm>
          <a:prstGeom prst="roundRect">
            <a:avLst/>
          </a:prstGeom>
          <a:solidFill>
            <a:srgbClr val="F0FDF4"/>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29000" y="4507992"/>
            <a:ext cx="2514600" cy="1545336"/>
          </a:xfrm>
          <a:prstGeom prst="rect">
            <a:avLst/>
          </a:prstGeom>
          <a:noFill/>
        </p:spPr>
        <p:txBody>
          <a:bodyPr wrap="square" lIns="0" rIns="0" tIns="0" bIns="0">
            <a:spAutoFit/>
          </a:bodyPr>
          <a:lstStyle/>
          <a:p>
            <a:pPr algn="ctr">
              <a:defRPr sz="2200" b="1">
                <a:solidFill>
                  <a:srgbClr val="00A859"/>
                </a:solidFill>
              </a:defRPr>
            </a:pPr>
            <a:r>
              <a:t>&gt; 90,0%</a:t>
            </a:r>
          </a:p>
          <a:p>
            <a:pPr algn="ctr">
              <a:spcBef>
                <a:spcPts val="200"/>
              </a:spcBef>
              <a:defRPr sz="1000" b="1">
                <a:solidFill>
                  <a:srgbClr val="102A43"/>
                </a:solidFill>
              </a:defRPr>
            </a:pPr>
            <a:r>
              <a:t>MỤC TIÊU ACCURACY &amp; F1</a:t>
            </a:r>
            <a:br/>
            <a:r>
              <a:t>(Test Set độc lập)</a:t>
            </a:r>
          </a:p>
        </p:txBody>
      </p:sp>
      <p:pic>
        <p:nvPicPr>
          <p:cNvPr id="14" name="Picture 13" descr="04_scatter_major_minor.png"/>
          <p:cNvPicPr>
            <a:picLocks noChangeAspect="1"/>
          </p:cNvPicPr>
          <p:nvPr/>
        </p:nvPicPr>
        <p:blipFill>
          <a:blip r:embed="rId2"/>
          <a:stretch>
            <a:fillRect/>
          </a:stretch>
        </p:blipFill>
        <p:spPr>
          <a:xfrm>
            <a:off x="6172200" y="1051560"/>
            <a:ext cx="5285232" cy="3963924"/>
          </a:xfrm>
          <a:prstGeom prst="rect">
            <a:avLst/>
          </a:prstGeom>
        </p:spPr>
      </p:pic>
      <p:sp>
        <p:nvSpPr>
          <p:cNvPr id="15" name="TextBox 14"/>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1b: Không gian phân tách 2D giữa Major_Axis và Minor_Axis của 3.810 hạt gạo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Đa Cộng Tuyến Mạnh Và Rủi Ro Rò Rỉ Dữ Liệu Trong Huấn Luyện</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4 / 12</a:t>
            </a:r>
          </a:p>
        </p:txBody>
      </p:sp>
      <p:sp>
        <p:nvSpPr>
          <p:cNvPr id="6" name="Rectangle 5"/>
          <p:cNvSpPr/>
          <p:nvPr/>
        </p:nvSpPr>
        <p:spPr>
          <a:xfrm>
            <a:off x="731520" y="1051560"/>
            <a:ext cx="5212080" cy="16002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61288"/>
            <a:ext cx="4846320" cy="1380744"/>
          </a:xfrm>
          <a:prstGeom prst="rect">
            <a:avLst/>
          </a:prstGeom>
          <a:noFill/>
        </p:spPr>
        <p:txBody>
          <a:bodyPr wrap="square">
            <a:spAutoFit/>
          </a:bodyPr>
          <a:lstStyle/>
          <a:p>
            <a:pPr>
              <a:defRPr sz="1150" b="1">
                <a:solidFill>
                  <a:srgbClr val="00A859"/>
                </a:solidFill>
              </a:defRPr>
            </a:pPr>
            <a:r>
              <a:t>ĐA CỘNG TUYẾN CAO Ở 4 BIẾN KÍCH CỠ</a:t>
            </a:r>
          </a:p>
          <a:p>
            <a:pPr>
              <a:spcBef>
                <a:spcPts val="300"/>
              </a:spcBef>
              <a:defRPr b="1" sz="1050">
                <a:solidFill>
                  <a:srgbClr val="102A43"/>
                </a:solidFill>
              </a:defRPr>
            </a:pPr>
            <a:r>
              <a:t>• Nhóm 4 biến: </a:t>
            </a:r>
            <a:r>
              <a:rPr b="0" sz="1000">
                <a:solidFill>
                  <a:srgbClr val="212529"/>
                </a:solidFill>
              </a:rPr>
              <a:t>Area, Perimeter, Major_Axis, Convex_Area có r &gt;= 0.90.</a:t>
            </a:r>
          </a:p>
          <a:p>
            <a:pPr>
              <a:spcBef>
                <a:spcPts val="300"/>
              </a:spcBef>
              <a:defRPr b="1" sz="1050">
                <a:solidFill>
                  <a:srgbClr val="102A43"/>
                </a:solidFill>
              </a:defRPr>
            </a:pPr>
            <a:r>
              <a:t>• Nhiều cặp cực cao: </a:t>
            </a:r>
            <a:r>
              <a:rPr b="0" sz="1000">
                <a:solidFill>
                  <a:srgbClr val="212529"/>
                </a:solidFill>
              </a:rPr>
              <a:t>Area - Convex_Area (r = 1.00), Area - Perimeter (r = 0.97).</a:t>
            </a:r>
          </a:p>
          <a:p>
            <a:pPr>
              <a:spcBef>
                <a:spcPts val="300"/>
              </a:spcBef>
              <a:defRPr b="1" sz="1050">
                <a:solidFill>
                  <a:srgbClr val="102A43"/>
                </a:solidFill>
              </a:defRPr>
            </a:pPr>
            <a:r>
              <a:t>• Hạn chế tuyến tính: </a:t>
            </a:r>
            <a:r>
              <a:rPr b="0" sz="1000">
                <a:solidFill>
                  <a:srgbClr val="212529"/>
                </a:solidFill>
              </a:rPr>
              <a:t>Ma trận hiệp phương sai suy biến, trọng số hồi quy bị méo mó.</a:t>
            </a:r>
          </a:p>
        </p:txBody>
      </p:sp>
      <p:sp>
        <p:nvSpPr>
          <p:cNvPr id="8" name="Rectangle 7"/>
          <p:cNvSpPr/>
          <p:nvPr/>
        </p:nvSpPr>
        <p:spPr>
          <a:xfrm>
            <a:off x="731520" y="2788920"/>
            <a:ext cx="5212080" cy="16002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98648"/>
            <a:ext cx="4846320" cy="1380744"/>
          </a:xfrm>
          <a:prstGeom prst="rect">
            <a:avLst/>
          </a:prstGeom>
          <a:noFill/>
        </p:spPr>
        <p:txBody>
          <a:bodyPr wrap="square">
            <a:spAutoFit/>
          </a:bodyPr>
          <a:lstStyle/>
          <a:p>
            <a:pPr>
              <a:defRPr sz="1150" b="1">
                <a:solidFill>
                  <a:srgbClr val="B91C1C"/>
                </a:solidFill>
              </a:defRPr>
            </a:pPr>
            <a:r>
              <a:t>RỦI RO RÒ RỈ DỮ LIỆU (DATA LEAKAGE)</a:t>
            </a:r>
          </a:p>
          <a:p>
            <a:pPr>
              <a:spcBef>
                <a:spcPts val="300"/>
              </a:spcBef>
              <a:defRPr b="1" sz="1050">
                <a:solidFill>
                  <a:srgbClr val="102A43"/>
                </a:solidFill>
              </a:defRPr>
            </a:pPr>
            <a:r>
              <a:t>• Rủi ro tính toán sớm: </a:t>
            </a:r>
            <a:r>
              <a:rPr b="0" sz="1000">
                <a:solidFill>
                  <a:srgbClr val="212529"/>
                </a:solidFill>
              </a:rPr>
              <a:t>Nếu tính min, max, mean hoặc chuẩn hóa trước khi chia tập...</a:t>
            </a:r>
          </a:p>
          <a:p>
            <a:pPr>
              <a:spcBef>
                <a:spcPts val="300"/>
              </a:spcBef>
              <a:defRPr b="1" sz="1050">
                <a:solidFill>
                  <a:srgbClr val="102A43"/>
                </a:solidFill>
              </a:defRPr>
            </a:pPr>
            <a:r>
              <a:t>• Hậu quả nghiêm trọng: </a:t>
            </a:r>
            <a:r>
              <a:rPr b="0" sz="1000">
                <a:solidFill>
                  <a:srgbClr val="212529"/>
                </a:solidFill>
              </a:rPr>
              <a:t>Thông tin tập Test sẽ ngấm vào Train, gây hiện tượng học vẹt.</a:t>
            </a:r>
          </a:p>
          <a:p>
            <a:pPr>
              <a:spcBef>
                <a:spcPts val="300"/>
              </a:spcBef>
              <a:defRPr b="1" sz="1050">
                <a:solidFill>
                  <a:srgbClr val="102A43"/>
                </a:solidFill>
              </a:defRPr>
            </a:pPr>
            <a:r>
              <a:t>• Độ chính xác ảo: </a:t>
            </a:r>
            <a:r>
              <a:rPr b="0" sz="1000">
                <a:solidFill>
                  <a:srgbClr val="212529"/>
                </a:solidFill>
              </a:rPr>
              <a:t>Điểm số trên thực nghiệm rất cao nhưng thất bại hoàn toàn trên thực tế.</a:t>
            </a:r>
          </a:p>
        </p:txBody>
      </p:sp>
      <p:sp>
        <p:nvSpPr>
          <p:cNvPr id="10" name="Rectangle 9"/>
          <p:cNvSpPr/>
          <p:nvPr/>
        </p:nvSpPr>
        <p:spPr>
          <a:xfrm>
            <a:off x="731520" y="4526280"/>
            <a:ext cx="5212080" cy="160020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636008"/>
            <a:ext cx="4846320" cy="1380744"/>
          </a:xfrm>
          <a:prstGeom prst="rect">
            <a:avLst/>
          </a:prstGeom>
          <a:noFill/>
        </p:spPr>
        <p:txBody>
          <a:bodyPr wrap="square">
            <a:spAutoFit/>
          </a:bodyPr>
          <a:lstStyle/>
          <a:p>
            <a:pPr>
              <a:defRPr sz="1150" b="1">
                <a:solidFill>
                  <a:srgbClr val="00A859"/>
                </a:solidFill>
              </a:defRPr>
            </a:pPr>
            <a:r>
              <a:t>THÁCH THỨC CÂY TỰ DO &amp; CÂU HỎI NGHIÊN CỨU</a:t>
            </a:r>
          </a:p>
          <a:p>
            <a:pPr>
              <a:spcBef>
                <a:spcPts val="300"/>
              </a:spcBef>
              <a:defRPr b="1" sz="1050">
                <a:solidFill>
                  <a:srgbClr val="102A43"/>
                </a:solidFill>
              </a:defRPr>
            </a:pPr>
            <a:r>
              <a:t>• Cây tự do (CART): </a:t>
            </a:r>
            <a:r>
              <a:rPr b="0" sz="1000">
                <a:solidFill>
                  <a:srgbClr val="212529"/>
                </a:solidFill>
              </a:rPr>
              <a:t>Miễn nhiễm đa cộng tuyến nhưng rất dễ chia nhánh sâu, Overfitting nặng.</a:t>
            </a:r>
          </a:p>
          <a:p>
            <a:pPr>
              <a:spcBef>
                <a:spcPts val="300"/>
              </a:spcBef>
              <a:defRPr b="1" sz="1050">
                <a:solidFill>
                  <a:srgbClr val="102A43"/>
                </a:solidFill>
              </a:defRPr>
            </a:pPr>
            <a:r>
              <a:t>• Câu hỏi nghiên cứu: </a:t>
            </a:r>
            <a:r>
              <a:rPr b="0" sz="1000">
                <a:solidFill>
                  <a:srgbClr val="212529"/>
                </a:solidFill>
              </a:rPr>
              <a:t>Cắt tỉa ccp_alpha có tạo ra cây tối giản đủ tốt để giải bài toán minh bạch?</a:t>
            </a:r>
          </a:p>
        </p:txBody>
      </p:sp>
      <p:pic>
        <p:nvPicPr>
          <p:cNvPr id="12" name="Picture 11" descr="03_correlation_matrix.png"/>
          <p:cNvPicPr>
            <a:picLocks noChangeAspect="1"/>
          </p:cNvPicPr>
          <p:nvPr/>
        </p:nvPicPr>
        <p:blipFill>
          <a:blip r:embed="rId2"/>
          <a:stretch>
            <a:fillRect/>
          </a:stretch>
        </p:blipFill>
        <p:spPr>
          <a:xfrm>
            <a:off x="6172200" y="1051560"/>
            <a:ext cx="5285232" cy="4228186"/>
          </a:xfrm>
          <a:prstGeom prst="rect">
            <a:avLst/>
          </a:prstGeom>
        </p:spPr>
      </p:pic>
      <p:sp>
        <p:nvSpPr>
          <p:cNvPr id="13" name="TextBox 12"/>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2: Ma trận tương quan Pearson khẳng định hiện tượng đa cộng tuyến (r &gt;= 0.90, nhiều cặp r &gt;= 0.97)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Thiết Lập Quy Trình Stratified 60/20/20 Và Cột Mốc Dummy Baseline</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5 / 12</a:t>
            </a:r>
          </a:p>
        </p:txBody>
      </p:sp>
      <p:sp>
        <p:nvSpPr>
          <p:cNvPr id="6" name="Rectangle 5"/>
          <p:cNvSpPr/>
          <p:nvPr/>
        </p:nvSpPr>
        <p:spPr>
          <a:xfrm>
            <a:off x="731520" y="1051560"/>
            <a:ext cx="3328416" cy="5074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2962656" cy="4800600"/>
          </a:xfrm>
          <a:prstGeom prst="rect">
            <a:avLst/>
          </a:prstGeom>
          <a:noFill/>
        </p:spPr>
        <p:txBody>
          <a:bodyPr wrap="square">
            <a:spAutoFit/>
          </a:bodyPr>
          <a:lstStyle/>
          <a:p>
            <a:pPr>
              <a:defRPr sz="1200" b="1">
                <a:solidFill>
                  <a:srgbClr val="00A859"/>
                </a:solidFill>
              </a:defRPr>
            </a:pPr>
            <a:r>
              <a:t>1. PHÂN CHIA STRATIFIED</a:t>
            </a:r>
          </a:p>
          <a:p>
            <a:pPr>
              <a:spcBef>
                <a:spcPts val="800"/>
              </a:spcBef>
              <a:defRPr b="1" sz="1100">
                <a:solidFill>
                  <a:srgbClr val="00A859"/>
                </a:solidFill>
              </a:defRPr>
            </a:pPr>
            <a:r>
              <a:t>• TẬP TRAIN (60%): 2.286 mẫu hạt</a:t>
            </a:r>
          </a:p>
          <a:p>
            <a:pPr>
              <a:spcBef>
                <a:spcPts val="200"/>
              </a:spcBef>
              <a:defRPr sz="1000">
                <a:solidFill>
                  <a:srgbClr val="212529"/>
                </a:solidFill>
              </a:defRPr>
            </a:pPr>
            <a:r>
              <a:t>  Học cây, lập bảng ccp_alpha, 5-Fold Cross Validation.</a:t>
            </a:r>
          </a:p>
          <a:p>
            <a:pPr>
              <a:spcBef>
                <a:spcPts val="800"/>
              </a:spcBef>
              <a:defRPr b="1" sz="1100">
                <a:solidFill>
                  <a:srgbClr val="102A43"/>
                </a:solidFill>
              </a:defRPr>
            </a:pPr>
            <a:r>
              <a:t>• TẬP VALIDATION (20%): 762 mẫu hạt</a:t>
            </a:r>
          </a:p>
          <a:p>
            <a:pPr>
              <a:spcBef>
                <a:spcPts val="200"/>
              </a:spcBef>
              <a:defRPr sz="1000">
                <a:solidFill>
                  <a:srgbClr val="212529"/>
                </a:solidFill>
              </a:defRPr>
            </a:pPr>
            <a:r>
              <a:t>  Dò tìm siêu tham số tối ưu, so sánh đối chứng mô hình.</a:t>
            </a:r>
          </a:p>
          <a:p>
            <a:pPr>
              <a:spcBef>
                <a:spcPts val="800"/>
              </a:spcBef>
              <a:defRPr b="1" sz="1100">
                <a:solidFill>
                  <a:srgbClr val="B91C1C"/>
                </a:solidFill>
              </a:defRPr>
            </a:pPr>
            <a:r>
              <a:t>• TẬP TEST (20%): 762 mẫu hạt</a:t>
            </a:r>
          </a:p>
          <a:p>
            <a:pPr>
              <a:spcBef>
                <a:spcPts val="200"/>
              </a:spcBef>
              <a:defRPr sz="1000">
                <a:solidFill>
                  <a:srgbClr val="212529"/>
                </a:solidFill>
              </a:defRPr>
            </a:pPr>
            <a:r>
              <a:t>  Niêm phong tuyệt đối, chỉ nạp 1 lần duy nhất nghiệm thu.</a:t>
            </a:r>
          </a:p>
          <a:p>
            <a:pPr>
              <a:spcBef>
                <a:spcPts val="1200"/>
              </a:spcBef>
              <a:defRPr b="1" sz="1000">
                <a:solidFill>
                  <a:srgbClr val="00A859"/>
                </a:solidFill>
              </a:defRPr>
            </a:pPr>
            <a:r>
              <a:t>✓ Nguyên tắc chống Leakage: Mọi ngưỡng chuẩn hóa và min-max chỉ tính từ tập Train!</a:t>
            </a:r>
          </a:p>
        </p:txBody>
      </p:sp>
      <p:sp>
        <p:nvSpPr>
          <p:cNvPr id="8" name="Rectangle 7"/>
          <p:cNvSpPr/>
          <p:nvPr/>
        </p:nvSpPr>
        <p:spPr>
          <a:xfrm>
            <a:off x="4425696" y="1051560"/>
            <a:ext cx="3328416" cy="5074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8576" y="1188720"/>
            <a:ext cx="2962656" cy="4800600"/>
          </a:xfrm>
          <a:prstGeom prst="rect">
            <a:avLst/>
          </a:prstGeom>
          <a:noFill/>
        </p:spPr>
        <p:txBody>
          <a:bodyPr wrap="square">
            <a:spAutoFit/>
          </a:bodyPr>
          <a:lstStyle/>
          <a:p>
            <a:pPr>
              <a:defRPr sz="1200" b="1">
                <a:solidFill>
                  <a:srgbClr val="00A859"/>
                </a:solidFill>
              </a:defRPr>
            </a:pPr>
            <a:r>
              <a:t>2. CỘT MỐC DUMMY BASELINE</a:t>
            </a:r>
          </a:p>
          <a:p>
            <a:pPr>
              <a:spcBef>
                <a:spcPts val="600"/>
              </a:spcBef>
              <a:defRPr sz="1000">
                <a:solidFill>
                  <a:srgbClr val="212529"/>
                </a:solidFill>
              </a:defRPr>
            </a:pPr>
            <a:r>
              <a:t>• Nguyên tắc: Không bao giờ đánh giá mô hình trong sự cô lập thiếu điểm tựa đối chứng.</a:t>
            </a:r>
          </a:p>
          <a:p>
            <a:pPr>
              <a:spcBef>
                <a:spcPts val="400"/>
              </a:spcBef>
              <a:defRPr sz="1000">
                <a:solidFill>
                  <a:srgbClr val="212529"/>
                </a:solidFill>
              </a:defRPr>
            </a:pPr>
            <a:r>
              <a:t>• Chiến lược: DummyClassifier(strategy='most_frequent') luôn luôn dự đoán nhãn Osmancik.</a:t>
            </a:r>
          </a:p>
          <a:p>
            <a:pPr>
              <a:spcBef>
                <a:spcPts val="8000"/>
              </a:spcBef>
              <a:defRPr b="1" sz="1050">
                <a:solidFill>
                  <a:srgbClr val="102A43"/>
                </a:solidFill>
              </a:defRPr>
            </a:pPr>
            <a:r>
              <a:t>• F1-Score (Cammeo) = 0,0000 | ROC-AUC = 0.5000</a:t>
            </a:r>
          </a:p>
          <a:p>
            <a:pPr>
              <a:spcBef>
                <a:spcPts val="600"/>
              </a:spcBef>
              <a:defRPr b="1" sz="1000">
                <a:solidFill>
                  <a:srgbClr val="00A859"/>
                </a:solidFill>
              </a:defRPr>
            </a:pPr>
            <a:r>
              <a:t>✓ Thước đo thành công: Mô hình đề xuất bắt buộc phải vượt xa mốc 57,22%!</a:t>
            </a:r>
          </a:p>
        </p:txBody>
      </p:sp>
      <p:sp>
        <p:nvSpPr>
          <p:cNvPr id="10" name="Rounded Rectangle 9"/>
          <p:cNvSpPr/>
          <p:nvPr/>
        </p:nvSpPr>
        <p:spPr>
          <a:xfrm>
            <a:off x="4608576" y="2926080"/>
            <a:ext cx="2962656" cy="1463040"/>
          </a:xfrm>
          <a:prstGeom prst="round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2999232"/>
            <a:ext cx="2962656" cy="1316736"/>
          </a:xfrm>
          <a:prstGeom prst="rect">
            <a:avLst/>
          </a:prstGeom>
          <a:noFill/>
        </p:spPr>
        <p:txBody>
          <a:bodyPr wrap="square" lIns="0" rIns="0" tIns="0" bIns="0">
            <a:spAutoFit/>
          </a:bodyPr>
          <a:lstStyle/>
          <a:p>
            <a:pPr algn="ctr">
              <a:defRPr sz="2200" b="1">
                <a:solidFill>
                  <a:srgbClr val="B91C1C"/>
                </a:solidFill>
              </a:defRPr>
            </a:pPr>
            <a:r>
              <a:t>57,22%</a:t>
            </a:r>
          </a:p>
          <a:p>
            <a:pPr algn="ctr">
              <a:spcBef>
                <a:spcPts val="200"/>
              </a:spcBef>
              <a:defRPr sz="1000" b="1">
                <a:solidFill>
                  <a:srgbClr val="102A43"/>
                </a:solidFill>
              </a:defRPr>
            </a:pPr>
            <a:r>
              <a:t>BASELINE ACCURACY</a:t>
            </a:r>
            <a:br/>
            <a:r>
              <a:t>(Lớp đa số Osmancik)</a:t>
            </a:r>
          </a:p>
        </p:txBody>
      </p:sp>
      <p:sp>
        <p:nvSpPr>
          <p:cNvPr id="12" name="Rectangle 11"/>
          <p:cNvSpPr/>
          <p:nvPr/>
        </p:nvSpPr>
        <p:spPr>
          <a:xfrm>
            <a:off x="8119872" y="1051560"/>
            <a:ext cx="3328416" cy="50749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02752" y="1188720"/>
            <a:ext cx="2962656" cy="4800600"/>
          </a:xfrm>
          <a:prstGeom prst="rect">
            <a:avLst/>
          </a:prstGeom>
          <a:noFill/>
        </p:spPr>
        <p:txBody>
          <a:bodyPr wrap="square">
            <a:spAutoFit/>
          </a:bodyPr>
          <a:lstStyle/>
          <a:p>
            <a:pPr>
              <a:defRPr sz="1200" b="1">
                <a:solidFill>
                  <a:srgbClr val="00A859"/>
                </a:solidFill>
              </a:defRPr>
            </a:pPr>
            <a:r>
              <a:t>3. QUY TRÌNH 4 THÍ NGHIỆM</a:t>
            </a:r>
          </a:p>
          <a:p>
            <a:pPr>
              <a:spcBef>
                <a:spcPts val="600"/>
              </a:spcBef>
              <a:defRPr b="1" sz="1050">
                <a:solidFill>
                  <a:srgbClr val="102A43"/>
                </a:solidFill>
              </a:defRPr>
            </a:pPr>
            <a:r>
              <a:t>• TN1: Khảo sát max_depth</a:t>
            </a:r>
          </a:p>
          <a:p>
            <a:pPr>
              <a:spcBef>
                <a:spcPts val="200"/>
              </a:spcBef>
              <a:defRPr sz="950">
                <a:solidFill>
                  <a:srgbClr val="212529"/>
                </a:solidFill>
              </a:defRPr>
            </a:pPr>
            <a:r>
              <a:t>  Quét depth 1 đến 20 chứng minh hiện tượng Overfitting của cây tự do.</a:t>
            </a:r>
          </a:p>
          <a:p>
            <a:pPr>
              <a:spcBef>
                <a:spcPts val="600"/>
              </a:spcBef>
              <a:defRPr b="1" sz="1050">
                <a:solidFill>
                  <a:srgbClr val="102A43"/>
                </a:solidFill>
              </a:defRPr>
            </a:pPr>
            <a:r>
              <a:t>• TN2: Cắt tỉa ccp_alpha</a:t>
            </a:r>
          </a:p>
          <a:p>
            <a:pPr>
              <a:spcBef>
                <a:spcPts val="200"/>
              </a:spcBef>
              <a:defRPr sz="950">
                <a:solidFill>
                  <a:srgbClr val="212529"/>
                </a:solidFill>
              </a:defRPr>
            </a:pPr>
            <a:r>
              <a:t>  Rút gọn cấu trúc cây qua 5-Fold Cross Validation trên tập Train.</a:t>
            </a:r>
          </a:p>
          <a:p>
            <a:pPr>
              <a:spcBef>
                <a:spcPts val="600"/>
              </a:spcBef>
              <a:defRPr b="1" sz="1050">
                <a:solidFill>
                  <a:srgbClr val="102A43"/>
                </a:solidFill>
              </a:defRPr>
            </a:pPr>
            <a:r>
              <a:t>• TN3: Cây đơn vs Rừng</a:t>
            </a:r>
          </a:p>
          <a:p>
            <a:pPr>
              <a:spcBef>
                <a:spcPts val="200"/>
              </a:spcBef>
              <a:defRPr sz="950">
                <a:solidFill>
                  <a:srgbClr val="212529"/>
                </a:solidFill>
              </a:defRPr>
            </a:pPr>
            <a:r>
              <a:t>  Đối chiếu toàn diện hiệu năng, ROC-AUC và độ minh bạch giải thích.</a:t>
            </a:r>
          </a:p>
          <a:p>
            <a:pPr>
              <a:spcBef>
                <a:spcPts val="600"/>
              </a:spcBef>
              <a:defRPr b="1" sz="1050">
                <a:solidFill>
                  <a:srgbClr val="102A43"/>
                </a:solidFill>
              </a:defRPr>
            </a:pPr>
            <a:r>
              <a:t>• TN4: Nghiệm thu &amp; Lỗi</a:t>
            </a:r>
          </a:p>
          <a:p>
            <a:pPr>
              <a:spcBef>
                <a:spcPts val="200"/>
              </a:spcBef>
              <a:defRPr sz="950">
                <a:solidFill>
                  <a:srgbClr val="212529"/>
                </a:solidFill>
              </a:defRPr>
            </a:pPr>
            <a:r>
              <a:t>  Kiểm thử Test Set 1 lần (91,60%) và mổ xẻ 50 ca lỗi trên tập Val.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Cây Quyết Định CART Bị Quá Khớp Nghiêm Trọng Khi Tăng Độ Sâu</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6 / 12</a:t>
            </a:r>
          </a:p>
        </p:txBody>
      </p:sp>
      <p:sp>
        <p:nvSpPr>
          <p:cNvPr id="6" name="Rounded Rectangle 5"/>
          <p:cNvSpPr/>
          <p:nvPr/>
        </p:nvSpPr>
        <p:spPr>
          <a:xfrm>
            <a:off x="731520" y="1051560"/>
            <a:ext cx="5212080" cy="1508760"/>
          </a:xfrm>
          <a:prstGeom prst="roundRect">
            <a:avLst/>
          </a:prstGeom>
          <a:solidFill>
            <a:srgbClr val="FEF2F2"/>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24712"/>
            <a:ext cx="5212080" cy="1362456"/>
          </a:xfrm>
          <a:prstGeom prst="rect">
            <a:avLst/>
          </a:prstGeom>
          <a:noFill/>
        </p:spPr>
        <p:txBody>
          <a:bodyPr wrap="square" lIns="0" rIns="0" tIns="0" bIns="0">
            <a:spAutoFit/>
          </a:bodyPr>
          <a:lstStyle/>
          <a:p>
            <a:pPr algn="ctr">
              <a:defRPr sz="2200" b="1">
                <a:solidFill>
                  <a:srgbClr val="B91C1C"/>
                </a:solidFill>
              </a:defRPr>
            </a:pPr>
            <a:r>
              <a:t>100,0% TRAIN ACCURACY</a:t>
            </a:r>
          </a:p>
          <a:p>
            <a:pPr algn="ctr">
              <a:spcBef>
                <a:spcPts val="200"/>
              </a:spcBef>
              <a:defRPr sz="1000" b="1">
                <a:solidFill>
                  <a:srgbClr val="102A43"/>
                </a:solidFill>
              </a:defRPr>
            </a:pPr>
            <a:r>
              <a:t>BÙNG NỔ HỌC VẸT KHI MAX_DEPTH &gt;= 16</a:t>
            </a:r>
            <a:br/>
            <a:r>
              <a:t>Cây tự do ghi nhớ toàn bộ từng mẫu nhiễu và ngoại lai (High Variance)</a:t>
            </a:r>
          </a:p>
        </p:txBody>
      </p:sp>
      <p:sp>
        <p:nvSpPr>
          <p:cNvPr id="8" name="Rounded Rectangle 7"/>
          <p:cNvSpPr/>
          <p:nvPr/>
        </p:nvSpPr>
        <p:spPr>
          <a:xfrm>
            <a:off x="731520" y="2697480"/>
            <a:ext cx="5212080" cy="1691640"/>
          </a:xfrm>
          <a:prstGeom prst="roundRect">
            <a:avLst/>
          </a:prstGeom>
          <a:solidFill>
            <a:srgbClr val="FEF3C7"/>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770632"/>
            <a:ext cx="5212080" cy="1545336"/>
          </a:xfrm>
          <a:prstGeom prst="rect">
            <a:avLst/>
          </a:prstGeom>
          <a:noFill/>
        </p:spPr>
        <p:txBody>
          <a:bodyPr wrap="square" lIns="0" rIns="0" tIns="0" bIns="0">
            <a:spAutoFit/>
          </a:bodyPr>
          <a:lstStyle/>
          <a:p>
            <a:pPr algn="ctr">
              <a:defRPr sz="2200" b="1">
                <a:solidFill>
                  <a:srgbClr val="102A43"/>
                </a:solidFill>
              </a:defRPr>
            </a:pPr>
            <a:r>
              <a:t>93,70% → 89,10% VAL ACC</a:t>
            </a:r>
          </a:p>
          <a:p>
            <a:pPr algn="ctr">
              <a:spcBef>
                <a:spcPts val="200"/>
              </a:spcBef>
              <a:defRPr sz="1000" b="1">
                <a:solidFill>
                  <a:srgbClr val="102A43"/>
                </a:solidFill>
              </a:defRPr>
            </a:pPr>
            <a:r>
              <a:t>SUY THOÁI HIỆU NĂNG TRÊN TẬP VALIDATION</a:t>
            </a:r>
            <a:br/>
            <a:r>
              <a:t>Đạt đỉnh 93,70% ở depth=1, 2; giảm xuống đáy 89,10% ở depth=17 và ~89,90% ở depth=20</a:t>
            </a:r>
          </a:p>
        </p:txBody>
      </p:sp>
      <p:sp>
        <p:nvSpPr>
          <p:cNvPr id="10" name="Rounded Rectangle 9"/>
          <p:cNvSpPr/>
          <p:nvPr/>
        </p:nvSpPr>
        <p:spPr>
          <a:xfrm>
            <a:off x="731520" y="4526280"/>
            <a:ext cx="5212080" cy="1600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599432"/>
            <a:ext cx="5212080" cy="1453896"/>
          </a:xfrm>
          <a:prstGeom prst="rect">
            <a:avLst/>
          </a:prstGeom>
          <a:noFill/>
        </p:spPr>
        <p:txBody>
          <a:bodyPr wrap="square" lIns="0" rIns="0" tIns="0" bIns="0">
            <a:spAutoFit/>
          </a:bodyPr>
          <a:lstStyle/>
          <a:p>
            <a:pPr algn="ctr">
              <a:defRPr sz="2200" b="1">
                <a:solidFill>
                  <a:srgbClr val="00A859"/>
                </a:solidFill>
              </a:defRPr>
            </a:pPr>
            <a:r>
              <a:t>GAP = 10,90% (PHƯƠNG SAI CAO)</a:t>
            </a:r>
          </a:p>
          <a:p>
            <a:pPr algn="ctr">
              <a:spcBef>
                <a:spcPts val="200"/>
              </a:spcBef>
              <a:defRPr sz="1000" b="1">
                <a:solidFill>
                  <a:srgbClr val="102A43"/>
                </a:solidFill>
              </a:defRPr>
            </a:pPr>
            <a:r>
              <a:t>KẾT LUẬN THÍ NGHIỆM 1:</a:t>
            </a:r>
            <a:br/>
            <a:r>
              <a:t>Cây quyết định tự do không có cơ chế tự dừng; bắt buộc phải cắt tỉa để tổng quát hóa!</a:t>
            </a:r>
          </a:p>
        </p:txBody>
      </p:sp>
      <p:pic>
        <p:nvPicPr>
          <p:cNvPr id="12" name="Picture 11" descr="05_depth_curve.png"/>
          <p:cNvPicPr>
            <a:picLocks noChangeAspect="1"/>
          </p:cNvPicPr>
          <p:nvPr/>
        </p:nvPicPr>
        <p:blipFill>
          <a:blip r:embed="rId2"/>
          <a:stretch>
            <a:fillRect/>
          </a:stretch>
        </p:blipFill>
        <p:spPr>
          <a:xfrm>
            <a:off x="6172200" y="1051560"/>
            <a:ext cx="5285232" cy="3171139"/>
          </a:xfrm>
          <a:prstGeom prst="rect">
            <a:avLst/>
          </a:prstGeom>
        </p:spPr>
      </p:pic>
      <p:sp>
        <p:nvSpPr>
          <p:cNvPr id="13" name="TextBox 12"/>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3: Đường cong hiệu năng: Val đạt đỉnh 93,70% (depth 1, 2) rồi giảm xuống 89,10% (depth 17) và ~89,90% (depth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Cắt Tỉa ccp_alpha Giảm Hơn 97% Kích Thước Nhưng Giữ Vững Hiệu Năng</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7 / 12</a:t>
            </a:r>
          </a:p>
        </p:txBody>
      </p:sp>
      <p:sp>
        <p:nvSpPr>
          <p:cNvPr id="6" name="Rectangle 5"/>
          <p:cNvSpPr/>
          <p:nvPr/>
        </p:nvSpPr>
        <p:spPr>
          <a:xfrm>
            <a:off x="731520" y="1051560"/>
            <a:ext cx="5212080" cy="2011680"/>
          </a:xfrm>
          <a:prstGeom prst="rect">
            <a:avLst/>
          </a:prstGeom>
          <a:solidFill>
            <a:srgbClr val="F0FDF4"/>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43000"/>
            <a:ext cx="4846320" cy="1828800"/>
          </a:xfrm>
          <a:prstGeom prst="rect">
            <a:avLst/>
          </a:prstGeom>
          <a:noFill/>
        </p:spPr>
        <p:txBody>
          <a:bodyPr wrap="square">
            <a:spAutoFit/>
          </a:bodyPr>
          <a:lstStyle/>
          <a:p>
            <a:pPr>
              <a:defRPr sz="1200" b="1">
                <a:solidFill>
                  <a:srgbClr val="00A859"/>
                </a:solidFill>
              </a:defRPr>
            </a:pPr>
            <a:r>
              <a:t>KẾT QUẢ ĐỘT PHÁ CỦA CẮT TỈA CCP_ALPHA</a:t>
            </a:r>
          </a:p>
          <a:p>
            <a:pPr>
              <a:spcBef>
                <a:spcPts val="400"/>
              </a:spcBef>
              <a:defRPr b="1" sz="1100">
                <a:solidFill>
                  <a:srgbClr val="102A43"/>
                </a:solidFill>
              </a:defRPr>
            </a:pPr>
            <a:r>
              <a:t>• Rút gọn hơn 97% kích thước: </a:t>
            </a:r>
            <a:r>
              <a:rPr b="0" sz="1050">
                <a:solidFill>
                  <a:srgbClr val="212529"/>
                </a:solidFill>
              </a:rPr>
              <a:t>Từ 187 nút lá cồng kềnh xuống đúng 3 nút lá tinh gọn (tổng 5 nút).</a:t>
            </a:r>
          </a:p>
          <a:p>
            <a:pPr>
              <a:spcBef>
                <a:spcPts val="400"/>
              </a:spcBef>
              <a:defRPr b="1" sz="1100">
                <a:solidFill>
                  <a:srgbClr val="102A43"/>
                </a:solidFill>
              </a:defRPr>
            </a:pPr>
            <a:r>
              <a:t>• Bảo toàn hiệu năng Validation: </a:t>
            </a:r>
            <a:r>
              <a:rPr b="0" sz="1050">
                <a:solidFill>
                  <a:srgbClr val="212529"/>
                </a:solidFill>
              </a:rPr>
              <a:t>Accuracy vẫn đạt 93,70% và F1-Score đạt 92,77%.</a:t>
            </a:r>
          </a:p>
          <a:p>
            <a:pPr>
              <a:spcBef>
                <a:spcPts val="400"/>
              </a:spcBef>
              <a:defRPr b="1" sz="1100">
                <a:solidFill>
                  <a:srgbClr val="102A43"/>
                </a:solidFill>
              </a:defRPr>
            </a:pPr>
            <a:r>
              <a:t>• Tối ưu bằng 5-Fold CV: </a:t>
            </a:r>
            <a:r>
              <a:rPr b="0" sz="1050">
                <a:solidFill>
                  <a:srgbClr val="212529"/>
                </a:solidFill>
              </a:rPr>
              <a:t>Xác định alpha* = 0.008024 với CV Accuracy = 92,48% ± 1,59%.</a:t>
            </a:r>
          </a:p>
        </p:txBody>
      </p:sp>
      <p:sp>
        <p:nvSpPr>
          <p:cNvPr id="8" name="Rectangle 7"/>
          <p:cNvSpPr/>
          <p:nvPr/>
        </p:nvSpPr>
        <p:spPr>
          <a:xfrm>
            <a:off x="731520" y="3200400"/>
            <a:ext cx="5212080" cy="29260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291840"/>
            <a:ext cx="4846320" cy="2743200"/>
          </a:xfrm>
          <a:prstGeom prst="rect">
            <a:avLst/>
          </a:prstGeom>
          <a:noFill/>
        </p:spPr>
        <p:txBody>
          <a:bodyPr wrap="square">
            <a:spAutoFit/>
          </a:bodyPr>
          <a:lstStyle/>
          <a:p>
            <a:pPr>
              <a:defRPr sz="1150" b="1">
                <a:solidFill>
                  <a:srgbClr val="00A859"/>
                </a:solidFill>
              </a:defRPr>
            </a:pPr>
            <a:r>
              <a:t>SƠ ĐỒ QUY TẮC QUYẾT ĐỊNH (CHỈ DÙNG 2 ĐẶC TRƯNG)</a:t>
            </a:r>
          </a:p>
          <a:p>
            <a:pPr>
              <a:spcBef>
                <a:spcPts val="500"/>
              </a:spcBef>
              <a:defRPr b="1" sz="1050">
                <a:solidFill>
                  <a:srgbClr val="102A43"/>
                </a:solidFill>
              </a:defRPr>
            </a:pPr>
            <a:r>
              <a:t>Luật 1 (Lá 1): </a:t>
            </a:r>
            <a:r>
              <a:rPr b="0" sz="1000">
                <a:solidFill>
                  <a:srgbClr val="212529"/>
                </a:solidFill>
              </a:rPr>
              <a:t>Nếu Major_Axis_Length &lt;= 191.05 px  --&gt;  Dự đoán: OSMANCIK</a:t>
            </a:r>
          </a:p>
          <a:p>
            <a:pPr>
              <a:spcBef>
                <a:spcPts val="500"/>
              </a:spcBef>
              <a:defRPr b="1" sz="1050">
                <a:solidFill>
                  <a:srgbClr val="102A43"/>
                </a:solidFill>
              </a:defRPr>
            </a:pPr>
            <a:r>
              <a:t>Luật 2 (Lá 2): </a:t>
            </a:r>
            <a:r>
              <a:rPr b="0" sz="1000">
                <a:solidFill>
                  <a:srgbClr val="212529"/>
                </a:solidFill>
              </a:rPr>
              <a:t>Nếu Major_Axis_Length &gt; 191.05 px VÀ Perimeter &lt;= 467.86 px  --&gt;  CAMMEO</a:t>
            </a:r>
          </a:p>
          <a:p>
            <a:pPr>
              <a:spcBef>
                <a:spcPts val="500"/>
              </a:spcBef>
              <a:defRPr b="1" sz="1050">
                <a:solidFill>
                  <a:srgbClr val="102A43"/>
                </a:solidFill>
              </a:defRPr>
            </a:pPr>
            <a:r>
              <a:t>Luật 3 (Lá 3): </a:t>
            </a:r>
            <a:r>
              <a:rPr b="0" sz="1000">
                <a:solidFill>
                  <a:srgbClr val="212529"/>
                </a:solidFill>
              </a:rPr>
              <a:t>Nếu Major_Axis_Length &gt; 191.05 px VÀ Perimeter &gt; 467.86 px  --&gt;  CAMMEO</a:t>
            </a:r>
          </a:p>
          <a:p>
            <a:pPr>
              <a:spcBef>
                <a:spcPts val="800"/>
              </a:spcBef>
              <a:defRPr b="1" sz="950">
                <a:solidFill>
                  <a:srgbClr val="00A859"/>
                </a:solidFill>
              </a:defRPr>
            </a:pPr>
            <a:r>
              <a:t>✓ 100% Minh bạch giải thích: Chỉ dùng Major_Axis_Length và Perimeter (Hoàn toàn không có Eccentricity). Người vận hành có thể nhớ và kiểm toán luật trong 5 giây!</a:t>
            </a:r>
          </a:p>
        </p:txBody>
      </p:sp>
      <p:pic>
        <p:nvPicPr>
          <p:cNvPr id="10" name="Picture 9" descr="07_decision_tree.png"/>
          <p:cNvPicPr>
            <a:picLocks noChangeAspect="1"/>
          </p:cNvPicPr>
          <p:nvPr/>
        </p:nvPicPr>
        <p:blipFill>
          <a:blip r:embed="rId2"/>
          <a:stretch>
            <a:fillRect/>
          </a:stretch>
        </p:blipFill>
        <p:spPr>
          <a:xfrm>
            <a:off x="6172200" y="1051560"/>
            <a:ext cx="5285232" cy="3003837"/>
          </a:xfrm>
          <a:prstGeom prst="rect">
            <a:avLst/>
          </a:prstGeom>
        </p:spPr>
      </p:pic>
      <p:sp>
        <p:nvSpPr>
          <p:cNvPr id="11" name="TextBox 10"/>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4: Sơ đồ Cây sau cắt tỉa: chỉ gồm 3 nút lá tinh gọn, sử dụng Major_Axis_Length và Perimeter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Cây Cắt Tỉa Vượt Trội Về Minh Bạch, Rừng Ngẫu Nhiên Tối Ưu ROC-AUC</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8 / 12</a:t>
            </a:r>
          </a:p>
        </p:txBody>
      </p:sp>
      <p:graphicFrame>
        <p:nvGraphicFramePr>
          <p:cNvPr id="6" name="Table 5"/>
          <p:cNvGraphicFramePr>
            <a:graphicFrameLocks noGrp="1"/>
          </p:cNvGraphicFramePr>
          <p:nvPr/>
        </p:nvGraphicFramePr>
        <p:xfrm>
          <a:off x="731520" y="1051560"/>
          <a:ext cx="5257800" cy="2926080"/>
        </p:xfrm>
        <a:graphic>
          <a:graphicData uri="http://schemas.openxmlformats.org/drawingml/2006/table">
            <a:tbl>
              <a:tblPr firstRow="1" bandRow="1">
                <a:tableStyleId>{5C22544A-7EE6-4342-B048-85BDC9FD1C3A}</a:tableStyleId>
              </a:tblPr>
              <a:tblGrid>
                <a:gridCol w="1691640"/>
                <a:gridCol w="685800"/>
                <a:gridCol w="685800"/>
                <a:gridCol w="868680"/>
                <a:gridCol w="685800"/>
                <a:gridCol w="640080"/>
              </a:tblGrid>
              <a:tr h="585216">
                <a:tc>
                  <a:txBody>
                    <a:bodyPr/>
                    <a:lstStyle/>
                    <a:p>
                      <a:pPr algn="l">
                        <a:defRPr b="1" sz="1000">
                          <a:solidFill>
                            <a:srgbClr val="FFFFFF"/>
                          </a:solidFill>
                          <a:latin typeface="Calibri"/>
                        </a:defRPr>
                      </a:pPr>
                      <a:r>
                        <a:t>Mô hình</a:t>
                      </a:r>
                    </a:p>
                  </a:txBody>
                  <a:tcPr>
                    <a:solidFill>
                      <a:srgbClr val="00A859"/>
                    </a:solidFill>
                  </a:tcPr>
                </a:tc>
                <a:tc>
                  <a:txBody>
                    <a:bodyPr/>
                    <a:lstStyle/>
                    <a:p>
                      <a:pPr algn="ctr">
                        <a:defRPr b="1" sz="1000">
                          <a:solidFill>
                            <a:srgbClr val="FFFFFF"/>
                          </a:solidFill>
                          <a:latin typeface="Calibri"/>
                        </a:defRPr>
                      </a:pPr>
                      <a:r>
                        <a:t>Val Acc</a:t>
                      </a:r>
                    </a:p>
                  </a:txBody>
                  <a:tcPr>
                    <a:solidFill>
                      <a:srgbClr val="00A859"/>
                    </a:solidFill>
                  </a:tcPr>
                </a:tc>
                <a:tc>
                  <a:txBody>
                    <a:bodyPr/>
                    <a:lstStyle/>
                    <a:p>
                      <a:pPr algn="ctr">
                        <a:defRPr b="1" sz="1000">
                          <a:solidFill>
                            <a:srgbClr val="FFFFFF"/>
                          </a:solidFill>
                          <a:latin typeface="Calibri"/>
                        </a:defRPr>
                      </a:pPr>
                      <a:r>
                        <a:t>Val F1</a:t>
                      </a:r>
                    </a:p>
                  </a:txBody>
                  <a:tcPr>
                    <a:solidFill>
                      <a:srgbClr val="00A859"/>
                    </a:solidFill>
                  </a:tcPr>
                </a:tc>
                <a:tc>
                  <a:txBody>
                    <a:bodyPr/>
                    <a:lstStyle/>
                    <a:p>
                      <a:pPr algn="ctr">
                        <a:defRPr b="1" sz="1000">
                          <a:solidFill>
                            <a:srgbClr val="FFFFFF"/>
                          </a:solidFill>
                          <a:latin typeface="Calibri"/>
                        </a:defRPr>
                      </a:pPr>
                      <a:r>
                        <a:t>Val ROC-AUC</a:t>
                      </a:r>
                    </a:p>
                  </a:txBody>
                  <a:tcPr>
                    <a:solidFill>
                      <a:srgbClr val="00A859"/>
                    </a:solidFill>
                  </a:tcPr>
                </a:tc>
                <a:tc>
                  <a:txBody>
                    <a:bodyPr/>
                    <a:lstStyle/>
                    <a:p>
                      <a:pPr algn="ctr">
                        <a:defRPr b="1" sz="1000">
                          <a:solidFill>
                            <a:srgbClr val="FFFFFF"/>
                          </a:solidFill>
                          <a:latin typeface="Calibri"/>
                        </a:defRPr>
                      </a:pPr>
                      <a:r>
                        <a:t>Thời gian</a:t>
                      </a:r>
                    </a:p>
                  </a:txBody>
                  <a:tcPr>
                    <a:solidFill>
                      <a:srgbClr val="00A859"/>
                    </a:solidFill>
                  </a:tcPr>
                </a:tc>
                <a:tc>
                  <a:txBody>
                    <a:bodyPr/>
                    <a:lstStyle/>
                    <a:p>
                      <a:pPr algn="ctr">
                        <a:defRPr b="1" sz="1000">
                          <a:solidFill>
                            <a:srgbClr val="FFFFFF"/>
                          </a:solidFill>
                          <a:latin typeface="Calibri"/>
                        </a:defRPr>
                      </a:pPr>
                      <a:r>
                        <a:t>Minh bạch</a:t>
                      </a:r>
                    </a:p>
                  </a:txBody>
                  <a:tcPr>
                    <a:solidFill>
                      <a:srgbClr val="00A859"/>
                    </a:solidFill>
                  </a:tcPr>
                </a:tc>
              </a:tr>
              <a:tr h="585216">
                <a:tc>
                  <a:txBody>
                    <a:bodyPr/>
                    <a:lstStyle/>
                    <a:p>
                      <a:pPr algn="l">
                        <a:defRPr sz="950">
                          <a:solidFill>
                            <a:srgbClr val="212529"/>
                          </a:solidFill>
                          <a:latin typeface="Calibri"/>
                        </a:defRPr>
                      </a:pPr>
                      <a:r>
                        <a:t>Dummy Baseline</a:t>
                      </a:r>
                    </a:p>
                  </a:txBody>
                  <a:tcPr>
                    <a:solidFill>
                      <a:srgbClr val="FFFFFF"/>
                    </a:solidFill>
                  </a:tcPr>
                </a:tc>
                <a:tc>
                  <a:txBody>
                    <a:bodyPr/>
                    <a:lstStyle/>
                    <a:p>
                      <a:pPr algn="ctr">
                        <a:defRPr sz="950">
                          <a:solidFill>
                            <a:srgbClr val="212529"/>
                          </a:solidFill>
                          <a:latin typeface="Calibri"/>
                        </a:defRPr>
                      </a:pPr>
                      <a:r>
                        <a:t>57,22%</a:t>
                      </a:r>
                    </a:p>
                  </a:txBody>
                  <a:tcPr>
                    <a:solidFill>
                      <a:srgbClr val="FFFFFF"/>
                    </a:solidFill>
                  </a:tcPr>
                </a:tc>
                <a:tc>
                  <a:txBody>
                    <a:bodyPr/>
                    <a:lstStyle/>
                    <a:p>
                      <a:pPr algn="ctr">
                        <a:defRPr sz="950">
                          <a:solidFill>
                            <a:srgbClr val="212529"/>
                          </a:solidFill>
                          <a:latin typeface="Calibri"/>
                        </a:defRPr>
                      </a:pPr>
                      <a:r>
                        <a:t>0,00%</a:t>
                      </a:r>
                    </a:p>
                  </a:txBody>
                  <a:tcPr>
                    <a:solidFill>
                      <a:srgbClr val="FFFFFF"/>
                    </a:solidFill>
                  </a:tcPr>
                </a:tc>
                <a:tc>
                  <a:txBody>
                    <a:bodyPr/>
                    <a:lstStyle/>
                    <a:p>
                      <a:pPr algn="ctr">
                        <a:defRPr sz="950">
                          <a:solidFill>
                            <a:srgbClr val="212529"/>
                          </a:solidFill>
                          <a:latin typeface="Calibri"/>
                        </a:defRPr>
                      </a:pPr>
                      <a:r>
                        <a:t>0.5000</a:t>
                      </a:r>
                    </a:p>
                  </a:txBody>
                  <a:tcPr>
                    <a:solidFill>
                      <a:srgbClr val="FFFFFF"/>
                    </a:solidFill>
                  </a:tcPr>
                </a:tc>
                <a:tc>
                  <a:txBody>
                    <a:bodyPr/>
                    <a:lstStyle/>
                    <a:p>
                      <a:pPr algn="ctr">
                        <a:defRPr sz="950">
                          <a:solidFill>
                            <a:srgbClr val="212529"/>
                          </a:solidFill>
                          <a:latin typeface="Calibri"/>
                        </a:defRPr>
                      </a:pPr>
                      <a:r>
                        <a:t>&lt; 0.001s</a:t>
                      </a:r>
                    </a:p>
                  </a:txBody>
                  <a:tcPr>
                    <a:solidFill>
                      <a:srgbClr val="FFFFFF"/>
                    </a:solidFill>
                  </a:tcPr>
                </a:tc>
                <a:tc>
                  <a:txBody>
                    <a:bodyPr/>
                    <a:lstStyle/>
                    <a:p>
                      <a:pPr algn="ctr">
                        <a:defRPr sz="950">
                          <a:solidFill>
                            <a:srgbClr val="212529"/>
                          </a:solidFill>
                          <a:latin typeface="Calibri"/>
                        </a:defRPr>
                      </a:pPr>
                      <a:r>
                        <a:t>Đoán đa số</a:t>
                      </a:r>
                    </a:p>
                  </a:txBody>
                  <a:tcPr>
                    <a:solidFill>
                      <a:srgbClr val="FFFFFF"/>
                    </a:solidFill>
                  </a:tcPr>
                </a:tc>
              </a:tr>
              <a:tr h="585216">
                <a:tc>
                  <a:txBody>
                    <a:bodyPr/>
                    <a:lstStyle/>
                    <a:p>
                      <a:pPr algn="l">
                        <a:defRPr sz="950">
                          <a:solidFill>
                            <a:srgbClr val="212529"/>
                          </a:solidFill>
                          <a:latin typeface="Calibri"/>
                        </a:defRPr>
                      </a:pPr>
                      <a:r>
                        <a:t>Decision Tree (Gốc)</a:t>
                      </a:r>
                    </a:p>
                  </a:txBody>
                  <a:tcPr>
                    <a:solidFill>
                      <a:srgbClr val="FFFFFF"/>
                    </a:solidFill>
                  </a:tcPr>
                </a:tc>
                <a:tc>
                  <a:txBody>
                    <a:bodyPr/>
                    <a:lstStyle/>
                    <a:p>
                      <a:pPr algn="ctr">
                        <a:defRPr sz="950">
                          <a:solidFill>
                            <a:srgbClr val="212529"/>
                          </a:solidFill>
                          <a:latin typeface="Calibri"/>
                        </a:defRPr>
                      </a:pPr>
                      <a:r>
                        <a:t>89,24%</a:t>
                      </a:r>
                    </a:p>
                  </a:txBody>
                  <a:tcPr>
                    <a:solidFill>
                      <a:srgbClr val="FFFFFF"/>
                    </a:solidFill>
                  </a:tcPr>
                </a:tc>
                <a:tc>
                  <a:txBody>
                    <a:bodyPr/>
                    <a:lstStyle/>
                    <a:p>
                      <a:pPr algn="ctr">
                        <a:defRPr sz="950">
                          <a:solidFill>
                            <a:srgbClr val="212529"/>
                          </a:solidFill>
                          <a:latin typeface="Calibri"/>
                        </a:defRPr>
                      </a:pPr>
                      <a:r>
                        <a:t>87,41%</a:t>
                      </a:r>
                    </a:p>
                  </a:txBody>
                  <a:tcPr>
                    <a:solidFill>
                      <a:srgbClr val="FFFFFF"/>
                    </a:solidFill>
                  </a:tcPr>
                </a:tc>
                <a:tc>
                  <a:txBody>
                    <a:bodyPr/>
                    <a:lstStyle/>
                    <a:p>
                      <a:pPr algn="ctr">
                        <a:defRPr sz="950">
                          <a:solidFill>
                            <a:srgbClr val="212529"/>
                          </a:solidFill>
                          <a:latin typeface="Calibri"/>
                        </a:defRPr>
                      </a:pPr>
                      <a:r>
                        <a:t>0.8901</a:t>
                      </a:r>
                    </a:p>
                  </a:txBody>
                  <a:tcPr>
                    <a:solidFill>
                      <a:srgbClr val="FFFFFF"/>
                    </a:solidFill>
                  </a:tcPr>
                </a:tc>
                <a:tc>
                  <a:txBody>
                    <a:bodyPr/>
                    <a:lstStyle/>
                    <a:p>
                      <a:pPr algn="ctr">
                        <a:defRPr sz="950">
                          <a:solidFill>
                            <a:srgbClr val="212529"/>
                          </a:solidFill>
                          <a:latin typeface="Calibri"/>
                        </a:defRPr>
                      </a:pPr>
                      <a:r>
                        <a:t>0.015s</a:t>
                      </a:r>
                    </a:p>
                  </a:txBody>
                  <a:tcPr>
                    <a:solidFill>
                      <a:srgbClr val="FFFFFF"/>
                    </a:solidFill>
                  </a:tcPr>
                </a:tc>
                <a:tc>
                  <a:txBody>
                    <a:bodyPr/>
                    <a:lstStyle/>
                    <a:p>
                      <a:pPr algn="ctr">
                        <a:defRPr sz="950">
                          <a:solidFill>
                            <a:srgbClr val="212529"/>
                          </a:solidFill>
                          <a:latin typeface="Calibri"/>
                        </a:defRPr>
                      </a:pPr>
                      <a:r>
                        <a:t>Thấp (187 lá)</a:t>
                      </a:r>
                    </a:p>
                  </a:txBody>
                  <a:tcPr>
                    <a:solidFill>
                      <a:srgbClr val="FFFFFF"/>
                    </a:solidFill>
                  </a:tcPr>
                </a:tc>
              </a:tr>
              <a:tr h="585216">
                <a:tc>
                  <a:txBody>
                    <a:bodyPr/>
                    <a:lstStyle/>
                    <a:p>
                      <a:pPr algn="l">
                        <a:defRPr sz="950" b="1">
                          <a:solidFill>
                            <a:srgbClr val="102A43"/>
                          </a:solidFill>
                          <a:latin typeface="Calibri"/>
                        </a:defRPr>
                      </a:pPr>
                      <a:r>
                        <a:t>Decision Tree (Đã tỉa)</a:t>
                      </a:r>
                    </a:p>
                  </a:txBody>
                  <a:tcPr>
                    <a:solidFill>
                      <a:srgbClr val="F0FDF4"/>
                    </a:solidFill>
                  </a:tcPr>
                </a:tc>
                <a:tc>
                  <a:txBody>
                    <a:bodyPr/>
                    <a:lstStyle/>
                    <a:p>
                      <a:pPr algn="ctr">
                        <a:defRPr sz="950" b="1">
                          <a:solidFill>
                            <a:srgbClr val="102A43"/>
                          </a:solidFill>
                          <a:latin typeface="Calibri"/>
                        </a:defRPr>
                      </a:pPr>
                      <a:r>
                        <a:t>93,70%</a:t>
                      </a:r>
                    </a:p>
                  </a:txBody>
                  <a:tcPr>
                    <a:solidFill>
                      <a:srgbClr val="F0FDF4"/>
                    </a:solidFill>
                  </a:tcPr>
                </a:tc>
                <a:tc>
                  <a:txBody>
                    <a:bodyPr/>
                    <a:lstStyle/>
                    <a:p>
                      <a:pPr algn="ctr">
                        <a:defRPr sz="950" b="1">
                          <a:solidFill>
                            <a:srgbClr val="102A43"/>
                          </a:solidFill>
                          <a:latin typeface="Calibri"/>
                        </a:defRPr>
                      </a:pPr>
                      <a:r>
                        <a:t>92,77%</a:t>
                      </a:r>
                    </a:p>
                  </a:txBody>
                  <a:tcPr>
                    <a:solidFill>
                      <a:srgbClr val="F0FDF4"/>
                    </a:solidFill>
                  </a:tcPr>
                </a:tc>
                <a:tc>
                  <a:txBody>
                    <a:bodyPr/>
                    <a:lstStyle/>
                    <a:p>
                      <a:pPr algn="ctr">
                        <a:defRPr sz="950" b="1">
                          <a:solidFill>
                            <a:srgbClr val="102A43"/>
                          </a:solidFill>
                          <a:latin typeface="Calibri"/>
                        </a:defRPr>
                      </a:pPr>
                      <a:r>
                        <a:t>0.9596 (~0.96)</a:t>
                      </a:r>
                    </a:p>
                  </a:txBody>
                  <a:tcPr>
                    <a:solidFill>
                      <a:srgbClr val="F0FDF4"/>
                    </a:solidFill>
                  </a:tcPr>
                </a:tc>
                <a:tc>
                  <a:txBody>
                    <a:bodyPr/>
                    <a:lstStyle/>
                    <a:p>
                      <a:pPr algn="ctr">
                        <a:defRPr sz="950" b="1">
                          <a:solidFill>
                            <a:srgbClr val="102A43"/>
                          </a:solidFill>
                          <a:latin typeface="Calibri"/>
                        </a:defRPr>
                      </a:pPr>
                      <a:r>
                        <a:t>0.036s</a:t>
                      </a:r>
                    </a:p>
                  </a:txBody>
                  <a:tcPr>
                    <a:solidFill>
                      <a:srgbClr val="F0FDF4"/>
                    </a:solidFill>
                  </a:tcPr>
                </a:tc>
                <a:tc>
                  <a:txBody>
                    <a:bodyPr/>
                    <a:lstStyle/>
                    <a:p>
                      <a:pPr algn="ctr">
                        <a:defRPr sz="950" b="1">
                          <a:solidFill>
                            <a:srgbClr val="102A43"/>
                          </a:solidFill>
                          <a:latin typeface="Calibri"/>
                        </a:defRPr>
                      </a:pPr>
                      <a:r>
                        <a:t>Cực cao (3 lá)</a:t>
                      </a:r>
                    </a:p>
                  </a:txBody>
                  <a:tcPr>
                    <a:solidFill>
                      <a:srgbClr val="F0FDF4"/>
                    </a:solidFill>
                  </a:tcPr>
                </a:tc>
              </a:tr>
              <a:tr h="585216">
                <a:tc>
                  <a:txBody>
                    <a:bodyPr/>
                    <a:lstStyle/>
                    <a:p>
                      <a:pPr algn="l">
                        <a:defRPr sz="950" b="1">
                          <a:solidFill>
                            <a:srgbClr val="102A43"/>
                          </a:solidFill>
                          <a:latin typeface="Calibri"/>
                        </a:defRPr>
                      </a:pPr>
                      <a:r>
                        <a:t>Random Forest (100 cây)</a:t>
                      </a:r>
                    </a:p>
                  </a:txBody>
                  <a:tcPr>
                    <a:solidFill>
                      <a:srgbClr val="EFF6FF"/>
                    </a:solidFill>
                  </a:tcPr>
                </a:tc>
                <a:tc>
                  <a:txBody>
                    <a:bodyPr/>
                    <a:lstStyle/>
                    <a:p>
                      <a:pPr algn="ctr">
                        <a:defRPr sz="950" b="1">
                          <a:solidFill>
                            <a:srgbClr val="102A43"/>
                          </a:solidFill>
                          <a:latin typeface="Calibri"/>
                        </a:defRPr>
                      </a:pPr>
                      <a:r>
                        <a:t>93,44%</a:t>
                      </a:r>
                    </a:p>
                  </a:txBody>
                  <a:tcPr>
                    <a:solidFill>
                      <a:srgbClr val="EFF6FF"/>
                    </a:solidFill>
                  </a:tcPr>
                </a:tc>
                <a:tc>
                  <a:txBody>
                    <a:bodyPr/>
                    <a:lstStyle/>
                    <a:p>
                      <a:pPr algn="ctr">
                        <a:defRPr sz="950" b="1">
                          <a:solidFill>
                            <a:srgbClr val="102A43"/>
                          </a:solidFill>
                          <a:latin typeface="Calibri"/>
                        </a:defRPr>
                      </a:pPr>
                      <a:r>
                        <a:t>92,28%</a:t>
                      </a:r>
                    </a:p>
                  </a:txBody>
                  <a:tcPr>
                    <a:solidFill>
                      <a:srgbClr val="EFF6FF"/>
                    </a:solidFill>
                  </a:tcPr>
                </a:tc>
                <a:tc>
                  <a:txBody>
                    <a:bodyPr/>
                    <a:lstStyle/>
                    <a:p>
                      <a:pPr algn="ctr">
                        <a:defRPr sz="950" b="1">
                          <a:solidFill>
                            <a:srgbClr val="102A43"/>
                          </a:solidFill>
                          <a:latin typeface="Calibri"/>
                        </a:defRPr>
                      </a:pPr>
                      <a:r>
                        <a:t>0.9741 (~0.97)</a:t>
                      </a:r>
                    </a:p>
                  </a:txBody>
                  <a:tcPr>
                    <a:solidFill>
                      <a:srgbClr val="EFF6FF"/>
                    </a:solidFill>
                  </a:tcPr>
                </a:tc>
                <a:tc>
                  <a:txBody>
                    <a:bodyPr/>
                    <a:lstStyle/>
                    <a:p>
                      <a:pPr algn="ctr">
                        <a:defRPr sz="950" b="1">
                          <a:solidFill>
                            <a:srgbClr val="102A43"/>
                          </a:solidFill>
                          <a:latin typeface="Calibri"/>
                        </a:defRPr>
                      </a:pPr>
                      <a:r>
                        <a:t>0.320s</a:t>
                      </a:r>
                    </a:p>
                  </a:txBody>
                  <a:tcPr>
                    <a:solidFill>
                      <a:srgbClr val="EFF6FF"/>
                    </a:solidFill>
                  </a:tcPr>
                </a:tc>
                <a:tc>
                  <a:txBody>
                    <a:bodyPr/>
                    <a:lstStyle/>
                    <a:p>
                      <a:pPr algn="ctr">
                        <a:defRPr sz="950" b="1">
                          <a:solidFill>
                            <a:srgbClr val="102A43"/>
                          </a:solidFill>
                          <a:latin typeface="Calibri"/>
                        </a:defRPr>
                      </a:pPr>
                      <a:r>
                        <a:t>Hộp đen</a:t>
                      </a:r>
                    </a:p>
                  </a:txBody>
                  <a:tcPr>
                    <a:solidFill>
                      <a:srgbClr val="EFF6FF"/>
                    </a:solidFill>
                  </a:tcPr>
                </a:tc>
              </a:tr>
            </a:tbl>
          </a:graphicData>
        </a:graphic>
      </p:graphicFrame>
      <p:sp>
        <p:nvSpPr>
          <p:cNvPr id="7" name="Rectangle 6"/>
          <p:cNvSpPr/>
          <p:nvPr/>
        </p:nvSpPr>
        <p:spPr>
          <a:xfrm>
            <a:off x="731520" y="4114800"/>
            <a:ext cx="5257800" cy="201168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206240"/>
            <a:ext cx="4892040" cy="1828800"/>
          </a:xfrm>
          <a:prstGeom prst="rect">
            <a:avLst/>
          </a:prstGeom>
          <a:noFill/>
        </p:spPr>
        <p:txBody>
          <a:bodyPr wrap="square">
            <a:spAutoFit/>
          </a:bodyPr>
          <a:lstStyle/>
          <a:p>
            <a:pPr>
              <a:defRPr sz="1100" b="1">
                <a:solidFill>
                  <a:srgbClr val="00A859"/>
                </a:solidFill>
              </a:defRPr>
            </a:pPr>
            <a:r>
              <a:t>NHẬN XÉT ĐỐI CHỨNG VÀ ĐỒNG BỘ CHỈ SỐ:</a:t>
            </a:r>
          </a:p>
          <a:p>
            <a:pPr>
              <a:spcBef>
                <a:spcPts val="300"/>
              </a:spcBef>
              <a:defRPr b="1" sz="1000">
                <a:solidFill>
                  <a:srgbClr val="102A43"/>
                </a:solidFill>
              </a:defRPr>
            </a:pPr>
            <a:r>
              <a:t>• Đồng bộ chỉ số ROC-AUC: </a:t>
            </a:r>
            <a:r>
              <a:rPr b="0" sz="950">
                <a:solidFill>
                  <a:srgbClr val="212529"/>
                </a:solidFill>
              </a:rPr>
              <a:t>DT Đã tỉa đạt Val ROC-AUC = 0.9596 (làm tròn 0.96 trên Hình 5), trong khi Random Forest đạt 0.9741 (làm tròn 0.97 trên Hình 5).</a:t>
            </a:r>
          </a:p>
          <a:p>
            <a:pPr>
              <a:spcBef>
                <a:spcPts val="300"/>
              </a:spcBef>
              <a:defRPr b="1" sz="1000">
                <a:solidFill>
                  <a:srgbClr val="102A43"/>
                </a:solidFill>
              </a:defRPr>
            </a:pPr>
            <a:r>
              <a:t>• Hiệu năng Accuracy tương đương: </a:t>
            </a:r>
            <a:r>
              <a:rPr b="0" sz="950">
                <a:solidFill>
                  <a:srgbClr val="212529"/>
                </a:solidFill>
              </a:rPr>
              <a:t>Cây cắt tỉa (93,70%) nhỉnh hơn nhẹ so với Rừng ngẫu nhiên (93,44%) trên tập Validation.</a:t>
            </a:r>
          </a:p>
          <a:p>
            <a:pPr>
              <a:spcBef>
                <a:spcPts val="300"/>
              </a:spcBef>
              <a:defRPr b="1" sz="1000">
                <a:solidFill>
                  <a:srgbClr val="102A43"/>
                </a:solidFill>
              </a:defRPr>
            </a:pPr>
            <a:r>
              <a:t>• Đánh đổi cốt lõi (Trade-off): </a:t>
            </a:r>
            <a:r>
              <a:rPr b="0" sz="950">
                <a:solidFill>
                  <a:srgbClr val="212529"/>
                </a:solidFill>
              </a:rPr>
              <a:t>Cây tỉa tối ưu về tốc độ (0.036s) và minh bạch 100% để giải thích cho công nhân; Rừng ngẫu nhiên tối ưu đường cong xác suất liên tục (AUC 0.97) giúp phân loại van khí nén an toàn.</a:t>
            </a:r>
          </a:p>
        </p:txBody>
      </p:sp>
      <p:pic>
        <p:nvPicPr>
          <p:cNvPr id="9" name="Picture 8" descr="11_roc_curves.png"/>
          <p:cNvPicPr>
            <a:picLocks noChangeAspect="1"/>
          </p:cNvPicPr>
          <p:nvPr/>
        </p:nvPicPr>
        <p:blipFill>
          <a:blip r:embed="rId2"/>
          <a:stretch>
            <a:fillRect/>
          </a:stretch>
        </p:blipFill>
        <p:spPr>
          <a:xfrm>
            <a:off x="6172200" y="1051560"/>
            <a:ext cx="5285232" cy="3963924"/>
          </a:xfrm>
          <a:prstGeom prst="rect">
            <a:avLst/>
          </a:prstGeom>
        </p:spPr>
      </p:pic>
      <p:sp>
        <p:nvSpPr>
          <p:cNvPr id="10" name="TextBox 9"/>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5: Đường cong ROC: Decision Tree Đã tỉa (AUC = 0.96) và Random Forest (AUC = 0.97)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Nghiệm Thu Tập Test Đạt 91,60% Và Bản Chất Sai Số Ranh Giới Tự Nhiên</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9 / 12</a:t>
            </a:r>
          </a:p>
        </p:txBody>
      </p:sp>
      <p:sp>
        <p:nvSpPr>
          <p:cNvPr id="6" name="Rounded Rectangle 5"/>
          <p:cNvSpPr/>
          <p:nvPr/>
        </p:nvSpPr>
        <p:spPr>
          <a:xfrm>
            <a:off x="731520" y="1051560"/>
            <a:ext cx="5212080" cy="1508760"/>
          </a:xfrm>
          <a:prstGeom prst="roundRect">
            <a:avLst/>
          </a:prstGeom>
          <a:solidFill>
            <a:srgbClr val="F0FDF4"/>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124712"/>
            <a:ext cx="5212080" cy="1362456"/>
          </a:xfrm>
          <a:prstGeom prst="rect">
            <a:avLst/>
          </a:prstGeom>
          <a:noFill/>
        </p:spPr>
        <p:txBody>
          <a:bodyPr wrap="square" lIns="0" rIns="0" tIns="0" bIns="0">
            <a:spAutoFit/>
          </a:bodyPr>
          <a:lstStyle/>
          <a:p>
            <a:pPr algn="ctr">
              <a:defRPr sz="2200" b="1">
                <a:solidFill>
                  <a:srgbClr val="00A859"/>
                </a:solidFill>
              </a:defRPr>
            </a:pPr>
            <a:r>
              <a:t>91,60% TEST ACCURACY</a:t>
            </a:r>
          </a:p>
          <a:p>
            <a:pPr algn="ctr">
              <a:spcBef>
                <a:spcPts val="200"/>
              </a:spcBef>
              <a:defRPr sz="1000" b="1">
                <a:solidFill>
                  <a:srgbClr val="102A43"/>
                </a:solidFill>
              </a:defRPr>
            </a:pPr>
            <a:r>
              <a:t>NGHIỆM THU TẬP TEST (1 LẦN DUY NHẤT)</a:t>
            </a:r>
            <a:br/>
            <a:r>
              <a:t>Test F1 = 89,76% | Test ROC-AUC = 0.9709. Độ lệch Val-Test chỉ 1,84% khẳng định KHÔNG rò rỉ dữ liệu!</a:t>
            </a:r>
          </a:p>
        </p:txBody>
      </p:sp>
      <p:sp>
        <p:nvSpPr>
          <p:cNvPr id="8" name="Rectangle 7"/>
          <p:cNvSpPr/>
          <p:nvPr/>
        </p:nvSpPr>
        <p:spPr>
          <a:xfrm>
            <a:off x="731520" y="2697480"/>
            <a:ext cx="5212080" cy="16916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788920"/>
            <a:ext cx="4846320" cy="1508760"/>
          </a:xfrm>
          <a:prstGeom prst="rect">
            <a:avLst/>
          </a:prstGeom>
          <a:noFill/>
        </p:spPr>
        <p:txBody>
          <a:bodyPr wrap="square">
            <a:spAutoFit/>
          </a:bodyPr>
          <a:lstStyle/>
          <a:p>
            <a:pPr>
              <a:defRPr sz="1150" b="1">
                <a:solidFill>
                  <a:srgbClr val="B91C1C"/>
                </a:solidFill>
              </a:defRPr>
            </a:pPr>
            <a:r>
              <a:t>PHÂN TÍCH 50 CA ĐOÁN SAI TRÊN TẬP VALIDATION</a:t>
            </a:r>
          </a:p>
          <a:p>
            <a:pPr>
              <a:spcBef>
                <a:spcPts val="300"/>
              </a:spcBef>
              <a:defRPr b="1" sz="1000">
                <a:solidFill>
                  <a:srgbClr val="102A43"/>
                </a:solidFill>
              </a:defRPr>
            </a:pPr>
            <a:r>
              <a:t>• Quy tắc khoa học: </a:t>
            </a:r>
            <a:r>
              <a:rPr b="0" sz="950">
                <a:solidFill>
                  <a:srgbClr val="212529"/>
                </a:solidFill>
              </a:rPr>
              <a:t>Trích xuất từ 762 mẫu Val của RF (762 x 6,56% = 50 mẫu), không dò xét tập Test.</a:t>
            </a:r>
          </a:p>
          <a:p>
            <a:pPr>
              <a:spcBef>
                <a:spcPts val="300"/>
              </a:spcBef>
              <a:defRPr b="1" sz="1000">
                <a:solidFill>
                  <a:srgbClr val="102A43"/>
                </a:solidFill>
              </a:defRPr>
            </a:pPr>
            <a:r>
              <a:t>• Vùng giao thoa tự nhiên: </a:t>
            </a:r>
            <a:r>
              <a:rPr b="0" sz="950">
                <a:solidFill>
                  <a:srgbClr val="212529"/>
                </a:solidFill>
              </a:rPr>
              <a:t>Mẫu sai tập trung ở Major_Axis_Length từ 180 đến 205 px (quanh ngưỡng 191 px).</a:t>
            </a:r>
          </a:p>
          <a:p>
            <a:pPr>
              <a:spcBef>
                <a:spcPts val="300"/>
              </a:spcBef>
              <a:defRPr b="1" sz="1000">
                <a:solidFill>
                  <a:srgbClr val="102A43"/>
                </a:solidFill>
              </a:defRPr>
            </a:pPr>
            <a:r>
              <a:t>• Bản chất sinh học: </a:t>
            </a:r>
            <a:r>
              <a:rPr b="0" sz="950">
                <a:solidFill>
                  <a:srgbClr val="212529"/>
                </a:solidFill>
              </a:rPr>
              <a:t>Hạt Osmancik to bất thường xen lẫn hạt Cammeo nhỏ còi.</a:t>
            </a:r>
          </a:p>
        </p:txBody>
      </p:sp>
      <p:sp>
        <p:nvSpPr>
          <p:cNvPr id="10" name="Rounded Rectangle 9"/>
          <p:cNvSpPr/>
          <p:nvPr/>
        </p:nvSpPr>
        <p:spPr>
          <a:xfrm>
            <a:off x="731520" y="4526280"/>
            <a:ext cx="5212080" cy="1600200"/>
          </a:xfrm>
          <a:prstGeom prst="roundRect">
            <a:avLst/>
          </a:prstGeom>
          <a:solidFill>
            <a:srgbClr val="EFF6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599432"/>
            <a:ext cx="5212080" cy="1453896"/>
          </a:xfrm>
          <a:prstGeom prst="rect">
            <a:avLst/>
          </a:prstGeom>
          <a:noFill/>
        </p:spPr>
        <p:txBody>
          <a:bodyPr wrap="square" lIns="0" rIns="0" tIns="0" bIns="0">
            <a:spAutoFit/>
          </a:bodyPr>
          <a:lstStyle/>
          <a:p>
            <a:pPr algn="ctr">
              <a:defRPr sz="2200" b="1">
                <a:solidFill>
                  <a:srgbClr val="102A43"/>
                </a:solidFill>
              </a:defRPr>
            </a:pPr>
            <a:r>
              <a:t>94,37% → 78,28% TỰ TIN</a:t>
            </a:r>
          </a:p>
          <a:p>
            <a:pPr algn="ctr">
              <a:spcBef>
                <a:spcPts val="200"/>
              </a:spcBef>
              <a:defRPr sz="1000" b="1">
                <a:solidFill>
                  <a:srgbClr val="102A43"/>
                </a:solidFill>
              </a:defRPr>
            </a:pPr>
            <a:r>
              <a:t>NĂNG LỰC TỰ NHẬN THỨC BẤT ĐỊNH</a:t>
            </a:r>
            <a:br/>
            <a:r>
              <a:t>Độ tự tin tự động sụt giảm mạnh khi gặp mẫu khó, cho phép phát cờ cảnh báo an toàn!</a:t>
            </a:r>
          </a:p>
        </p:txBody>
      </p:sp>
      <p:pic>
        <p:nvPicPr>
          <p:cNvPr id="12" name="Picture 11" descr="12_error_analysis.png"/>
          <p:cNvPicPr>
            <a:picLocks noChangeAspect="1"/>
          </p:cNvPicPr>
          <p:nvPr/>
        </p:nvPicPr>
        <p:blipFill>
          <a:blip r:embed="rId2"/>
          <a:stretch>
            <a:fillRect/>
          </a:stretch>
        </p:blipFill>
        <p:spPr>
          <a:xfrm>
            <a:off x="6172200" y="1051560"/>
            <a:ext cx="5285232" cy="2616057"/>
          </a:xfrm>
          <a:prstGeom prst="rect">
            <a:avLst/>
          </a:prstGeom>
        </p:spPr>
      </p:pic>
      <p:sp>
        <p:nvSpPr>
          <p:cNvPr id="13" name="TextBox 12"/>
          <p:cNvSpPr txBox="1"/>
          <p:nvPr/>
        </p:nvSpPr>
        <p:spPr>
          <a:xfrm>
            <a:off x="6172200" y="5715000"/>
            <a:ext cx="5285232" cy="320040"/>
          </a:xfrm>
          <a:prstGeom prst="rect">
            <a:avLst/>
          </a:prstGeom>
          <a:noFill/>
        </p:spPr>
        <p:txBody>
          <a:bodyPr wrap="none">
            <a:spAutoFit/>
          </a:bodyPr>
          <a:lstStyle/>
          <a:p>
            <a:pPr algn="ctr">
              <a:defRPr sz="950" i="1">
                <a:solidFill>
                  <a:srgbClr val="64748B"/>
                </a:solidFill>
              </a:defRPr>
            </a:pPr>
            <a:r>
              <a:t>Hình 6: Phân tích 50 ca sai trên tập Val của RF: tập trung tại vùng giao thoa Major_Axis_Length (180 - 205 px)</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Đóng Gói Web App Flask Với Kiểm Soát 3 Tầng Và Nhận Diện Bất Định</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10 / 12</a:t>
            </a:r>
          </a:p>
        </p:txBody>
      </p:sp>
      <p:sp>
        <p:nvSpPr>
          <p:cNvPr id="6" name="Rectangle 5"/>
          <p:cNvSpPr/>
          <p:nvPr/>
        </p:nvSpPr>
        <p:spPr>
          <a:xfrm>
            <a:off x="731520" y="1051560"/>
            <a:ext cx="3328416" cy="507492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234440"/>
            <a:ext cx="2962656" cy="4709160"/>
          </a:xfrm>
          <a:prstGeom prst="rect">
            <a:avLst/>
          </a:prstGeom>
          <a:noFill/>
        </p:spPr>
        <p:txBody>
          <a:bodyPr wrap="square">
            <a:spAutoFit/>
          </a:bodyPr>
          <a:lstStyle/>
          <a:p>
            <a:pPr>
              <a:defRPr sz="1150" b="1">
                <a:solidFill>
                  <a:srgbClr val="00A859"/>
                </a:solidFill>
              </a:defRPr>
            </a:pPr>
            <a:r>
              <a:t>1. TÁCH BIỆT SERVING OFFLINE</a:t>
            </a:r>
          </a:p>
          <a:p>
            <a:pPr>
              <a:spcBef>
                <a:spcPts val="600"/>
              </a:spcBef>
              <a:defRPr b="1" sz="1050">
                <a:solidFill>
                  <a:srgbClr val="102A43"/>
                </a:solidFill>
              </a:defRPr>
            </a:pPr>
            <a:r>
              <a:t>• Nạp mô hình tĩnh: </a:t>
            </a:r>
            <a:r>
              <a:rPr b="0" sz="1000">
                <a:solidFill>
                  <a:srgbClr val="212529"/>
                </a:solidFill>
              </a:rPr>
              <a:t>final_model.pkl nạp vào RAM 1 lần duy nhất khi khởi động.</a:t>
            </a:r>
          </a:p>
          <a:p>
            <a:pPr>
              <a:spcBef>
                <a:spcPts val="600"/>
              </a:spcBef>
              <a:defRPr b="1" sz="1050">
                <a:solidFill>
                  <a:srgbClr val="102A43"/>
                </a:solidFill>
              </a:defRPr>
            </a:pPr>
            <a:r>
              <a:t>• Độ trễ suy luận: </a:t>
            </a:r>
            <a:r>
              <a:rPr b="0" sz="1000">
                <a:solidFill>
                  <a:srgbClr val="212529"/>
                </a:solidFill>
              </a:rPr>
              <a:t>&lt; 1 ms / hạt, sẵn sàng tích hợp băng chuyền công nghiệp.</a:t>
            </a:r>
          </a:p>
          <a:p>
            <a:pPr>
              <a:spcBef>
                <a:spcPts val="600"/>
              </a:spcBef>
              <a:defRPr b="1" sz="1050">
                <a:solidFill>
                  <a:srgbClr val="102A43"/>
                </a:solidFill>
              </a:defRPr>
            </a:pPr>
            <a:r>
              <a:t>• Giao diện chuẩn hóa: </a:t>
            </a:r>
            <a:r>
              <a:rPr b="0" sz="1000">
                <a:solidFill>
                  <a:srgbClr val="212529"/>
                </a:solidFill>
              </a:rPr>
              <a:t>7 tham số tiếng Việt kèm đơn vị đo chuẩn (pixel, pixel²).</a:t>
            </a:r>
          </a:p>
          <a:p>
            <a:pPr>
              <a:spcBef>
                <a:spcPts val="600"/>
              </a:spcBef>
              <a:defRPr b="1" sz="1050">
                <a:solidFill>
                  <a:srgbClr val="102A43"/>
                </a:solidFill>
              </a:defRPr>
            </a:pPr>
            <a:r>
              <a:t>• Nạp nhanh mẫu thử: </a:t>
            </a:r>
            <a:r>
              <a:rPr b="0" sz="1000">
                <a:solidFill>
                  <a:srgbClr val="212529"/>
                </a:solidFill>
              </a:rPr>
              <a:t>2 nút điền dữ liệu mẫu thực tế cho Cammeo và Osmancik.</a:t>
            </a:r>
          </a:p>
        </p:txBody>
      </p:sp>
      <p:sp>
        <p:nvSpPr>
          <p:cNvPr id="8" name="Rectangle 7"/>
          <p:cNvSpPr/>
          <p:nvPr/>
        </p:nvSpPr>
        <p:spPr>
          <a:xfrm>
            <a:off x="4425696" y="1051560"/>
            <a:ext cx="3328416" cy="5074920"/>
          </a:xfrm>
          <a:prstGeom prst="rect">
            <a:avLst/>
          </a:prstGeom>
          <a:solidFill>
            <a:srgbClr val="FFFFFF"/>
          </a:solidFill>
          <a:ln w="12700">
            <a:solidFill>
              <a:srgbClr val="B91C1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8576" y="1234440"/>
            <a:ext cx="2962656" cy="4709160"/>
          </a:xfrm>
          <a:prstGeom prst="rect">
            <a:avLst/>
          </a:prstGeom>
          <a:noFill/>
        </p:spPr>
        <p:txBody>
          <a:bodyPr wrap="square">
            <a:spAutoFit/>
          </a:bodyPr>
          <a:lstStyle/>
          <a:p>
            <a:pPr>
              <a:defRPr sz="1150" b="1">
                <a:solidFill>
                  <a:srgbClr val="B91C1C"/>
                </a:solidFill>
              </a:defRPr>
            </a:pPr>
            <a:r>
              <a:t>2. BẢO VỆ ĐẦU VÀO 3 TẦNG</a:t>
            </a:r>
          </a:p>
          <a:p>
            <a:pPr>
              <a:spcBef>
                <a:spcPts val="600"/>
              </a:spcBef>
              <a:defRPr b="1" sz="1050">
                <a:solidFill>
                  <a:srgbClr val="102A43"/>
                </a:solidFill>
              </a:defRPr>
            </a:pPr>
            <a:r>
              <a:t>• Tầng 1 (Toàn vẹn): </a:t>
            </a:r>
            <a:r>
              <a:rPr b="0" sz="1000">
                <a:solidFill>
                  <a:srgbClr val="212529"/>
                </a:solidFill>
              </a:rPr>
              <a:t>Chặn trường rỗng hoặc thiếu tham số (HTTP 400).</a:t>
            </a:r>
          </a:p>
          <a:p>
            <a:pPr>
              <a:spcBef>
                <a:spcPts val="600"/>
              </a:spcBef>
              <a:defRPr b="1" sz="1050">
                <a:solidFill>
                  <a:srgbClr val="102A43"/>
                </a:solidFill>
              </a:defRPr>
            </a:pPr>
            <a:r>
              <a:t>• Tầng 2 (Kiểu số): </a:t>
            </a:r>
            <a:r>
              <a:rPr b="0" sz="1000">
                <a:solidFill>
                  <a:srgbClr val="212529"/>
                </a:solidFill>
              </a:rPr>
              <a:t>Bắt lỗi ký tự lạ, chữ cái hoặc giá trị âm vô lý.</a:t>
            </a:r>
          </a:p>
          <a:p>
            <a:pPr>
              <a:spcBef>
                <a:spcPts val="600"/>
              </a:spcBef>
              <a:defRPr b="1" sz="1050">
                <a:solidFill>
                  <a:srgbClr val="102A43"/>
                </a:solidFill>
              </a:defRPr>
            </a:pPr>
            <a:r>
              <a:t>• Tầng 3 (Miền giá trị): </a:t>
            </a:r>
            <a:r>
              <a:rPr b="0" sz="1000">
                <a:solidFill>
                  <a:srgbClr val="212529"/>
                </a:solidFill>
              </a:rPr>
              <a:t>So khớp khoảng [min, max] tập Train (Cảnh báo vàng).</a:t>
            </a:r>
          </a:p>
          <a:p>
            <a:pPr>
              <a:spcBef>
                <a:spcPts val="600"/>
              </a:spcBef>
              <a:defRPr b="1" sz="1050">
                <a:solidFill>
                  <a:srgbClr val="102A43"/>
                </a:solidFill>
              </a:defRPr>
            </a:pPr>
            <a:r>
              <a:t>• Trách nhiệm dữ liệu: </a:t>
            </a:r>
            <a:r>
              <a:rPr b="0" sz="1000">
                <a:solidFill>
                  <a:srgbClr val="212529"/>
                </a:solidFill>
              </a:rPr>
              <a:t>Tuyệt đối không tự ý thay đổi dữ liệu của người dùng.</a:t>
            </a:r>
          </a:p>
        </p:txBody>
      </p:sp>
      <p:sp>
        <p:nvSpPr>
          <p:cNvPr id="10" name="Rectangle 9"/>
          <p:cNvSpPr/>
          <p:nvPr/>
        </p:nvSpPr>
        <p:spPr>
          <a:xfrm>
            <a:off x="8119872" y="1051560"/>
            <a:ext cx="3328416" cy="5074920"/>
          </a:xfrm>
          <a:prstGeom prst="rect">
            <a:avLst/>
          </a:prstGeom>
          <a:solidFill>
            <a:srgbClr val="FFFFFF"/>
          </a:solidFill>
          <a:ln w="127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234440"/>
            <a:ext cx="2962656" cy="4709160"/>
          </a:xfrm>
          <a:prstGeom prst="rect">
            <a:avLst/>
          </a:prstGeom>
          <a:noFill/>
        </p:spPr>
        <p:txBody>
          <a:bodyPr wrap="square">
            <a:spAutoFit/>
          </a:bodyPr>
          <a:lstStyle/>
          <a:p>
            <a:pPr>
              <a:defRPr sz="1150" b="1">
                <a:solidFill>
                  <a:srgbClr val="FFC000"/>
                </a:solidFill>
              </a:defRPr>
            </a:pPr>
            <a:r>
              <a:t>3. TÍNH NĂNG ĐẠT ĐIỂM CỘNG</a:t>
            </a:r>
          </a:p>
          <a:p>
            <a:pPr>
              <a:spcBef>
                <a:spcPts val="600"/>
              </a:spcBef>
              <a:defRPr b="1" sz="1050">
                <a:solidFill>
                  <a:srgbClr val="102A43"/>
                </a:solidFill>
              </a:defRPr>
            </a:pPr>
            <a:r>
              <a:t>• Cờ bất định (Uncertainty): </a:t>
            </a:r>
            <a:r>
              <a:rPr b="0" sz="1000">
                <a:solidFill>
                  <a:srgbClr val="212529"/>
                </a:solidFill>
              </a:rPr>
              <a:t>Dải xác suất [0.40, 0.60] tự động báo cờ đỏ chuyển soi kính.</a:t>
            </a:r>
          </a:p>
          <a:p>
            <a:pPr>
              <a:spcBef>
                <a:spcPts val="600"/>
              </a:spcBef>
              <a:defRPr b="1" sz="1050">
                <a:solidFill>
                  <a:srgbClr val="102A43"/>
                </a:solidFill>
              </a:defRPr>
            </a:pPr>
            <a:r>
              <a:t>• Dự đoán theo lô (Batch): </a:t>
            </a:r>
            <a:r>
              <a:rPr b="0" sz="1000">
                <a:solidFill>
                  <a:srgbClr val="212529"/>
                </a:solidFill>
              </a:rPr>
              <a:t>Upload file CSV hàng trăm hạt, xuất kết quả tức thì.</a:t>
            </a:r>
          </a:p>
          <a:p>
            <a:pPr>
              <a:spcBef>
                <a:spcPts val="600"/>
              </a:spcBef>
              <a:defRPr b="1" sz="1050">
                <a:solidFill>
                  <a:srgbClr val="102A43"/>
                </a:solidFill>
              </a:defRPr>
            </a:pPr>
            <a:r>
              <a:t>• Công bố Model Card: </a:t>
            </a:r>
            <a:r>
              <a:rPr b="0" sz="1000">
                <a:solidFill>
                  <a:srgbClr val="212529"/>
                </a:solidFill>
              </a:rPr>
              <a:t>Minh bạch phiên bản scikit-learn 1.4.2 &amp; đạo đức AI.</a:t>
            </a:r>
          </a:p>
          <a:p>
            <a:pPr>
              <a:spcBef>
                <a:spcPts val="600"/>
              </a:spcBef>
              <a:defRPr b="1" sz="1050">
                <a:solidFill>
                  <a:srgbClr val="102A43"/>
                </a:solidFill>
              </a:defRPr>
            </a:pPr>
            <a:r>
              <a:t>• Bản quyền dữ liệu: </a:t>
            </a:r>
            <a:r>
              <a:rPr b="0" sz="1000">
                <a:solidFill>
                  <a:srgbClr val="212529"/>
                </a:solidFill>
              </a:rPr>
              <a:t>Công nhận chuẩn UCI Machine Learning Repository.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Tổng Kết Đóng Góp Đề Tài Và Định Hướng Phát Triển Tương Lai</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11 / 12</a:t>
            </a:r>
          </a:p>
        </p:txBody>
      </p:sp>
      <p:sp>
        <p:nvSpPr>
          <p:cNvPr id="6" name="Rectangle 5"/>
          <p:cNvSpPr/>
          <p:nvPr/>
        </p:nvSpPr>
        <p:spPr>
          <a:xfrm>
            <a:off x="731520" y="1051560"/>
            <a:ext cx="5212080" cy="5074920"/>
          </a:xfrm>
          <a:prstGeom prst="rect">
            <a:avLst/>
          </a:prstGeom>
          <a:solidFill>
            <a:srgbClr val="F0FDF4"/>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4846320" cy="4800600"/>
          </a:xfrm>
          <a:prstGeom prst="rect">
            <a:avLst/>
          </a:prstGeom>
          <a:noFill/>
        </p:spPr>
        <p:txBody>
          <a:bodyPr wrap="square">
            <a:spAutoFit/>
          </a:bodyPr>
          <a:lstStyle/>
          <a:p>
            <a:pPr>
              <a:defRPr sz="1300" b="1">
                <a:solidFill>
                  <a:srgbClr val="102A43"/>
                </a:solidFill>
              </a:defRPr>
            </a:pPr>
            <a:r>
              <a:t>3 ĐÓNG GÓP CỐT LÕI CỦA ĐỀ TÀI</a:t>
            </a:r>
          </a:p>
          <a:p>
            <a:pPr>
              <a:spcBef>
                <a:spcPts val="800"/>
              </a:spcBef>
              <a:defRPr b="1" sz="1100">
                <a:solidFill>
                  <a:srgbClr val="00A859"/>
                </a:solidFill>
              </a:defRPr>
            </a:pPr>
            <a:r>
              <a:t>(1) Tinh giản cây bằng ccp_alpha:</a:t>
            </a:r>
          </a:p>
          <a:p>
            <a:pPr>
              <a:spcBef>
                <a:spcPts val="200"/>
              </a:spcBef>
              <a:defRPr sz="1000">
                <a:solidFill>
                  <a:srgbClr val="212529"/>
                </a:solidFill>
              </a:defRPr>
            </a:pPr>
            <a:r>
              <a:t>Giảm hơn 97% kích thước (từ 187 lá xuống 3 nút lá), chỉ dựa vào 2 biến Major_Axis_Length và Perimeter mà vẫn đạt Validation Accuracy 93,70%.</a:t>
            </a:r>
          </a:p>
          <a:p>
            <a:pPr>
              <a:spcBef>
                <a:spcPts val="800"/>
              </a:spcBef>
              <a:defRPr b="1" sz="1100">
                <a:solidFill>
                  <a:srgbClr val="00A859"/>
                </a:solidFill>
              </a:defRPr>
            </a:pPr>
            <a:r>
              <a:t>(2) Random Forest &amp; Nghiệm thu Test:</a:t>
            </a:r>
          </a:p>
          <a:p>
            <a:pPr>
              <a:spcBef>
                <a:spcPts val="200"/>
              </a:spcBef>
              <a:defRPr sz="1000">
                <a:solidFill>
                  <a:srgbClr val="212529"/>
                </a:solidFill>
              </a:defRPr>
            </a:pPr>
            <a:r>
              <a:t>Đạt ROC-AUC 0.97 và Test Accuracy 91,60% (vượt xa Baseline 57,22%), khẳng định quy trình Stratified chuẩn hóa không bị rò rỉ dữ liệu.</a:t>
            </a:r>
          </a:p>
          <a:p>
            <a:pPr>
              <a:spcBef>
                <a:spcPts val="800"/>
              </a:spcBef>
              <a:defRPr b="1" sz="1100">
                <a:solidFill>
                  <a:srgbClr val="00A859"/>
                </a:solidFill>
              </a:defRPr>
            </a:pPr>
            <a:r>
              <a:t>(3) Đóng gói Web Service an toàn:</a:t>
            </a:r>
          </a:p>
          <a:p>
            <a:pPr>
              <a:spcBef>
                <a:spcPts val="200"/>
              </a:spcBef>
              <a:defRPr sz="1000">
                <a:solidFill>
                  <a:srgbClr val="212529"/>
                </a:solidFill>
              </a:defRPr>
            </a:pPr>
            <a:r>
              <a:t>Triển khai hoàn chỉnh ứng dụng Flask với kiểm soát dữ liệu 3 tầng và cờ cảnh báo bất định [0.40, 0.60] bảo vệ chất lượng lô gạo.</a:t>
            </a:r>
          </a:p>
        </p:txBody>
      </p:sp>
      <p:sp>
        <p:nvSpPr>
          <p:cNvPr id="8" name="Rectangle 7"/>
          <p:cNvSpPr/>
          <p:nvPr/>
        </p:nvSpPr>
        <p:spPr>
          <a:xfrm>
            <a:off x="6248095" y="1051560"/>
            <a:ext cx="5212080" cy="5074920"/>
          </a:xfrm>
          <a:prstGeom prst="rect">
            <a:avLst/>
          </a:prstGeom>
          <a:solidFill>
            <a:srgbClr val="FFFFFF"/>
          </a:solidFill>
          <a:ln w="12700">
            <a:solidFill>
              <a:srgbClr val="FFC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188720"/>
            <a:ext cx="4846320" cy="4800600"/>
          </a:xfrm>
          <a:prstGeom prst="rect">
            <a:avLst/>
          </a:prstGeom>
          <a:noFill/>
        </p:spPr>
        <p:txBody>
          <a:bodyPr wrap="square">
            <a:spAutoFit/>
          </a:bodyPr>
          <a:lstStyle/>
          <a:p>
            <a:pPr>
              <a:defRPr sz="1300" b="1">
                <a:solidFill>
                  <a:srgbClr val="102A43"/>
                </a:solidFill>
              </a:defRPr>
            </a:pPr>
            <a:r>
              <a:t>ĐỊNH HƯỚNG PHÁT TRIỂN &amp; MỞ RỘNG TƯƠNG LAI</a:t>
            </a:r>
          </a:p>
          <a:p>
            <a:pPr>
              <a:spcBef>
                <a:spcPts val="600"/>
              </a:spcBef>
              <a:defRPr b="1" sz="1100">
                <a:solidFill>
                  <a:srgbClr val="102A43"/>
                </a:solidFill>
              </a:defRPr>
            </a:pPr>
            <a:r>
              <a:t>• Màu sắc &amp; Kết cấu (RGB &amp; GLCM):</a:t>
            </a:r>
          </a:p>
          <a:p>
            <a:pPr>
              <a:spcBef>
                <a:spcPts val="200"/>
              </a:spcBef>
              <a:defRPr sz="1000">
                <a:solidFill>
                  <a:srgbClr val="212529"/>
                </a:solidFill>
              </a:defRPr>
            </a:pPr>
            <a:r>
              <a:t>Khai thác thêm kênh màu và vân hạt để phân tách triệt để 8% mẫu nằm ở vùng ranh giới 180–205 px.</a:t>
            </a:r>
          </a:p>
          <a:p>
            <a:pPr>
              <a:spcBef>
                <a:spcPts val="600"/>
              </a:spcBef>
              <a:defRPr b="1" sz="1100">
                <a:solidFill>
                  <a:srgbClr val="102A43"/>
                </a:solidFill>
              </a:defRPr>
            </a:pPr>
            <a:r>
              <a:t>• Camera công nghiệp thời gian thực:</a:t>
            </a:r>
          </a:p>
          <a:p>
            <a:pPr>
              <a:spcBef>
                <a:spcPts val="200"/>
              </a:spcBef>
              <a:defRPr sz="1000">
                <a:solidFill>
                  <a:srgbClr val="212529"/>
                </a:solidFill>
              </a:defRPr>
            </a:pPr>
            <a:r>
              <a:t>Kết nối trực tiếp camera tốc độ cao ghi hình hạt rơi trên phễu rung, điều khiển van xịt khí nén.</a:t>
            </a:r>
          </a:p>
          <a:p>
            <a:pPr>
              <a:spcBef>
                <a:spcPts val="600"/>
              </a:spcBef>
              <a:defRPr b="1" sz="1100">
                <a:solidFill>
                  <a:srgbClr val="102A43"/>
                </a:solidFill>
              </a:defRPr>
            </a:pPr>
            <a:r>
              <a:t>• Mở rộng giống lúa Việt Nam:</a:t>
            </a:r>
          </a:p>
          <a:p>
            <a:pPr>
              <a:spcBef>
                <a:spcPts val="200"/>
              </a:spcBef>
              <a:defRPr sz="1000">
                <a:solidFill>
                  <a:srgbClr val="212529"/>
                </a:solidFill>
              </a:defRPr>
            </a:pPr>
            <a:r>
              <a:t>Nâng cấp phân loại đa lớp (Multi-class) cho các giống gạo đặc sản: ST24, ST25, Jasmine 85.</a:t>
            </a:r>
          </a:p>
          <a:p>
            <a:pPr>
              <a:spcBef>
                <a:spcPts val="600"/>
              </a:spcBef>
              <a:defRPr b="1" sz="1100">
                <a:solidFill>
                  <a:srgbClr val="102A43"/>
                </a:solidFill>
              </a:defRPr>
            </a:pPr>
            <a:r>
              <a:t>• Ứng dụng Deep Learning (CNNs):</a:t>
            </a:r>
          </a:p>
          <a:p>
            <a:pPr>
              <a:spcBef>
                <a:spcPts val="200"/>
              </a:spcBef>
              <a:defRPr sz="1000">
                <a:solidFill>
                  <a:srgbClr val="212529"/>
                </a:solidFill>
              </a:defRPr>
            </a:pPr>
            <a:r>
              <a:t>Thử nghiệm MobileNetV3 phân loại trực tiếp từ ảnh chụp khay hạt gạo không cần trích xuất đặc trưng tay.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09728"/>
            <a:ext cx="8595360" cy="585216"/>
          </a:xfrm>
          <a:prstGeom prst="rect">
            <a:avLst/>
          </a:prstGeom>
          <a:noFill/>
        </p:spPr>
        <p:txBody>
          <a:bodyPr wrap="square" lIns="0" tIns="0" rIns="0" bIns="0">
            <a:spAutoFit/>
          </a:bodyPr>
          <a:lstStyle/>
          <a:p>
            <a:pPr>
              <a:defRPr sz="2000" b="1">
                <a:solidFill>
                  <a:srgbClr val="FFFFFF"/>
                </a:solidFill>
              </a:defRPr>
            </a:pPr>
            <a:r>
              <a:t>Ba Bài Học Thực Tiễn Và Phiên Thảo Luận Báo Cáo Bảo Vệ</a:t>
            </a:r>
          </a:p>
        </p:txBody>
      </p:sp>
      <p:sp>
        <p:nvSpPr>
          <p:cNvPr id="3" name="Rectangle 2"/>
          <p:cNvSpPr/>
          <p:nvPr/>
        </p:nvSpPr>
        <p:spPr>
          <a:xfrm>
            <a:off x="731520" y="6309360"/>
            <a:ext cx="9601200" cy="13716"/>
          </a:xfrm>
          <a:prstGeom prst="rect">
            <a:avLst/>
          </a:prstGeom>
          <a:solidFill>
            <a:srgbClr val="E2E8F0"/>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6355080"/>
            <a:ext cx="6858000" cy="320040"/>
          </a:xfrm>
          <a:prstGeom prst="rect">
            <a:avLst/>
          </a:prstGeom>
          <a:noFill/>
        </p:spPr>
        <p:txBody>
          <a:bodyPr wrap="none">
            <a:spAutoFit/>
          </a:bodyPr>
          <a:lstStyle/>
          <a:p>
            <a:pPr>
              <a:defRPr sz="1000">
                <a:solidFill>
                  <a:srgbClr val="64748B"/>
                </a:solidFill>
              </a:defRPr>
            </a:pPr>
            <a:r>
              <a:t>Học máy cơ bản — Báo cáo bảo vệ Project 17 | GVHD: PGS.TS. Nguyễn Văn Hậu</a:t>
            </a:r>
          </a:p>
        </p:txBody>
      </p:sp>
      <p:sp>
        <p:nvSpPr>
          <p:cNvPr id="5" name="TextBox 4"/>
          <p:cNvSpPr txBox="1"/>
          <p:nvPr/>
        </p:nvSpPr>
        <p:spPr>
          <a:xfrm>
            <a:off x="8229600" y="6355080"/>
            <a:ext cx="2011680" cy="320040"/>
          </a:xfrm>
          <a:prstGeom prst="rect">
            <a:avLst/>
          </a:prstGeom>
          <a:noFill/>
        </p:spPr>
        <p:txBody>
          <a:bodyPr wrap="none">
            <a:spAutoFit/>
          </a:bodyPr>
          <a:lstStyle/>
          <a:p>
            <a:pPr algn="r">
              <a:defRPr sz="1050" b="1">
                <a:solidFill>
                  <a:srgbClr val="00A859"/>
                </a:solidFill>
              </a:defRPr>
            </a:pPr>
            <a:r>
              <a:t>Slide 12 / 12</a:t>
            </a:r>
          </a:p>
        </p:txBody>
      </p:sp>
      <p:sp>
        <p:nvSpPr>
          <p:cNvPr id="6" name="Rectangle 5"/>
          <p:cNvSpPr/>
          <p:nvPr/>
        </p:nvSpPr>
        <p:spPr>
          <a:xfrm>
            <a:off x="731520" y="1051560"/>
            <a:ext cx="3328416" cy="237744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188720"/>
            <a:ext cx="2962656" cy="2103120"/>
          </a:xfrm>
          <a:prstGeom prst="rect">
            <a:avLst/>
          </a:prstGeom>
          <a:noFill/>
        </p:spPr>
        <p:txBody>
          <a:bodyPr wrap="square">
            <a:spAutoFit/>
          </a:bodyPr>
          <a:lstStyle/>
          <a:p>
            <a:pPr>
              <a:defRPr sz="1100" b="1">
                <a:solidFill>
                  <a:srgbClr val="00A859"/>
                </a:solidFill>
              </a:defRPr>
            </a:pPr>
            <a:r>
              <a:t>1. QUY TRÌNH QUYẾT ĐỊNH ĐỘ TIN CẬY</a:t>
            </a:r>
          </a:p>
          <a:p>
            <a:pPr>
              <a:spcBef>
                <a:spcPts val="600"/>
              </a:spcBef>
              <a:defRPr sz="1100">
                <a:solidFill>
                  <a:srgbClr val="212529"/>
                </a:solidFill>
              </a:defRPr>
            </a:pPr>
            <a:r>
              <a:t>Chia tầng Stratified 60/20/20 và bảo vệ tập Test độc lập có giá trị khoa học vượt trội so với điểm số ảo bị rò rỉ dữ liệu (Data Leakage).</a:t>
            </a:r>
          </a:p>
        </p:txBody>
      </p:sp>
      <p:sp>
        <p:nvSpPr>
          <p:cNvPr id="8" name="Rectangle 7"/>
          <p:cNvSpPr/>
          <p:nvPr/>
        </p:nvSpPr>
        <p:spPr>
          <a:xfrm>
            <a:off x="4425696" y="1051560"/>
            <a:ext cx="3328416" cy="237744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8576" y="1188720"/>
            <a:ext cx="2962656" cy="2103120"/>
          </a:xfrm>
          <a:prstGeom prst="rect">
            <a:avLst/>
          </a:prstGeom>
          <a:noFill/>
        </p:spPr>
        <p:txBody>
          <a:bodyPr wrap="square">
            <a:spAutoFit/>
          </a:bodyPr>
          <a:lstStyle/>
          <a:p>
            <a:pPr>
              <a:defRPr sz="1100" b="1">
                <a:solidFill>
                  <a:srgbClr val="00A859"/>
                </a:solidFill>
              </a:defRPr>
            </a:pPr>
            <a:r>
              <a:t>2. ĐƠN GIẢN LÀ ĐỈNH CAO (OCCAM'S RAZOR)</a:t>
            </a:r>
          </a:p>
          <a:p>
            <a:pPr>
              <a:spcBef>
                <a:spcPts val="600"/>
              </a:spcBef>
              <a:defRPr sz="1100">
                <a:solidFill>
                  <a:srgbClr val="212529"/>
                </a:solidFill>
              </a:defRPr>
            </a:pPr>
            <a:r>
              <a:t>Cây 3 lá sau cắt tỉa ccp_alpha giải thích minh bạch 100% cho người vận hành mà hiệu năng vẫn tương đương Rừng ngẫu nhiên 100 cây.</a:t>
            </a:r>
          </a:p>
        </p:txBody>
      </p:sp>
      <p:sp>
        <p:nvSpPr>
          <p:cNvPr id="10" name="Rectangle 9"/>
          <p:cNvSpPr/>
          <p:nvPr/>
        </p:nvSpPr>
        <p:spPr>
          <a:xfrm>
            <a:off x="8119872" y="1051560"/>
            <a:ext cx="3328416" cy="237744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02752" y="1188720"/>
            <a:ext cx="2962656" cy="2103120"/>
          </a:xfrm>
          <a:prstGeom prst="rect">
            <a:avLst/>
          </a:prstGeom>
          <a:noFill/>
        </p:spPr>
        <p:txBody>
          <a:bodyPr wrap="square">
            <a:spAutoFit/>
          </a:bodyPr>
          <a:lstStyle/>
          <a:p>
            <a:pPr>
              <a:defRPr sz="1100" b="1">
                <a:solidFill>
                  <a:srgbClr val="00A859"/>
                </a:solidFill>
              </a:defRPr>
            </a:pPr>
            <a:r>
              <a:t>3. TRÁCH NHIỆM TRONG CÔNG NGHỆ</a:t>
            </a:r>
          </a:p>
          <a:p>
            <a:pPr>
              <a:spcBef>
                <a:spcPts val="600"/>
              </a:spcBef>
              <a:defRPr sz="1100">
                <a:solidFill>
                  <a:srgbClr val="212529"/>
                </a:solidFill>
              </a:defRPr>
            </a:pPr>
            <a:r>
              <a:t>Một hệ thống AI ứng dụng phải biết nghi ngờ: tính năng cảnh báo bất định dải [0.40, 0.60] bảo vệ an toàn thương hiệu nông sản.</a:t>
            </a:r>
          </a:p>
        </p:txBody>
      </p:sp>
      <p:sp>
        <p:nvSpPr>
          <p:cNvPr id="12" name="Rectangle 11"/>
          <p:cNvSpPr/>
          <p:nvPr/>
        </p:nvSpPr>
        <p:spPr>
          <a:xfrm>
            <a:off x="731520" y="3611880"/>
            <a:ext cx="10728655" cy="2514600"/>
          </a:xfrm>
          <a:prstGeom prst="rect">
            <a:avLst/>
          </a:prstGeom>
          <a:solidFill>
            <a:srgbClr val="FFFFFF"/>
          </a:solidFill>
          <a:ln w="12700">
            <a:solidFill>
              <a:srgbClr val="00A85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10362895" cy="2331720"/>
          </a:xfrm>
          <a:prstGeom prst="rect">
            <a:avLst/>
          </a:prstGeom>
          <a:noFill/>
        </p:spPr>
        <p:txBody>
          <a:bodyPr wrap="square">
            <a:spAutoFit/>
          </a:bodyPr>
          <a:lstStyle/>
          <a:p>
            <a:pPr algn="ctr">
              <a:defRPr sz="2200" b="1">
                <a:solidFill>
                  <a:srgbClr val="102A43"/>
                </a:solidFill>
              </a:defRPr>
            </a:pPr>
            <a:r>
              <a:t>XIN TRÂN TRỌNG CẢM ƠN THẦY GIÁO VÀ HỘI ĐỒNG BẢO VỆ!</a:t>
            </a:r>
          </a:p>
          <a:p>
            <a:pPr algn="ctr">
              <a:spcBef>
                <a:spcPts val="400"/>
              </a:spcBef>
              <a:defRPr sz="1300" i="1">
                <a:solidFill>
                  <a:srgbClr val="212529"/>
                </a:solidFill>
              </a:defRPr>
            </a:pPr>
            <a:r>
              <a:t>Em xin chân thành cảm ơn PGS.TS. Nguyễn Văn Hậu đã tận tình hướng dẫn và định hướng khoa học cho đề tài!</a:t>
            </a:r>
          </a:p>
          <a:p>
            <a:pPr algn="ctr">
              <a:spcBef>
                <a:spcPts val="600"/>
              </a:spcBef>
              <a:defRPr sz="1800" b="1">
                <a:solidFill>
                  <a:srgbClr val="FFC000"/>
                </a:solidFill>
              </a:defRPr>
            </a:pPr>
            <a:r>
              <a:t>PHIÊN BẢO VỆ &amp; THẢO LUẬN (Q &amp; A)</a:t>
            </a:r>
          </a:p>
          <a:p>
            <a:pPr algn="ctr">
              <a:spcBef>
                <a:spcPts val="400"/>
              </a:spcBef>
              <a:defRPr sz="1100" b="1">
                <a:solidFill>
                  <a:srgbClr val="00A859"/>
                </a:solidFill>
              </a:defRPr>
            </a:pPr>
            <a:r>
              <a:t>Sinh viên thực hiện: Chử Quốc Hào (MSV: 10123112)  —  Vũ Đình Hiếu (MSV: 10123131) | Lớp: 10123O.1</a:t>
            </a:r>
          </a:p>
          <a:p>
            <a:pPr algn="ctr">
              <a:spcBef>
                <a:spcPts val="300"/>
              </a:spcBef>
              <a:defRPr sz="1000">
                <a:solidFill>
                  <a:srgbClr val="64748B"/>
                </a:solidFill>
              </a:defRPr>
            </a:pPr>
            <a:r>
              <a:t>Mã nguồn đề tài: https://github.com/hao0979/Rice_Classification | Báo cáo: BaoCao_BTL_PhanLoaiGiongLua_final.docx</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