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4C78"/>
                </a:solidFill>
              </a:defRPr>
            </a:pPr>
            <a:r>
              <a:t>PROJECT 17: PHÂN LOẠI HAI GIỐNG GẠO</a:t>
            </a:r>
          </a:p>
          <a:p>
            <a:pPr>
              <a:spcBef>
                <a:spcPts val="800"/>
              </a:spcBef>
              <a:defRPr sz="2600" b="1">
                <a:solidFill>
                  <a:srgbClr val="2E75B6"/>
                </a:solidFill>
              </a:defRPr>
            </a:pPr>
            <a:r>
              <a:t>TỪ ĐẶC TRƯNG HÌNH HỌC HẠT (CAMMEO VS OSMANCIK)</a:t>
            </a:r>
          </a:p>
          <a:p>
            <a:pPr>
              <a:spcBef>
                <a:spcPts val="1600"/>
              </a:spcBef>
              <a:defRPr sz="1400">
                <a:solidFill>
                  <a:srgbClr val="646464"/>
                </a:solidFill>
              </a:defRPr>
            </a:pPr>
            <a:r>
              <a:t>Chủ đề: Cây quyết định, Cắt tỉa (Pruning) và Rừng ngẫu nhiên (Random Forest)</a:t>
            </a:r>
          </a:p>
          <a:p>
            <a:pPr>
              <a:spcBef>
                <a:spcPts val="2800"/>
              </a:spcBef>
              <a:defRPr sz="1500">
                <a:solidFill>
                  <a:srgbClr val="282828"/>
                </a:solidFill>
              </a:defRPr>
            </a:pPr>
            <a:r>
              <a:t>Nhóm thực hiện: Nhóm 17 ([Thành viên 1] &amp; [Thành viên 2])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1. Bối Cảnh Thực Tiễn &amp; Câu Hỏi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C78"/>
                </a:solidFill>
              </a:defRPr>
            </a:pPr>
            <a:r>
              <a:t>Bối Cảnh Bài Toán:</a:t>
            </a:r>
          </a:p>
          <a:p>
            <a:pPr>
              <a:spcBef>
                <a:spcPts val="600"/>
              </a:spcBef>
              <a:defRPr sz="1400"/>
            </a:pPr>
            <a:r>
              <a:t>• Cơ sở đóng gói nông sản cần sàng lọc sơ bộ hai giống gạo chất lượng cao: Cammeo và Osmancik.</a:t>
            </a:r>
          </a:p>
          <a:p>
            <a:pPr>
              <a:spcBef>
                <a:spcPts val="600"/>
              </a:spcBef>
              <a:defRPr sz="1400"/>
            </a:pPr>
            <a:r>
              <a:t>• Phương pháp truyền thống: Giám định bằng mắt thường gây mỏi mệt, độ tin cậy không ổn định.</a:t>
            </a:r>
          </a:p>
          <a:p>
            <a:pPr>
              <a:spcBef>
                <a:spcPts val="600"/>
              </a:spcBef>
              <a:defRPr sz="1400"/>
            </a:pPr>
            <a:r>
              <a:t>• Giải pháp đề xuất: Chụp ảnh hạt gạo, trích xuất 7 đặc trưng hình học tự động và ứng dụng Machine Learning.</a:t>
            </a:r>
          </a:p>
          <a:p>
            <a:pPr>
              <a:spcBef>
                <a:spcPts val="1800"/>
              </a:spcBef>
              <a:defRPr sz="1800" b="1">
                <a:solidFill>
                  <a:srgbClr val="184C78"/>
                </a:solidFill>
              </a:defRPr>
            </a:pPr>
            <a:r>
              <a:t>Câu Hỏi Nghiên Cứu Trọng Tâm:</a:t>
            </a:r>
          </a:p>
          <a:p>
            <a:pPr>
              <a:spcBef>
                <a:spcPts val="600"/>
              </a:spcBef>
              <a:defRPr sz="1400"/>
            </a:pPr>
            <a:r>
              <a:t>❓ 'Cây quyết định tối giản (pruned) có đủ chính xác và dễ giải thích, hay bắt buộc phải dùng Rừng ngẫu nhiên?'</a:t>
            </a:r>
          </a:p>
          <a:p>
            <a:pPr>
              <a:spcBef>
                <a:spcPts val="600"/>
              </a:spcBef>
              <a:defRPr sz="1400"/>
            </a:pPr>
            <a:r>
              <a:t>🎯 Tiêu chí thành công:</a:t>
            </a:r>
          </a:p>
          <a:p>
            <a:pPr>
              <a:spcBef>
                <a:spcPts val="600"/>
              </a:spcBef>
              <a:defRPr sz="1400"/>
            </a:pPr>
            <a:r>
              <a:t>   1. Đạt độ chính xác (Accuracy) và F1 &gt; 90% (vượt xa Baseline 57.2%).</a:t>
            </a:r>
          </a:p>
          <a:p>
            <a:pPr>
              <a:spcBef>
                <a:spcPts val="600"/>
              </a:spcBef>
              <a:defRPr sz="1400"/>
            </a:pPr>
            <a:r>
              <a:t>   2. Pipeline có khả năng tái lập 100%, bảo vệ tập test nghiêm ngặt (không data leakage).</a:t>
            </a:r>
          </a:p>
          <a:p>
            <a:pPr>
              <a:spcBef>
                <a:spcPts val="600"/>
              </a:spcBef>
              <a:defRPr sz="1400"/>
            </a:pPr>
            <a:r>
              <a:t>   3. Đóng gói Web App hoàn chỉnh có API, validation và cảnh báo bất định cho mẫu khó.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2. Dữ Liệu Thực Tế: Rice (Cammeo and Osmancik)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Thông Tin Dữ Liệu:</a:t>
            </a:r>
          </a:p>
          <a:p>
            <a:pPr>
              <a:spcBef>
                <a:spcPts val="400"/>
              </a:spcBef>
              <a:defRPr sz="1300"/>
            </a:pPr>
            <a:r>
              <a:t>• Nguồn: UCI Machine Learning Repository (DOI: 10.24432/C5MW4Z).</a:t>
            </a:r>
          </a:p>
          <a:p>
            <a:pPr>
              <a:spcBef>
                <a:spcPts val="400"/>
              </a:spcBef>
              <a:defRPr sz="1300"/>
            </a:pPr>
            <a:r>
              <a:t>• Giấy phép: CC BY 4.0 (Được phép sử dụng học thuật &amp; nghiên cứu).</a:t>
            </a:r>
          </a:p>
          <a:p>
            <a:pPr>
              <a:spcBef>
                <a:spcPts val="400"/>
              </a:spcBef>
              <a:defRPr sz="1300"/>
            </a:pPr>
            <a:r>
              <a:t>• Quy mô: 3,810 mẫu hạt gạo (Osmancik: 2,180 - 57.2%, Cammeo: 1,630 - 42.8%).</a:t>
            </a:r>
          </a:p>
          <a:p>
            <a:pPr>
              <a:spcBef>
                <a:spcPts val="400"/>
              </a:spcBef>
              <a:defRPr sz="1300"/>
            </a:pPr>
            <a:r>
              <a:t>• Kiểm định chất lượng: 0 missing values, 0 bản ghi trùng lặp.</a:t>
            </a:r>
          </a:p>
          <a:p>
            <a:pPr>
              <a:spcBef>
                <a:spcPts val="1200"/>
              </a:spcBef>
              <a:defRPr sz="1700" b="1">
                <a:solidFill>
                  <a:srgbClr val="184C78"/>
                </a:solidFill>
              </a:defRPr>
            </a:pPr>
            <a:r>
              <a:t>7 Đặc Trưng Hình Học (Features):</a:t>
            </a:r>
          </a:p>
          <a:p>
            <a:pPr>
              <a:spcBef>
                <a:spcPts val="200"/>
              </a:spcBef>
              <a:defRPr sz="1200"/>
            </a:pPr>
            <a:r>
              <a:t>• 1. Area: Diện tích hạt (pixel²)</a:t>
            </a:r>
          </a:p>
          <a:p>
            <a:pPr>
              <a:spcBef>
                <a:spcPts val="200"/>
              </a:spcBef>
              <a:defRPr sz="1200"/>
            </a:pPr>
            <a:r>
              <a:t>• 2. Perimeter: Chu vi hạt gạo (pixel)</a:t>
            </a:r>
          </a:p>
          <a:p>
            <a:pPr>
              <a:spcBef>
                <a:spcPts val="200"/>
              </a:spcBef>
              <a:defRPr sz="1200"/>
            </a:pPr>
            <a:r>
              <a:t>• 3. Major_Axis_Length: Trục chính (chiều dài)</a:t>
            </a:r>
          </a:p>
          <a:p>
            <a:pPr>
              <a:spcBef>
                <a:spcPts val="200"/>
              </a:spcBef>
              <a:defRPr sz="1200"/>
            </a:pPr>
            <a:r>
              <a:t>• 4. Minor_Axis_Length: Trục phụ (chiều rộng)</a:t>
            </a:r>
          </a:p>
          <a:p>
            <a:pPr>
              <a:spcBef>
                <a:spcPts val="200"/>
              </a:spcBef>
              <a:defRPr sz="1200"/>
            </a:pPr>
            <a:r>
              <a:t>• 5. Eccentricity: Độ lệch tâm hình elip [0, 1]</a:t>
            </a:r>
          </a:p>
          <a:p>
            <a:pPr>
              <a:spcBef>
                <a:spcPts val="200"/>
              </a:spcBef>
              <a:defRPr sz="1200"/>
            </a:pPr>
            <a:r>
              <a:t>• 6. Convex_Area: Diện tích vỏ lồi nhỏ nhất</a:t>
            </a:r>
          </a:p>
          <a:p>
            <a:pPr>
              <a:spcBef>
                <a:spcPts val="200"/>
              </a:spcBef>
              <a:defRPr sz="1200"/>
            </a:pPr>
            <a:r>
              <a:t>• 7. Extent: Tỷ lệ diện tích / bounding box</a:t>
            </a:r>
          </a:p>
        </p:txBody>
      </p:sp>
      <p:pic>
        <p:nvPicPr>
          <p:cNvPr id="5" name="Picture 4" descr="03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21208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3. Thiết Kế Phân Chia Dữ Liệu &amp;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Chiến Lược Phân Chia Dữ Liệu (Stratified 60/20/20):</a:t>
            </a:r>
          </a:p>
          <a:p>
            <a:pPr>
              <a:spcBef>
                <a:spcPts val="400"/>
              </a:spcBef>
              <a:defRPr sz="1400"/>
            </a:pPr>
            <a:r>
              <a:t>• Train Set (60% = 2,286 mẫu): Dùng huấn luyện cây, tính toán ccp_alpha và 5-fold CV.</a:t>
            </a:r>
          </a:p>
          <a:p>
            <a:pPr>
              <a:spcBef>
                <a:spcPts val="400"/>
              </a:spcBef>
              <a:defRPr sz="1400"/>
            </a:pPr>
            <a:r>
              <a:t>• Validation Set (20% = 762 mẫu): Dùng chọn độ sâu, chọn mô hình tối ưu, phân tích lỗi.</a:t>
            </a:r>
          </a:p>
          <a:p>
            <a:pPr>
              <a:spcBef>
                <a:spcPts val="400"/>
              </a:spcBef>
              <a:defRPr sz="1400"/>
            </a:pPr>
            <a:r>
              <a:t>• Test Set (20% = 762 mẫu): BẢO VỆ TUYỆT ĐỐI — chỉ đánh giá duy nhất 1 lần lúc nghiệm thu.</a:t>
            </a:r>
          </a:p>
          <a:p>
            <a:pPr>
              <a:spcBef>
                <a:spcPts val="400"/>
              </a:spcBef>
              <a:defRPr sz="1400"/>
            </a:pPr>
            <a:r>
              <a:t>• Stratification: Đảm bảo tỷ lệ 57.2% Osmancik / 42.8% Cammeo đồng nhất trên cả 3 tập.</a:t>
            </a:r>
          </a:p>
          <a:p>
            <a:pPr>
              <a:spcBef>
                <a:spcPts val="1400"/>
              </a:spcBef>
              <a:defRPr sz="1700" b="1">
                <a:solidFill>
                  <a:srgbClr val="184C78"/>
                </a:solidFill>
              </a:defRPr>
            </a:pPr>
            <a:r>
              <a:t>Quy Tắc Chống Rò Rỉ Dữ Liệu (Data Leakage):</a:t>
            </a:r>
          </a:p>
          <a:p>
            <a:pPr>
              <a:spcBef>
                <a:spcPts val="400"/>
              </a:spcBef>
              <a:defRPr sz="1400"/>
            </a:pPr>
            <a:r>
              <a:t>✓ Mọi biến đổi và ngưỡng quyết định được học DUY NHẤT từ Train Set.</a:t>
            </a:r>
          </a:p>
          <a:p>
            <a:pPr>
              <a:spcBef>
                <a:spcPts val="400"/>
              </a:spcBef>
              <a:defRPr sz="1400"/>
            </a:pPr>
            <a:r>
              <a:t>✓ Cố định random_state = 42 xuyên suốt toàn bộ pipeline để đảm bảo tính tái lập 100%.</a:t>
            </a:r>
          </a:p>
          <a:p>
            <a:pPr>
              <a:spcBef>
                <a:spcPts val="1400"/>
              </a:spcBef>
              <a:defRPr sz="1700" b="1">
                <a:solidFill>
                  <a:srgbClr val="184C78"/>
                </a:solidFill>
              </a:defRPr>
            </a:pPr>
            <a:r>
              <a:t>Baseline Đối Chứng (DummyClassifier - Most Frequent):</a:t>
            </a:r>
          </a:p>
          <a:p>
            <a:pPr>
              <a:spcBef>
                <a:spcPts val="400"/>
              </a:spcBef>
              <a:defRPr sz="1400"/>
            </a:pPr>
            <a:r>
              <a:t>• Luôn dự đoán lớp chiếm đa số (Osmancik) → Accuracy = 57.22%, F1-score = 0.0000</a:t>
            </a:r>
            <a:br/>
            <a:r>
              <a:t>• Mọi mô hình máy học phải vượt mốc 57.22% này một cách thuyết phục.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4. Thí Nghiệm 1: Hiệu Năng Theo max_depth (Overfitting)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Hiện Tượng Quan Sát Được:</a:t>
            </a:r>
          </a:p>
          <a:p>
            <a:pPr>
              <a:spcBef>
                <a:spcPts val="600"/>
              </a:spcBef>
              <a:defRPr sz="1300"/>
            </a:pPr>
            <a:r>
              <a:t>• Train Accuracy: Tăng liên tục từ 92.9% lên 100.0% khi max_depth tăng từ 1 lên 20.</a:t>
            </a:r>
          </a:p>
          <a:p>
            <a:pPr>
              <a:spcBef>
                <a:spcPts val="600"/>
              </a:spcBef>
              <a:defRPr sz="1300"/>
            </a:pPr>
            <a:r>
              <a:t>• Validation Accuracy: Đạt đỉnh 93.7% ở độ sâu rất nhỏ (depth=1, 2) rồi giảm dần xuống ~89.1% khi cây quá sâu.</a:t>
            </a:r>
          </a:p>
          <a:p>
            <a:pPr>
              <a:spcBef>
                <a:spcPts val="600"/>
              </a:spcBef>
              <a:defRPr sz="1300"/>
            </a:pPr>
            <a:r>
              <a:t>• Kết luận thí nghiệm:</a:t>
            </a:r>
          </a:p>
          <a:p>
            <a:pPr>
              <a:spcBef>
                <a:spcPts val="600"/>
              </a:spcBef>
              <a:defRPr sz="1300"/>
            </a:pPr>
            <a:r>
              <a:t>   → Cây quyết định không giới hạn bị Overfitting nghiêm trọng, học cả nhiễu của tập huấn luyện.</a:t>
            </a:r>
          </a:p>
          <a:p>
            <a:pPr>
              <a:spcBef>
                <a:spcPts val="600"/>
              </a:spcBef>
              <a:defRPr sz="1300"/>
            </a:pPr>
            <a:r>
              <a:t>   → Bắt buộc phải áp dụng Cắt tỉa (Pruning) để tối ưu hóa khả năng tổng quát hóa.</a:t>
            </a:r>
          </a:p>
        </p:txBody>
      </p:sp>
      <p:pic>
        <p:nvPicPr>
          <p:cNvPr id="5" name="Picture 4" descr="05_dept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5. Thí Nghiệm 2: Cost-Complexity Pruning (ccp_alpha)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Cơ Chế Cắt Tỉa Cost-Complexity:</a:t>
            </a:r>
          </a:p>
          <a:p>
            <a:pPr>
              <a:spcBef>
                <a:spcPts val="600"/>
              </a:spcBef>
              <a:defRPr sz="1300"/>
            </a:pPr>
            <a:r>
              <a:t>• Hàm chi phí: R_alpha(T) = R(T) + alpha * |T|</a:t>
            </a:r>
          </a:p>
          <a:p>
            <a:pPr>
              <a:spcBef>
                <a:spcPts val="600"/>
              </a:spcBef>
              <a:defRPr sz="1300"/>
            </a:pPr>
            <a:r>
              <a:t>  (Trong đó R(T) là sai số phân lớp, |T| là số lượng lá, alpha phạt độ phức tạp).</a:t>
            </a:r>
          </a:p>
          <a:p>
            <a:pPr>
              <a:spcBef>
                <a:spcPts val="600"/>
              </a:spcBef>
              <a:defRPr sz="1300"/>
            </a:pPr>
            <a:r>
              <a:t>• Tìm 70 giá trị alpha khả dĩ trên cây đầy đủ.</a:t>
            </a:r>
          </a:p>
          <a:p>
            <a:pPr>
              <a:spcBef>
                <a:spcPts val="600"/>
              </a:spcBef>
              <a:defRPr sz="1300"/>
            </a:pPr>
            <a:r>
              <a:t>• Đánh giá qua 5-Fold Stratified Cross-Validation:</a:t>
            </a:r>
          </a:p>
          <a:p>
            <a:pPr>
              <a:spcBef>
                <a:spcPts val="600"/>
              </a:spcBef>
              <a:defRPr sz="1300"/>
            </a:pPr>
            <a:r>
              <a:t>  → Giá trị tối ưu: ccp_alpha = 0.008024</a:t>
            </a:r>
          </a:p>
          <a:p>
            <a:pPr>
              <a:spcBef>
                <a:spcPts val="600"/>
              </a:spcBef>
              <a:defRPr sz="1300"/>
            </a:pPr>
            <a:r>
              <a:t>  → Đạt CV Accuracy = 92.48% ± 1.59%</a:t>
            </a:r>
          </a:p>
          <a:p>
            <a:pPr>
              <a:spcBef>
                <a:spcPts val="600"/>
              </a:spcBef>
              <a:defRPr sz="1300"/>
            </a:pPr>
            <a:r>
              <a:t>• Cây sau khi cắt tỉa trở nên cực kỳ gọn gàng, loại bỏ các nhánh nhiễu nhưng giữ nguyên độ chính xác cao.</a:t>
            </a:r>
          </a:p>
        </p:txBody>
      </p:sp>
      <p:pic>
        <p:nvPicPr>
          <p:cNvPr id="5" name="Picture 4" descr="06_pru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6. Thí Nghiệm 3: Cây Quyết Định vs Rừng Ngẫu Nhiên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4C78"/>
                </a:solidFill>
              </a:defRPr>
            </a:pPr>
            <a:r>
              <a:t>Bảng So Sánh Hiệu Năng Chi Tiết (Tập Validation &amp; Tập Test):</a:t>
            </a:r>
          </a:p>
          <a:p>
            <a:pPr>
              <a:spcBef>
                <a:spcPts val="800"/>
              </a:spcBef>
              <a:defRPr sz="1300"/>
            </a:pPr>
            <a:r>
              <a:t>| Tiêu chí | Baseline (Dummy) | Decision Tree (Pruned) | Random Forest (100 Trees) |</a:t>
            </a:r>
            <a:br/>
            <a:r>
              <a:t>|---|---|---|---|</a:t>
            </a:r>
            <a:br/>
            <a:r>
              <a:t>| Val Accuracy | 57.22% | 93.70% | 93.44% |</a:t>
            </a:r>
            <a:br/>
            <a:r>
              <a:t>| Val F1-score | 0.00% | 92.77% | 92.28% |</a:t>
            </a:r>
            <a:br/>
            <a:r>
              <a:t>| Val ROC-AUC | — | 0.9596 | 0.9741 |</a:t>
            </a:r>
            <a:br/>
            <a:r>
              <a:t>| Test Accuracy | — | 91.47% | 91.60% |</a:t>
            </a:r>
            <a:br/>
            <a:r>
              <a:t>| Test ROC-AUC | — | 0.9344 | 0.9709 |</a:t>
            </a:r>
            <a:br/>
            <a:r>
              <a:t>| Thời gian train | 0.001s | 0.036s | 0.320s |</a:t>
            </a:r>
            <a:br/>
            <a:r>
              <a:t>| Khả năng diễn giải | Không có | Rất cao (quy tắc if-else rõ ràng) | Hộp đen (phức tạp) |</a:t>
            </a:r>
          </a:p>
          <a:p>
            <a:pPr>
              <a:spcBef>
                <a:spcPts val="1400"/>
              </a:spcBef>
              <a:defRPr sz="1600" b="1">
                <a:solidFill>
                  <a:srgbClr val="184C78"/>
                </a:solidFill>
              </a:defRPr>
            </a:pPr>
            <a:r>
              <a:t>Trả Lời Câu Hỏi Nghiên Cứu:</a:t>
            </a:r>
          </a:p>
          <a:p>
            <a:pPr>
              <a:spcBef>
                <a:spcPts val="400"/>
              </a:spcBef>
              <a:defRPr sz="1300"/>
            </a:pPr>
            <a:r>
              <a:t>✓ Cây quyết định cắt tỉa (pruned) đạt Accuracy tương đương Rừng ngẫu nhiên (~91.5% - 93.7%).</a:t>
            </a:r>
          </a:p>
          <a:p>
            <a:pPr>
              <a:spcBef>
                <a:spcPts val="400"/>
              </a:spcBef>
              <a:defRPr sz="1300"/>
            </a:pPr>
            <a:r>
              <a:t>✓ Tuy nhiên, Rừng ngẫu nhiên có ROC-AUC vượt trội (0.9709 vs 0.9344) và cung cấp xác suất mượt mà hơn.</a:t>
            </a:r>
          </a:p>
          <a:p>
            <a:pPr>
              <a:spcBef>
                <a:spcPts val="400"/>
              </a:spcBef>
              <a:defRPr sz="1300"/>
            </a:pPr>
            <a:r>
              <a:t>✓ Nếu ưu tiên giải thích cho nông dân/chuyên gia: Chọn Cây quyết định.</a:t>
            </a:r>
          </a:p>
          <a:p>
            <a:pPr>
              <a:spcBef>
                <a:spcPts val="400"/>
              </a:spcBef>
              <a:defRPr sz="1300"/>
            </a:pPr>
            <a:r>
              <a:t>✓ Nếu ưu tiên độ tin cậy xác suất và hệ thống tự động: Chọn Rừng ngẫu nhiên.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7. Thí Nghiệm 4: Phân Tích Lỗi Sai (Error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Đặc Điểm Các Trường Hợp Dự Đoán Sai (50/762 = 6.6%):</a:t>
            </a:r>
          </a:p>
          <a:p>
            <a:pPr>
              <a:spcBef>
                <a:spcPts val="600"/>
              </a:spcBef>
              <a:defRPr sz="1300"/>
            </a:pPr>
            <a:r>
              <a:t>• Sai số hai chiều cân bằng: 27 hạt Cammeo nhầm sang Osmancik, 23 hạt Osmancik nhầm sang Cammeo.</a:t>
            </a:r>
          </a:p>
          <a:p>
            <a:pPr>
              <a:spcBef>
                <a:spcPts val="600"/>
              </a:spcBef>
              <a:defRPr sz="1300"/>
            </a:pPr>
            <a:r>
              <a:t>• Nguyên nhân hình thái học:</a:t>
            </a:r>
          </a:p>
          <a:p>
            <a:pPr>
              <a:spcBef>
                <a:spcPts val="600"/>
              </a:spcBef>
              <a:defRPr sz="1300"/>
            </a:pPr>
            <a:r>
              <a:t>  → Các hạt bị phân loại sai có kích thước nằm ở vùng giao thoa (Area ~ 12,773, Major_Axis ~ 191.7px).</a:t>
            </a:r>
          </a:p>
          <a:p>
            <a:pPr>
              <a:spcBef>
                <a:spcPts val="600"/>
              </a:spcBef>
              <a:defRPr sz="1300"/>
            </a:pPr>
            <a:r>
              <a:t>• Độ tin cậy dự đoán:</a:t>
            </a:r>
          </a:p>
          <a:p>
            <a:pPr>
              <a:spcBef>
                <a:spcPts val="600"/>
              </a:spcBef>
              <a:defRPr sz="1300"/>
            </a:pPr>
            <a:r>
              <a:t>  → Mẫu đúng: Độ tự tin trung bình 94.4%.</a:t>
            </a:r>
          </a:p>
          <a:p>
            <a:pPr>
              <a:spcBef>
                <a:spcPts val="600"/>
              </a:spcBef>
              <a:defRPr sz="1300"/>
            </a:pPr>
            <a:r>
              <a:t>  → Mẫu sai: Độ tự tin trung bình chỉ đạt 78.3%.</a:t>
            </a:r>
          </a:p>
          <a:p>
            <a:pPr>
              <a:spcBef>
                <a:spcPts val="600"/>
              </a:spcBef>
              <a:defRPr sz="1300"/>
            </a:pPr>
            <a:r>
              <a:t>• Bài học kinh nghiệm: Khi mô hình không chắc chắn, xác suất dự đoán sẽ giảm gần ngưỡng 0.5 → Cần cơ chế cờ báo động.</a:t>
            </a:r>
          </a:p>
        </p:txBody>
      </p:sp>
      <p:pic>
        <p:nvPicPr>
          <p:cNvPr id="5" name="Picture 4" descr="12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8. Ứng Dụng Web Flask &amp; Tính Năng Mở Rộng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Kiến Trúc &amp; Thiết Kế Web App:</a:t>
            </a:r>
          </a:p>
          <a:p>
            <a:pPr>
              <a:spcBef>
                <a:spcPts val="400"/>
              </a:spcBef>
              <a:defRPr sz="1300"/>
            </a:pPr>
            <a:r>
              <a:t>• Backend: Python Flask nạp model Offline (final_model.pkl), không huấn luyện lại ở mỗi request.</a:t>
            </a:r>
          </a:p>
          <a:p>
            <a:pPr>
              <a:spcBef>
                <a:spcPts val="400"/>
              </a:spcBef>
              <a:defRPr sz="1300"/>
            </a:pPr>
            <a:r>
              <a:t>• Frontend: Giao diện Bootstrap 5 hiện đại, thân thiện, tương tác thời gian thực qua REST API.</a:t>
            </a:r>
          </a:p>
          <a:p>
            <a:pPr>
              <a:spcBef>
                <a:spcPts val="400"/>
              </a:spcBef>
              <a:defRPr sz="1300"/>
            </a:pPr>
            <a:r>
              <a:t>• Kiểm tra đầu vào nghiêm ngặt (Input Validation):</a:t>
            </a:r>
          </a:p>
          <a:p>
            <a:pPr>
              <a:spcBef>
                <a:spcPts val="400"/>
              </a:spcBef>
              <a:defRPr sz="1300"/>
            </a:pPr>
            <a:r>
              <a:t>  - Báo lỗi khi thiếu dữ liệu hoặc nhập sai định dạng.</a:t>
            </a:r>
          </a:p>
          <a:p>
            <a:pPr>
              <a:spcBef>
                <a:spcPts val="400"/>
              </a:spcBef>
              <a:defRPr sz="1300"/>
            </a:pPr>
            <a:r>
              <a:t>  - Cảnh báo rõ ràng khi thông số nằm ngoài miền quan sát [min, max] của tập huấn luyện.</a:t>
            </a:r>
          </a:p>
          <a:p>
            <a:pPr>
              <a:spcBef>
                <a:spcPts val="1400"/>
              </a:spcBef>
              <a:defRPr sz="1700" b="1">
                <a:solidFill>
                  <a:srgbClr val="184C78"/>
                </a:solidFill>
              </a:defRPr>
            </a:pPr>
            <a:r>
              <a:t>Tính Năng Mở Rộng (Hoàn Thành Vượt Trội):</a:t>
            </a:r>
          </a:p>
          <a:p>
            <a:pPr>
              <a:spcBef>
                <a:spcPts val="600"/>
              </a:spcBef>
              <a:defRPr sz="1300"/>
            </a:pPr>
            <a:r>
              <a:t>⭐ 1. Cảnh báo bất định (Uncertainty Detection): Khi xác suất nằm trong khoảng [0.40, 0.60], hệ thống tự động gắn nhãn cảnh báo đỏ và khuyến cáo chuyển sang chuyên gia.</a:t>
            </a:r>
          </a:p>
          <a:p>
            <a:pPr>
              <a:spcBef>
                <a:spcPts val="600"/>
              </a:spcBef>
              <a:defRPr sz="1300"/>
            </a:pPr>
            <a:r>
              <a:t>⭐ 2. Phân loại theo lô (Batch CSV Processing): Người dùng có thể upload tệp CSV hàng trăm hạt gạo, hệ thống tính toán tức thì, gắn cờ mẫu nghi ngờ và cho phép xuất file kết quả.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9. Đạo Đức, Giới Hạn &amp; Sử Dụng Có Trách Nhiệm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Điều Kiện &amp; Giới Hạn Sử Dụng:</a:t>
            </a:r>
          </a:p>
          <a:p>
            <a:pPr>
              <a:spcBef>
                <a:spcPts val="400"/>
              </a:spcBef>
              <a:defRPr sz="1300"/>
            </a:pPr>
            <a:r>
              <a:t>• Không thay thế kiểm nghiệm giống chính thức: Mô hình chỉ đóng vai trò công cụ sàng lọc sơ bộ tại nhà máy.</a:t>
            </a:r>
          </a:p>
          <a:p>
            <a:pPr>
              <a:spcBef>
                <a:spcPts val="400"/>
              </a:spcBef>
              <a:defRPr sz="1300"/>
            </a:pPr>
            <a:r>
              <a:t>• Phụ thuộc quy trình trích xuất ảnh: Đầu vào bắt buộc phải cùng độ phân giải và phương pháp tiền xử lý như nghiên cứu gốc.</a:t>
            </a:r>
          </a:p>
          <a:p>
            <a:pPr>
              <a:spcBef>
                <a:spcPts val="400"/>
              </a:spcBef>
              <a:defRPr sz="1300"/>
            </a:pPr>
            <a:r>
              <a:t>• Phạm vi giống lúa: Chỉ phân loại giữa Cammeo và Osmancik; không dùng cho các giống lúa khác.</a:t>
            </a:r>
          </a:p>
          <a:p>
            <a:pPr>
              <a:spcBef>
                <a:spcPts val="1400"/>
              </a:spcBef>
              <a:defRPr sz="1700" b="1">
                <a:solidFill>
                  <a:srgbClr val="184C78"/>
                </a:solidFill>
              </a:defRPr>
            </a:pPr>
            <a:r>
              <a:t>Quyền Riêng Tư &amp; Minh Bạch:</a:t>
            </a:r>
          </a:p>
          <a:p>
            <a:pPr>
              <a:spcBef>
                <a:spcPts val="400"/>
              </a:spcBef>
              <a:defRPr sz="1300"/>
            </a:pPr>
            <a:r>
              <a:t>• Dữ liệu công khai, giấy phép CC BY 4.0, không chứa thông tin cá nhân hay nhạy cảm.</a:t>
            </a:r>
          </a:p>
          <a:p>
            <a:pPr>
              <a:spcBef>
                <a:spcPts val="400"/>
              </a:spcBef>
              <a:defRPr sz="1300"/>
            </a:pPr>
            <a:r>
              <a:t>• Web app minh bạch: Cung cấp đầy đủ trang Model Card giải thích cấu trúc thuật toán và các rủi ro vận hành.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5B6"/>
                </a:solidFill>
              </a:defRPr>
            </a:pPr>
            <a:r>
              <a:t>HỌC MÁY CƠ BẢN — PROJECT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4C78"/>
                </a:solidFill>
              </a:defRPr>
            </a:pPr>
            <a:r>
              <a:t>10. Kết Luận &amp; Phân Công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4C78"/>
                </a:solidFill>
              </a:defRPr>
            </a:pPr>
            <a:r>
              <a:t>Tổng Kết Đạt Được:</a:t>
            </a:r>
          </a:p>
          <a:p>
            <a:pPr>
              <a:spcBef>
                <a:spcPts val="400"/>
              </a:spcBef>
              <a:defRPr sz="1300"/>
            </a:pPr>
            <a:r>
              <a:t>✓ Xây dựng trọn vẹn quy trình Machine Learning không rò rỉ dữ liệu, tái lập 100%.</a:t>
            </a:r>
          </a:p>
          <a:p>
            <a:pPr>
              <a:spcBef>
                <a:spcPts val="400"/>
              </a:spcBef>
              <a:defRPr sz="1300"/>
            </a:pPr>
            <a:r>
              <a:t>✓ Giải quyết triệt để câu hỏi nghiên cứu về sự cân bằng giữa Cây đơn và Rừng ngẫu nhiên.</a:t>
            </a:r>
          </a:p>
          <a:p>
            <a:pPr>
              <a:spcBef>
                <a:spcPts val="400"/>
              </a:spcBef>
              <a:defRPr sz="1300"/>
            </a:pPr>
            <a:r>
              <a:t>✓ Triển khai hoàn thiện Web App với đầy đủ tính năng mở rộng (Batch CSV &amp; Uncertainty Check).</a:t>
            </a:r>
          </a:p>
          <a:p>
            <a:pPr>
              <a:spcBef>
                <a:spcPts val="1400"/>
              </a:spcBef>
              <a:defRPr sz="1700" b="1">
                <a:solidFill>
                  <a:srgbClr val="184C78"/>
                </a:solidFill>
              </a:defRPr>
            </a:pPr>
            <a:r>
              <a:t>Phân Công Trách Nhiệm Hai Thành Viên (Cân bằng 50 - 50):</a:t>
            </a:r>
          </a:p>
          <a:p>
            <a:pPr>
              <a:spcBef>
                <a:spcPts val="400"/>
              </a:spcBef>
              <a:defRPr sz="1300"/>
            </a:pPr>
            <a:r>
              <a:t>• Thành viên 1: Quản lý dữ liệu, kiểm soát rò rỉ, xây dựng cây quyết định &amp; thuật toán pruning, lập trình API backend Flask.</a:t>
            </a:r>
          </a:p>
          <a:p>
            <a:pPr>
              <a:spcBef>
                <a:spcPts val="400"/>
              </a:spcBef>
              <a:defRPr sz="1300"/>
            </a:pPr>
            <a:r>
              <a:t>• Thành viên 2: Huấn luyện Rừng ngẫu nhiên, thực hiện 4 thí nghiệm đánh giá &amp; phân tích lỗi, thiết kế giao diện frontend &amp; tính năng batch CSV.</a:t>
            </a:r>
          </a:p>
          <a:p>
            <a:pPr>
              <a:spcBef>
                <a:spcPts val="400"/>
              </a:spcBef>
              <a:defRPr sz="1300"/>
            </a:pPr>
            <a:r>
              <a:t>• Cả hai thành viên cùng tham gia kiểm thử chéo và soạn thảo báo cáo học thuật.</a:t>
            </a:r>
          </a:p>
          <a:p>
            <a:pPr>
              <a:spcBef>
                <a:spcPts val="2000"/>
              </a:spcBef>
              <a:defRPr sz="1600" b="1">
                <a:solidFill>
                  <a:srgbClr val="2E75B6"/>
                </a:solidFill>
              </a:defRPr>
            </a:pPr>
            <a:r>
              <a:t>CẢM ƠN THẦY VÀ CÁC BẠN ĐÃ LẮNG NGHE! XIN MỜI ĐẶT CÂU HỎI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